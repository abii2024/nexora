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5"/>
  </p:normalViewPr>
  <p:slideViewPr>
    <p:cSldViewPr snapToGrid="0" snapToObjects="1">
      <p:cViewPr varScale="1">
        <p:scale>
          <a:sx n="81" d="100"/>
          <a:sy n="81" d="100"/>
        </p:scale>
        <p:origin x="101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300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Goedemorgen / goedemiddag. Mijn naam is Abdisamad en ik presenteer mijn afstudeerproject Nexora — een zorgbegeleidingssysteem voor beschermd wonen. Dit is mijn praktijkbeoordeling voor Software Developer MBO niveau 4. Vandaag laat ik zien hoe ik 16 user stories heb gerealiseerd in 4 sprints, getest met 360 Pest-tests die allemaal groen zijn, en hoe ik alle examen-werkprocessen B1, K1, K2, W3 en W5 in mijn project heb verwerkt. Ik neem jullie mee door wat Nexora is, het werkproces, een korte demo en mijn reflectie.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Mijn presentatie heeft vijf blokken. Eerst het project: wat is Nexora en voor wie. Daarna het analyseren — eisen, ontwerp en planning. Het derde blok is de realisatie: ik loop de zestien user stories langs in drie functionele blokken met screenshots — authenticatie en teambeheer, cliëntdossiers, en urenregistratie. Vervolgens hoe ik samenwerk met mijn product owner Badreddine. Tot slot het verbetervoorstel dat is doorgevoerd plus mijn reflectie per sprint. Ik probeer rond de achttien minuten te blijven en eindig met ruimte voor vragen.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Nexora is een webapplicatie die zorgorganisaties helpt met beschermd wonen. Stel je een woongroep voor met twintig kwetsbare cliënten die elk een team van zorgbegeleiders om zich heen hebben. Die begeleiders moeten dagelijks uren registreren per cliënt, teamleiders moeten die uren goedkeuren, en alle persoonsgegevens moeten AVG-compliant worden bewaard. Nexora vangt dat in vijf kernfuncties: cliëntdossiers, begeleider-koppelingen, urenregistratie, teambeheer en rol-gebaseerde toegang. Rechts zie je het medewerkersoverzicht.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 zijn twee gebruikersrollen in Nexora. Een zorgbegeleider mag inloggen, eigen cliënten inzien — gefilterd op koppeling — en voor die cliënten uren registreren. Een teamleider heeft alles wat een zorgbegeleider kan plus medewerkers en cliëntdossiers beheren, begeleiders koppelen, en uren goedkeuren of afkeuren. Dat rolonderscheid wordt afgedwongen via Laravel Policies én middleware — defense in depth. Onderaan zie je het wettelijk kader: AVG, Wgbo en NEN 7510.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Mijn examen volgt het werkproces B1, K1, K2, W3 en W5. Dat is in totaal dertig criteria verdeeld over zes categorieën: analyseren, twee keer realiseren (functioneel en testen), overleg met de product owner, verbetervoorstellen en reflectie. Per categorie heb ik bewijs in de docs-folder van het GitHub-project. De rest van deze presentatie loopt deze zes pijlers af.</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Ik heb alle eisen geprioriteerd via MoSCoW. Zestien Must-haves vormen de scope van het examen — allemaal afgerond. Should-haves zijn waardevolle uitbreidingen die ik bewust buiten de MVP heb gehouden, en die staan in mijn verbetervoorstellen. Could's zijn nice-to-have. Won't-haves zijn nadrukkelijk geen scope.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techniek is bewust gekozen op vier criteria: bewezen ecosysteem, security-by-default, leesbare tests en simpel deploybaar. Laravel 12 met PHP 8.4 geeft CSRF-tokens, mass-assignment-bescherming en Policies out of the box. Blade en Tailwind houden de frontend server-rendered. Voor autorisatie pas ik defense in depth toe: Policies op resource-niveau én middleware op rol-niveau.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Zestien user stories in vier sprints van vier. Sprint 1 is auth en teambeheer, sprint 2 maakt teambeheer compleet en start cliëntdossiers, sprint 3 maakt cliëntdossiers compleet en start urenregistratie, sprint 4 sluit de uren-flow af samen met wachtwoord-reset en profielbeheer. Alle zestien afgevinkt. Achttien pull requests, tweehonderd zevenenvijftig commits. In de drie volgende slides loop ik per blok langs met screenshots.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datamodel links toont vijf hoofdtabellen: users, clients, client_caregivers als koppeltabel, urenregistratie en audit_logs. Op de koppeltabel zit een partial unique index op DB-niveau — maximaal één primair en één secundair per cliënt. Rechts staat de uren-workflow: Concept → Ingediend → Goedgekeurd of Afgekeurd. Alle transities centraal in een service met allowed-matrix.</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Voordat ik begon te bouwen heb ik per pagina een wireframe gemaakt voor desktop en mobiel — links twee voorbeelden. Rechts staat mijn sprint-workflow in vijf stappen: planning, feature-branch, code en testen, pull request en sprint-tag. Ik gebruik nooit force-push of amend op gepushte commits — de Git-historie is leesbare bewijslast. Onderaan rechts: drie ontwerp-deeldocumenten voor ethiek, AVG en beveiliging.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Blok 1: authenticatie en teambeheer — zes user stories. US-01 is inloggen met rol-gebaseerde redirect. US-02 is mijn security-kern: defense in depth — Policies per resource én middleware per rol-groep, een zorgbegeleider die /team opent krijgt 403. US-03 voor aanmaken, US-04 voor het overzicht met zoek en filter. In sprint 2 ronden US-05 en US-06 het teambeheer af met bewerken en (de)activeren. Belangrijke security-features: rate-limiting vanaf US-01, user-enumeration-protection, audit-logs voor AVG-traceerbaarheid, en een self-demotion guard die voorkomt dat een teamleider zichzelf ontmachtigt. Honderd-vijf Pest-tests dekken dit blok.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Blok 2: cliëntdossiers — vier user stories die het hart van Nexora vormen. US-07 voor aanmaken met persoonsgegevens en zorgtype WMO, WLZ of Jeugdwet. US-08 voor het koppelen van begeleiders in drie rollen: primair, secundair en tertiair — met op database-niveau een partial unique index die afdwingt dat er maar één primair en één secundair kan zijn. Dat is een harde DB-constraint, geen application-level validatie. US-09 toont het overzicht — rol-gefilterd zodat zorgbegeleiders alleen hun eigen caseload zien. US-10 voegt bewerken en archiveren toe via soft-delete. Op alle lijst-endpoints heb ik een N-plus-één-regressietest via DB-listen. Honderd-acht Pest-tests dekken dit blok.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Blok 3: urenregistratie en auth-afronding — zes user stories. US-11 voor concept-uren aanmaken, US-12 voor indienen, terugtrekken en resubmit na afkeuring. Alle transities zitten in één centrale service met een allowed-matrix, zodat US-13 — goedkeuren en afkeuren door de teamleider — daarop kon voortbouwen zonder de matrix te wijzigen. Open/Closed-principe. Status-tabs werken via URL, dus shareable en JavaScript-vrij. US-14 voegt een filter-rich urenoverzicht toe voor de teamleider. US-15 is de wachtwoord-reset met signed URL, geldig voor 60 minuten en single-use. US-16 is profielbeheer. In sprint 4 heb ik daarnaast mass-assignment-probes toegevoegd op kritieke velden zoals role en is_active. Honderd-vijfenveertig Pest-tests dekken dit blok.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Mijn testen zijn het hardste bewijs dat het werkt. Driehonderd zestig Pest-tests, negenhonderd drieënvijftig asserts, allemaal groen. Per user story minstens één happy-path én één unhappy-path per acceptatiecriterium. Rechts: achttien pull requests gemerged, tweehonderd zevenenvijftig commits met scope-prefix, vier annotated sprint-tags en nul force-pushes. Verifieren met één commando: php artisan test --compact.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Mijn product owner is Badreddine. Dagelijkse check-ins, sprint-reviews aan einde van elke sprint, en asynchroon via Trello. Het Trello-activiteitenlog toont objectief dat hij alle zestien kaarten zelf van 'ready for review' naar 'done' heeft verplaatst. Rechts een concreet voorbeeld van een gesloten feedback-loop: zijn comment op US-15 leidde binnen één werkdag tot US-17 met testmail aangekomen in een echte Gmail-inbox.</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Drie verbetervoorstellen op basis van testresultaten, PO-feedback en retrospectives. VV-1: externe-flow-validatie in de DoD — een groene Pest-test bij een mail-flow betekent niet dat het in productie werkt. VV-2: backed enums vanaf model-start. VV-3: halverwege-demo's bij UI-formulieren. US-17 is direct doorgevoerd: complete Resend-integratie, vier uur, testmail aangekomen in echte Gmail-inbox.</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Eerste reflectie-as: het proces. Wat ging goed: Pest-first vanaf US-01, design-system eerst geport, scoped commit-prefixes, en de uren-state-machine zit zo netjes in een service dat sprint 4 erop kon voortbouwen. Wat beter kan: testbestand-naming, stringly-typed enums in sprint 3, en de mail-flow niet end-to-end gevalideerd. Wat ik anders ga doen: DoD uitbreiden met externe-flow-validatie en backed enums vanaf de start.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Tweede reflectie-as: samenwerking met de PO. Wat ging goed: hij heeft alle zestien kaarten zelf naar done verplaatst, zijn feedback op US-15 leidde binnen één dag tot US-17. Wat beter kan: bij twijfel over een AC bouwde ik soms door in plaats van vragen, en ik gaf te weinig tussentijdse demo's. Wat ik anders ga doen: elke ja-tenzij-twijfel direct op de Trello-kaart, en bij UI-formulieren een vijf-minuten tussentijdse Zoom-demo.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Derde reflectie-as: eigen prestaties. Wat ging goed: alle zestien user stories binnen vier sprints, security vanaf US-01, en op PO-feedback heb ik binnen vier uur US-17 opgeleverd. Wat beter kan: onderschatte planning, te lange code-sessies, en blind vertrouwen op een groene Pest-test bij de mail-flow. Wat ik anders ga doen: uren-schatting per US, Pomodoro-pauzes, en eerst provider-docs lezen voor externe SaaS.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 zover. In samenvatting: zestien van zestien user stories opgeleverd, driehonderd zestig Pest-tests met negenhonderd drieënvijftig asserts allemaal groen, achttien pull requests gemerged en vier sprints afgesloten met annotated git-tags. Alle zes examen-categorieën zijn afgedekt met bewijs in de docs-folder. De PO heeft alle user stories zelf geaccepteerd en zijn feedback op US-15 leidde tot een directe doorvoering via US-17. Ik heb nog tijd voor vragen. Dank voor jullie aandacht.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5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029200"/>
            <a:ext cx="12191695" cy="54864"/>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463040"/>
            <a:ext cx="10058400" cy="365760"/>
          </a:xfrm>
          <a:prstGeom prst="rect">
            <a:avLst/>
          </a:prstGeom>
          <a:noFill/>
        </p:spPr>
        <p:txBody>
          <a:bodyPr wrap="square" lIns="0" tIns="0" rIns="0" bIns="0" anchor="t">
            <a:spAutoFit/>
          </a:bodyPr>
          <a:lstStyle/>
          <a:p>
            <a:pPr algn="l"/>
            <a:r>
              <a:rPr sz="1400" b="1" i="0">
                <a:solidFill>
                  <a:srgbClr val="84B59F"/>
                </a:solidFill>
                <a:latin typeface="Calibri"/>
              </a:rPr>
              <a:t>PVB SOFTWARE DEVELOPER  ·  MBO NIVEAU 4</a:t>
            </a:r>
          </a:p>
        </p:txBody>
      </p:sp>
      <p:sp>
        <p:nvSpPr>
          <p:cNvPr id="5" name="TextBox 4"/>
          <p:cNvSpPr txBox="1"/>
          <p:nvPr/>
        </p:nvSpPr>
        <p:spPr>
          <a:xfrm>
            <a:off x="685800" y="1920240"/>
            <a:ext cx="10515600" cy="1280160"/>
          </a:xfrm>
          <a:prstGeom prst="rect">
            <a:avLst/>
          </a:prstGeom>
          <a:noFill/>
        </p:spPr>
        <p:txBody>
          <a:bodyPr wrap="square" lIns="0" tIns="0" rIns="0" bIns="0" anchor="t">
            <a:spAutoFit/>
          </a:bodyPr>
          <a:lstStyle/>
          <a:p>
            <a:pPr algn="l"/>
            <a:r>
              <a:rPr sz="8000" b="1" i="0">
                <a:solidFill>
                  <a:srgbClr val="FFFFFF"/>
                </a:solidFill>
                <a:latin typeface="Calibri"/>
              </a:rPr>
              <a:t>Nexora</a:t>
            </a:r>
          </a:p>
        </p:txBody>
      </p:sp>
      <p:sp>
        <p:nvSpPr>
          <p:cNvPr id="6" name="TextBox 5"/>
          <p:cNvSpPr txBox="1"/>
          <p:nvPr/>
        </p:nvSpPr>
        <p:spPr>
          <a:xfrm>
            <a:off x="685800" y="3108960"/>
            <a:ext cx="10515600" cy="400110"/>
          </a:xfrm>
          <a:prstGeom prst="rect">
            <a:avLst/>
          </a:prstGeom>
          <a:noFill/>
        </p:spPr>
        <p:txBody>
          <a:bodyPr wrap="square" lIns="0" tIns="0" rIns="0" bIns="0" anchor="t">
            <a:spAutoFit/>
          </a:bodyPr>
          <a:lstStyle/>
          <a:p>
            <a:pPr algn="l"/>
            <a:r>
              <a:rPr sz="2600" b="0" i="0" dirty="0" err="1">
                <a:solidFill>
                  <a:srgbClr val="FFFFFF"/>
                </a:solidFill>
                <a:latin typeface="Calibri"/>
              </a:rPr>
              <a:t>Zorgbegeleidingssysteem</a:t>
            </a:r>
            <a:r>
              <a:rPr sz="2600" b="0" i="0" dirty="0">
                <a:solidFill>
                  <a:srgbClr val="FFFFFF"/>
                </a:solidFill>
                <a:latin typeface="Calibri"/>
              </a:rPr>
              <a:t> </a:t>
            </a:r>
          </a:p>
        </p:txBody>
      </p:sp>
      <p:sp>
        <p:nvSpPr>
          <p:cNvPr id="7" name="TextBox 6"/>
          <p:cNvSpPr txBox="1"/>
          <p:nvPr/>
        </p:nvSpPr>
        <p:spPr>
          <a:xfrm>
            <a:off x="685800" y="3749039"/>
            <a:ext cx="10515600" cy="457200"/>
          </a:xfrm>
          <a:prstGeom prst="rect">
            <a:avLst/>
          </a:prstGeom>
          <a:noFill/>
        </p:spPr>
        <p:txBody>
          <a:bodyPr wrap="square" lIns="0" tIns="0" rIns="0" bIns="0" anchor="t">
            <a:spAutoFit/>
          </a:bodyPr>
          <a:lstStyle/>
          <a:p>
            <a:pPr algn="l"/>
            <a:r>
              <a:rPr sz="1400" b="0" i="1">
                <a:solidFill>
                  <a:srgbClr val="84B59F"/>
                </a:solidFill>
                <a:latin typeface="Calibri"/>
              </a:rPr>
              <a:t>Webapplicatie voor zorgbegeleiders en teamleiders — AVG-compliant, getest, gedocumenteerd.</a:t>
            </a:r>
          </a:p>
        </p:txBody>
      </p:sp>
      <p:sp>
        <p:nvSpPr>
          <p:cNvPr id="8" name="TextBox 7"/>
          <p:cNvSpPr txBox="1"/>
          <p:nvPr/>
        </p:nvSpPr>
        <p:spPr>
          <a:xfrm>
            <a:off x="685800" y="5440680"/>
            <a:ext cx="5486400" cy="365760"/>
          </a:xfrm>
          <a:prstGeom prst="rect">
            <a:avLst/>
          </a:prstGeom>
          <a:noFill/>
        </p:spPr>
        <p:txBody>
          <a:bodyPr wrap="square" lIns="0" tIns="0" rIns="0" bIns="0" anchor="t">
            <a:spAutoFit/>
          </a:bodyPr>
          <a:lstStyle/>
          <a:p>
            <a:pPr algn="l"/>
            <a:r>
              <a:rPr sz="2000" b="1" i="0">
                <a:solidFill>
                  <a:srgbClr val="FFFFFF"/>
                </a:solidFill>
                <a:latin typeface="Calibri"/>
              </a:rPr>
              <a:t>Abdisamad</a:t>
            </a:r>
          </a:p>
        </p:txBody>
      </p:sp>
      <p:sp>
        <p:nvSpPr>
          <p:cNvPr id="9" name="TextBox 8"/>
          <p:cNvSpPr txBox="1"/>
          <p:nvPr/>
        </p:nvSpPr>
        <p:spPr>
          <a:xfrm>
            <a:off x="685800" y="5806440"/>
            <a:ext cx="5486400" cy="320040"/>
          </a:xfrm>
          <a:prstGeom prst="rect">
            <a:avLst/>
          </a:prstGeom>
          <a:noFill/>
        </p:spPr>
        <p:txBody>
          <a:bodyPr wrap="square" lIns="0" tIns="0" rIns="0" bIns="0" anchor="t">
            <a:spAutoFit/>
          </a:bodyPr>
          <a:lstStyle/>
          <a:p>
            <a:pPr algn="l"/>
            <a:r>
              <a:rPr sz="1400" b="0" i="0">
                <a:solidFill>
                  <a:srgbClr val="84B59F"/>
                </a:solidFill>
                <a:latin typeface="Calibri"/>
              </a:rPr>
              <a:t>Examenproject — mei 2026</a:t>
            </a:r>
          </a:p>
        </p:txBody>
      </p:sp>
      <p:sp>
        <p:nvSpPr>
          <p:cNvPr id="10" name="TextBox 9"/>
          <p:cNvSpPr txBox="1"/>
          <p:nvPr/>
        </p:nvSpPr>
        <p:spPr>
          <a:xfrm>
            <a:off x="6858000" y="5440680"/>
            <a:ext cx="4846320" cy="365760"/>
          </a:xfrm>
          <a:prstGeom prst="rect">
            <a:avLst/>
          </a:prstGeom>
          <a:noFill/>
        </p:spPr>
        <p:txBody>
          <a:bodyPr wrap="square" lIns="0" tIns="0" rIns="0" bIns="0" anchor="t">
            <a:spAutoFit/>
          </a:bodyPr>
          <a:lstStyle/>
          <a:p>
            <a:pPr algn="r"/>
            <a:r>
              <a:rPr sz="1400" b="0" i="0">
                <a:solidFill>
                  <a:srgbClr val="FFFFFF"/>
                </a:solidFill>
                <a:latin typeface="Calibri"/>
              </a:rPr>
              <a:t>github.com/abii2024/nexora</a:t>
            </a:r>
          </a:p>
        </p:txBody>
      </p:sp>
      <p:sp>
        <p:nvSpPr>
          <p:cNvPr id="11" name="TextBox 10"/>
          <p:cNvSpPr txBox="1"/>
          <p:nvPr/>
        </p:nvSpPr>
        <p:spPr>
          <a:xfrm>
            <a:off x="6858000" y="5806440"/>
            <a:ext cx="4846320" cy="320040"/>
          </a:xfrm>
          <a:prstGeom prst="rect">
            <a:avLst/>
          </a:prstGeom>
          <a:noFill/>
        </p:spPr>
        <p:txBody>
          <a:bodyPr wrap="square" lIns="0" tIns="0" rIns="0" bIns="0" anchor="t">
            <a:spAutoFit/>
          </a:bodyPr>
          <a:lstStyle/>
          <a:p>
            <a:pPr algn="r"/>
            <a:r>
              <a:rPr sz="1200" b="0" i="0">
                <a:solidFill>
                  <a:srgbClr val="84B59F"/>
                </a:solidFill>
                <a:latin typeface="Calibri"/>
              </a:rPr>
              <a:t>Laravel 12  ·  PHP 8.4  ·  Pest v4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AGENDA</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Wat ga ik laten zien</a:t>
            </a:r>
          </a:p>
        </p:txBody>
      </p:sp>
      <p:sp>
        <p:nvSpPr>
          <p:cNvPr id="6" name="Rounded Rectangle 5"/>
          <p:cNvSpPr/>
          <p:nvPr/>
        </p:nvSpPr>
        <p:spPr>
          <a:xfrm>
            <a:off x="457200" y="1828800"/>
            <a:ext cx="2109155" cy="38404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103120"/>
            <a:ext cx="822960" cy="50292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21408"/>
            <a:ext cx="822960" cy="502920"/>
          </a:xfrm>
          <a:prstGeom prst="rect">
            <a:avLst/>
          </a:prstGeom>
          <a:noFill/>
        </p:spPr>
        <p:txBody>
          <a:bodyPr wrap="square" lIns="0" tIns="0" rIns="0" bIns="0" anchor="t">
            <a:spAutoFit/>
          </a:bodyPr>
          <a:lstStyle/>
          <a:p>
            <a:pPr algn="ctr"/>
            <a:r>
              <a:rPr sz="1800" b="1" i="0">
                <a:solidFill>
                  <a:srgbClr val="FFFFFF"/>
                </a:solidFill>
                <a:latin typeface="Calibri"/>
              </a:rPr>
              <a:t>01</a:t>
            </a:r>
          </a:p>
        </p:txBody>
      </p:sp>
      <p:sp>
        <p:nvSpPr>
          <p:cNvPr id="9" name="TextBox 8"/>
          <p:cNvSpPr txBox="1"/>
          <p:nvPr/>
        </p:nvSpPr>
        <p:spPr>
          <a:xfrm>
            <a:off x="731520" y="2834640"/>
            <a:ext cx="1560515" cy="548640"/>
          </a:xfrm>
          <a:prstGeom prst="rect">
            <a:avLst/>
          </a:prstGeom>
          <a:noFill/>
        </p:spPr>
        <p:txBody>
          <a:bodyPr wrap="square" lIns="0" tIns="0" rIns="0" bIns="0" anchor="t">
            <a:spAutoFit/>
          </a:bodyPr>
          <a:lstStyle/>
          <a:p>
            <a:pPr algn="l"/>
            <a:r>
              <a:rPr sz="1600" b="1" i="0">
                <a:solidFill>
                  <a:srgbClr val="1A2333"/>
                </a:solidFill>
                <a:latin typeface="Calibri"/>
              </a:rPr>
              <a:t>Project</a:t>
            </a:r>
          </a:p>
        </p:txBody>
      </p:sp>
      <p:sp>
        <p:nvSpPr>
          <p:cNvPr id="10" name="TextBox 9"/>
          <p:cNvSpPr txBox="1"/>
          <p:nvPr/>
        </p:nvSpPr>
        <p:spPr>
          <a:xfrm>
            <a:off x="731520" y="3429000"/>
            <a:ext cx="1560515" cy="1828800"/>
          </a:xfrm>
          <a:prstGeom prst="rect">
            <a:avLst/>
          </a:prstGeom>
          <a:noFill/>
        </p:spPr>
        <p:txBody>
          <a:bodyPr wrap="square" lIns="0" tIns="0" rIns="0" bIns="0" anchor="t">
            <a:spAutoFit/>
          </a:bodyPr>
          <a:lstStyle/>
          <a:p>
            <a:pPr algn="l"/>
            <a:r>
              <a:rPr sz="1200" b="0" i="0">
                <a:solidFill>
                  <a:srgbClr val="5A6C7D"/>
                </a:solidFill>
                <a:latin typeface="Calibri"/>
              </a:rPr>
              <a:t>Probleem · doelgroep · oplossing</a:t>
            </a:r>
          </a:p>
        </p:txBody>
      </p:sp>
      <p:sp>
        <p:nvSpPr>
          <p:cNvPr id="11" name="Rounded Rectangle 10"/>
          <p:cNvSpPr/>
          <p:nvPr/>
        </p:nvSpPr>
        <p:spPr>
          <a:xfrm>
            <a:off x="2749235" y="1828800"/>
            <a:ext cx="2109155" cy="38404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023555" y="2103120"/>
            <a:ext cx="822960" cy="50292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23555" y="2121408"/>
            <a:ext cx="822960" cy="502920"/>
          </a:xfrm>
          <a:prstGeom prst="rect">
            <a:avLst/>
          </a:prstGeom>
          <a:noFill/>
        </p:spPr>
        <p:txBody>
          <a:bodyPr wrap="square" lIns="0" tIns="0" rIns="0" bIns="0" anchor="t">
            <a:spAutoFit/>
          </a:bodyPr>
          <a:lstStyle/>
          <a:p>
            <a:pPr algn="ctr"/>
            <a:r>
              <a:rPr sz="1800" b="1" i="0">
                <a:solidFill>
                  <a:srgbClr val="FFFFFF"/>
                </a:solidFill>
                <a:latin typeface="Calibri"/>
              </a:rPr>
              <a:t>02</a:t>
            </a:r>
          </a:p>
        </p:txBody>
      </p:sp>
      <p:sp>
        <p:nvSpPr>
          <p:cNvPr id="14" name="TextBox 13"/>
          <p:cNvSpPr txBox="1"/>
          <p:nvPr/>
        </p:nvSpPr>
        <p:spPr>
          <a:xfrm>
            <a:off x="3023555" y="2834640"/>
            <a:ext cx="1560515" cy="548640"/>
          </a:xfrm>
          <a:prstGeom prst="rect">
            <a:avLst/>
          </a:prstGeom>
          <a:noFill/>
        </p:spPr>
        <p:txBody>
          <a:bodyPr wrap="square" lIns="0" tIns="0" rIns="0" bIns="0" anchor="t">
            <a:spAutoFit/>
          </a:bodyPr>
          <a:lstStyle/>
          <a:p>
            <a:pPr algn="l"/>
            <a:r>
              <a:rPr sz="1600" b="1" i="0">
                <a:solidFill>
                  <a:srgbClr val="1A2333"/>
                </a:solidFill>
                <a:latin typeface="Calibri"/>
              </a:rPr>
              <a:t>Analyse (B1)</a:t>
            </a:r>
          </a:p>
        </p:txBody>
      </p:sp>
      <p:sp>
        <p:nvSpPr>
          <p:cNvPr id="15" name="TextBox 14"/>
          <p:cNvSpPr txBox="1"/>
          <p:nvPr/>
        </p:nvSpPr>
        <p:spPr>
          <a:xfrm>
            <a:off x="3023555" y="3429000"/>
            <a:ext cx="1560515" cy="1828800"/>
          </a:xfrm>
          <a:prstGeom prst="rect">
            <a:avLst/>
          </a:prstGeom>
          <a:noFill/>
        </p:spPr>
        <p:txBody>
          <a:bodyPr wrap="square" lIns="0" tIns="0" rIns="0" bIns="0" anchor="t">
            <a:spAutoFit/>
          </a:bodyPr>
          <a:lstStyle/>
          <a:p>
            <a:pPr algn="l"/>
            <a:r>
              <a:rPr sz="1200" b="0" i="0">
                <a:solidFill>
                  <a:srgbClr val="5A6C7D"/>
                </a:solidFill>
                <a:latin typeface="Calibri"/>
              </a:rPr>
              <a:t>Eisen · wireframes · ERD · use-cases</a:t>
            </a:r>
          </a:p>
        </p:txBody>
      </p:sp>
      <p:sp>
        <p:nvSpPr>
          <p:cNvPr id="16" name="Rounded Rectangle 15"/>
          <p:cNvSpPr/>
          <p:nvPr/>
        </p:nvSpPr>
        <p:spPr>
          <a:xfrm>
            <a:off x="5041270" y="1828800"/>
            <a:ext cx="2109155" cy="38404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15590" y="2103120"/>
            <a:ext cx="822960" cy="50292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15590" y="2121408"/>
            <a:ext cx="822960" cy="502920"/>
          </a:xfrm>
          <a:prstGeom prst="rect">
            <a:avLst/>
          </a:prstGeom>
          <a:noFill/>
        </p:spPr>
        <p:txBody>
          <a:bodyPr wrap="square" lIns="0" tIns="0" rIns="0" bIns="0" anchor="t">
            <a:spAutoFit/>
          </a:bodyPr>
          <a:lstStyle/>
          <a:p>
            <a:pPr algn="ctr"/>
            <a:r>
              <a:rPr sz="1800" b="1" i="0">
                <a:solidFill>
                  <a:srgbClr val="FFFFFF"/>
                </a:solidFill>
                <a:latin typeface="Calibri"/>
              </a:rPr>
              <a:t>03</a:t>
            </a:r>
          </a:p>
        </p:txBody>
      </p:sp>
      <p:sp>
        <p:nvSpPr>
          <p:cNvPr id="19" name="TextBox 18"/>
          <p:cNvSpPr txBox="1"/>
          <p:nvPr/>
        </p:nvSpPr>
        <p:spPr>
          <a:xfrm>
            <a:off x="5315590" y="2834640"/>
            <a:ext cx="1560515" cy="548640"/>
          </a:xfrm>
          <a:prstGeom prst="rect">
            <a:avLst/>
          </a:prstGeom>
          <a:noFill/>
        </p:spPr>
        <p:txBody>
          <a:bodyPr wrap="square" lIns="0" tIns="0" rIns="0" bIns="0" anchor="t">
            <a:spAutoFit/>
          </a:bodyPr>
          <a:lstStyle/>
          <a:p>
            <a:pPr algn="l"/>
            <a:r>
              <a:rPr sz="1600" b="1" i="0">
                <a:solidFill>
                  <a:srgbClr val="1A2333"/>
                </a:solidFill>
                <a:latin typeface="Calibri"/>
              </a:rPr>
              <a:t>Realisatie (K1)</a:t>
            </a:r>
          </a:p>
        </p:txBody>
      </p:sp>
      <p:sp>
        <p:nvSpPr>
          <p:cNvPr id="20" name="TextBox 19"/>
          <p:cNvSpPr txBox="1"/>
          <p:nvPr/>
        </p:nvSpPr>
        <p:spPr>
          <a:xfrm>
            <a:off x="5315590" y="3429000"/>
            <a:ext cx="1560515" cy="1828800"/>
          </a:xfrm>
          <a:prstGeom prst="rect">
            <a:avLst/>
          </a:prstGeom>
          <a:noFill/>
        </p:spPr>
        <p:txBody>
          <a:bodyPr wrap="square" lIns="0" tIns="0" rIns="0" bIns="0" anchor="t">
            <a:spAutoFit/>
          </a:bodyPr>
          <a:lstStyle/>
          <a:p>
            <a:pPr algn="l"/>
            <a:r>
              <a:rPr sz="1200" b="0" i="0">
                <a:solidFill>
                  <a:srgbClr val="5A6C7D"/>
                </a:solidFill>
                <a:latin typeface="Calibri"/>
              </a:rPr>
              <a:t>16 user stories in 3 blokken · tests</a:t>
            </a:r>
          </a:p>
        </p:txBody>
      </p:sp>
      <p:sp>
        <p:nvSpPr>
          <p:cNvPr id="21" name="Rounded Rectangle 20"/>
          <p:cNvSpPr/>
          <p:nvPr/>
        </p:nvSpPr>
        <p:spPr>
          <a:xfrm>
            <a:off x="7333305" y="1828800"/>
            <a:ext cx="2109155" cy="38404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607625" y="2103120"/>
            <a:ext cx="822960" cy="50292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07625" y="2121408"/>
            <a:ext cx="822960" cy="502920"/>
          </a:xfrm>
          <a:prstGeom prst="rect">
            <a:avLst/>
          </a:prstGeom>
          <a:noFill/>
        </p:spPr>
        <p:txBody>
          <a:bodyPr wrap="square" lIns="0" tIns="0" rIns="0" bIns="0" anchor="t">
            <a:spAutoFit/>
          </a:bodyPr>
          <a:lstStyle/>
          <a:p>
            <a:pPr algn="ctr"/>
            <a:r>
              <a:rPr sz="1800" b="1" i="0">
                <a:solidFill>
                  <a:srgbClr val="FFFFFF"/>
                </a:solidFill>
                <a:latin typeface="Calibri"/>
              </a:rPr>
              <a:t>04</a:t>
            </a:r>
          </a:p>
        </p:txBody>
      </p:sp>
      <p:sp>
        <p:nvSpPr>
          <p:cNvPr id="24" name="TextBox 23"/>
          <p:cNvSpPr txBox="1"/>
          <p:nvPr/>
        </p:nvSpPr>
        <p:spPr>
          <a:xfrm>
            <a:off x="7607625" y="2834640"/>
            <a:ext cx="1560515" cy="548640"/>
          </a:xfrm>
          <a:prstGeom prst="rect">
            <a:avLst/>
          </a:prstGeom>
          <a:noFill/>
        </p:spPr>
        <p:txBody>
          <a:bodyPr wrap="square" lIns="0" tIns="0" rIns="0" bIns="0" anchor="t">
            <a:spAutoFit/>
          </a:bodyPr>
          <a:lstStyle/>
          <a:p>
            <a:pPr algn="l"/>
            <a:r>
              <a:rPr sz="1600" b="1" i="0">
                <a:solidFill>
                  <a:srgbClr val="1A2333"/>
                </a:solidFill>
                <a:latin typeface="Calibri"/>
              </a:rPr>
              <a:t>Overleg (K2)</a:t>
            </a:r>
          </a:p>
        </p:txBody>
      </p:sp>
      <p:sp>
        <p:nvSpPr>
          <p:cNvPr id="25" name="TextBox 24"/>
          <p:cNvSpPr txBox="1"/>
          <p:nvPr/>
        </p:nvSpPr>
        <p:spPr>
          <a:xfrm>
            <a:off x="7607625" y="3429000"/>
            <a:ext cx="1560515" cy="1828800"/>
          </a:xfrm>
          <a:prstGeom prst="rect">
            <a:avLst/>
          </a:prstGeom>
          <a:noFill/>
        </p:spPr>
        <p:txBody>
          <a:bodyPr wrap="square" lIns="0" tIns="0" rIns="0" bIns="0" anchor="t">
            <a:spAutoFit/>
          </a:bodyPr>
          <a:lstStyle/>
          <a:p>
            <a:pPr algn="l"/>
            <a:r>
              <a:rPr sz="1200" b="0" i="0">
                <a:solidFill>
                  <a:srgbClr val="5A6C7D"/>
                </a:solidFill>
                <a:latin typeface="Calibri"/>
              </a:rPr>
              <a:t>Samenwerking met PO Badreddine</a:t>
            </a:r>
          </a:p>
        </p:txBody>
      </p:sp>
      <p:sp>
        <p:nvSpPr>
          <p:cNvPr id="26" name="Rounded Rectangle 25"/>
          <p:cNvSpPr/>
          <p:nvPr/>
        </p:nvSpPr>
        <p:spPr>
          <a:xfrm>
            <a:off x="9625340" y="1828800"/>
            <a:ext cx="2109155" cy="38404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99660" y="2103120"/>
            <a:ext cx="822960" cy="50292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99660" y="2121408"/>
            <a:ext cx="822960" cy="502920"/>
          </a:xfrm>
          <a:prstGeom prst="rect">
            <a:avLst/>
          </a:prstGeom>
          <a:noFill/>
        </p:spPr>
        <p:txBody>
          <a:bodyPr wrap="square" lIns="0" tIns="0" rIns="0" bIns="0" anchor="t">
            <a:spAutoFit/>
          </a:bodyPr>
          <a:lstStyle/>
          <a:p>
            <a:pPr algn="ctr"/>
            <a:r>
              <a:rPr sz="1800" b="1" i="0">
                <a:solidFill>
                  <a:srgbClr val="FFFFFF"/>
                </a:solidFill>
                <a:latin typeface="Calibri"/>
              </a:rPr>
              <a:t>05</a:t>
            </a:r>
          </a:p>
        </p:txBody>
      </p:sp>
      <p:sp>
        <p:nvSpPr>
          <p:cNvPr id="29" name="TextBox 28"/>
          <p:cNvSpPr txBox="1"/>
          <p:nvPr/>
        </p:nvSpPr>
        <p:spPr>
          <a:xfrm>
            <a:off x="9899660" y="2834640"/>
            <a:ext cx="1560515" cy="548640"/>
          </a:xfrm>
          <a:prstGeom prst="rect">
            <a:avLst/>
          </a:prstGeom>
          <a:noFill/>
        </p:spPr>
        <p:txBody>
          <a:bodyPr wrap="square" lIns="0" tIns="0" rIns="0" bIns="0" anchor="t">
            <a:spAutoFit/>
          </a:bodyPr>
          <a:lstStyle/>
          <a:p>
            <a:pPr algn="l"/>
            <a:r>
              <a:rPr sz="1600" b="1" i="0">
                <a:solidFill>
                  <a:srgbClr val="1A2333"/>
                </a:solidFill>
                <a:latin typeface="Calibri"/>
              </a:rPr>
              <a:t>Verbeteren &amp; reflectie (W5 + W3)</a:t>
            </a:r>
          </a:p>
        </p:txBody>
      </p:sp>
      <p:sp>
        <p:nvSpPr>
          <p:cNvPr id="30" name="TextBox 29"/>
          <p:cNvSpPr txBox="1"/>
          <p:nvPr/>
        </p:nvSpPr>
        <p:spPr>
          <a:xfrm>
            <a:off x="9899660" y="3429000"/>
            <a:ext cx="1560515" cy="1828800"/>
          </a:xfrm>
          <a:prstGeom prst="rect">
            <a:avLst/>
          </a:prstGeom>
          <a:noFill/>
        </p:spPr>
        <p:txBody>
          <a:bodyPr wrap="square" lIns="0" tIns="0" rIns="0" bIns="0" anchor="t">
            <a:spAutoFit/>
          </a:bodyPr>
          <a:lstStyle/>
          <a:p>
            <a:pPr algn="l"/>
            <a:r>
              <a:rPr sz="1200" b="0" i="0">
                <a:solidFill>
                  <a:srgbClr val="5A6C7D"/>
                </a:solidFill>
                <a:latin typeface="Calibri"/>
              </a:rPr>
              <a:t>Verbetervoorstellen + retro's per sprint</a:t>
            </a:r>
          </a:p>
        </p:txBody>
      </p:sp>
      <p:sp>
        <p:nvSpPr>
          <p:cNvPr id="31" name="TextBox 30"/>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2" name="TextBox 31"/>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2 /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HET PROJECT</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Wat is Nexora?</a:t>
            </a:r>
          </a:p>
        </p:txBody>
      </p:sp>
      <p:sp>
        <p:nvSpPr>
          <p:cNvPr id="6" name="TextBox 5"/>
          <p:cNvSpPr txBox="1"/>
          <p:nvPr/>
        </p:nvSpPr>
        <p:spPr>
          <a:xfrm>
            <a:off x="457200" y="1691640"/>
            <a:ext cx="5943600" cy="2669000"/>
          </a:xfrm>
          <a:prstGeom prst="rect">
            <a:avLst/>
          </a:prstGeom>
          <a:noFill/>
        </p:spPr>
        <p:txBody>
          <a:bodyPr wrap="square" lIns="0" tIns="0" rIns="0" bIns="0" anchor="t">
            <a:spAutoFit/>
          </a:bodyPr>
          <a:lstStyle/>
          <a:p>
            <a:pPr algn="l">
              <a:lnSpc>
                <a:spcPct val="115000"/>
              </a:lnSpc>
              <a:spcAft>
                <a:spcPts val="1400"/>
              </a:spcAft>
            </a:pPr>
            <a:r>
              <a:rPr sz="1800" b="1" i="0" dirty="0" err="1">
                <a:solidFill>
                  <a:srgbClr val="1A2333"/>
                </a:solidFill>
                <a:latin typeface="Calibri"/>
              </a:rPr>
              <a:t>Nexora</a:t>
            </a:r>
            <a:r>
              <a:rPr sz="1800" b="1" i="0" dirty="0">
                <a:solidFill>
                  <a:srgbClr val="1A2333"/>
                </a:solidFill>
                <a:latin typeface="Calibri"/>
              </a:rPr>
              <a:t> is </a:t>
            </a:r>
            <a:r>
              <a:rPr sz="1800" b="1" i="0" dirty="0" err="1">
                <a:solidFill>
                  <a:srgbClr val="1A2333"/>
                </a:solidFill>
                <a:latin typeface="Calibri"/>
              </a:rPr>
              <a:t>een</a:t>
            </a:r>
            <a:r>
              <a:rPr sz="1800" b="1" i="0" dirty="0">
                <a:solidFill>
                  <a:srgbClr val="1A2333"/>
                </a:solidFill>
                <a:latin typeface="Calibri"/>
              </a:rPr>
              <a:t> </a:t>
            </a:r>
            <a:r>
              <a:rPr sz="1800" b="1" i="0" dirty="0" err="1">
                <a:solidFill>
                  <a:srgbClr val="1A2333"/>
                </a:solidFill>
                <a:latin typeface="Calibri"/>
              </a:rPr>
              <a:t>webapplicatie</a:t>
            </a:r>
            <a:r>
              <a:rPr sz="1800" b="1" i="0" dirty="0">
                <a:solidFill>
                  <a:srgbClr val="1A2333"/>
                </a:solidFill>
                <a:latin typeface="Calibri"/>
              </a:rPr>
              <a:t> </a:t>
            </a:r>
            <a:r>
              <a:rPr sz="1800" b="1" i="0" dirty="0" err="1">
                <a:solidFill>
                  <a:srgbClr val="1A2333"/>
                </a:solidFill>
                <a:latin typeface="Calibri"/>
              </a:rPr>
              <a:t>voor</a:t>
            </a:r>
            <a:r>
              <a:rPr sz="1800" b="1" i="0" dirty="0">
                <a:solidFill>
                  <a:srgbClr val="1A2333"/>
                </a:solidFill>
                <a:latin typeface="Calibri"/>
              </a:rPr>
              <a:t> </a:t>
            </a:r>
            <a:r>
              <a:rPr sz="1800" b="1" i="0" dirty="0" err="1">
                <a:solidFill>
                  <a:srgbClr val="1A2333"/>
                </a:solidFill>
                <a:latin typeface="Calibri"/>
              </a:rPr>
              <a:t>zorgorganisaties</a:t>
            </a:r>
            <a:endParaRPr sz="1800" b="1" i="0" dirty="0">
              <a:solidFill>
                <a:srgbClr val="1A2333"/>
              </a:solidFill>
              <a:latin typeface="Calibri"/>
            </a:endParaRPr>
          </a:p>
          <a:p>
            <a:pPr algn="l">
              <a:lnSpc>
                <a:spcPct val="115000"/>
              </a:lnSpc>
              <a:spcAft>
                <a:spcPts val="1800"/>
              </a:spcAft>
            </a:pPr>
            <a:r>
              <a:rPr sz="1400" b="0" i="0" dirty="0">
                <a:solidFill>
                  <a:srgbClr val="5A6C7D"/>
                </a:solidFill>
                <a:latin typeface="Calibri"/>
              </a:rPr>
              <a:t>Het </a:t>
            </a:r>
            <a:r>
              <a:rPr sz="1400" b="0" i="0" dirty="0" err="1">
                <a:solidFill>
                  <a:srgbClr val="5A6C7D"/>
                </a:solidFill>
                <a:latin typeface="Calibri"/>
              </a:rPr>
              <a:t>ondersteunt</a:t>
            </a:r>
            <a:r>
              <a:rPr sz="1400" b="0" i="0" dirty="0">
                <a:solidFill>
                  <a:srgbClr val="5A6C7D"/>
                </a:solidFill>
                <a:latin typeface="Calibri"/>
              </a:rPr>
              <a:t> </a:t>
            </a:r>
            <a:r>
              <a:rPr sz="1400" b="0" i="0" dirty="0" err="1">
                <a:solidFill>
                  <a:srgbClr val="5A6C7D"/>
                </a:solidFill>
                <a:latin typeface="Calibri"/>
              </a:rPr>
              <a:t>zorgbegeleiders</a:t>
            </a:r>
            <a:r>
              <a:rPr sz="1400" b="0" i="0" dirty="0">
                <a:solidFill>
                  <a:srgbClr val="5A6C7D"/>
                </a:solidFill>
                <a:latin typeface="Calibri"/>
              </a:rPr>
              <a:t> </a:t>
            </a:r>
            <a:r>
              <a:rPr sz="1400" b="0" i="0" dirty="0" err="1">
                <a:solidFill>
                  <a:srgbClr val="5A6C7D"/>
                </a:solidFill>
                <a:latin typeface="Calibri"/>
              </a:rPr>
              <a:t>en</a:t>
            </a:r>
            <a:r>
              <a:rPr sz="1400" b="0" i="0" dirty="0">
                <a:solidFill>
                  <a:srgbClr val="5A6C7D"/>
                </a:solidFill>
                <a:latin typeface="Calibri"/>
              </a:rPr>
              <a:t> </a:t>
            </a:r>
            <a:r>
              <a:rPr sz="1400" b="0" i="0" dirty="0" err="1">
                <a:solidFill>
                  <a:srgbClr val="5A6C7D"/>
                </a:solidFill>
                <a:latin typeface="Calibri"/>
              </a:rPr>
              <a:t>teamleiders</a:t>
            </a:r>
            <a:r>
              <a:rPr sz="1400" b="0" i="0" dirty="0">
                <a:solidFill>
                  <a:srgbClr val="5A6C7D"/>
                </a:solidFill>
                <a:latin typeface="Calibri"/>
              </a:rPr>
              <a:t> </a:t>
            </a:r>
            <a:r>
              <a:rPr sz="1400" b="0" i="0" dirty="0" err="1">
                <a:solidFill>
                  <a:srgbClr val="5A6C7D"/>
                </a:solidFill>
                <a:latin typeface="Calibri"/>
              </a:rPr>
              <a:t>bij</a:t>
            </a:r>
            <a:r>
              <a:rPr sz="1400" b="0" i="0" dirty="0">
                <a:solidFill>
                  <a:srgbClr val="5A6C7D"/>
                </a:solidFill>
                <a:latin typeface="Calibri"/>
              </a:rPr>
              <a:t> </a:t>
            </a:r>
            <a:r>
              <a:rPr sz="1400" b="0" i="0" dirty="0" err="1">
                <a:solidFill>
                  <a:srgbClr val="5A6C7D"/>
                </a:solidFill>
                <a:latin typeface="Calibri"/>
              </a:rPr>
              <a:t>hun</a:t>
            </a:r>
            <a:r>
              <a:rPr sz="1400" b="0" i="0" dirty="0">
                <a:solidFill>
                  <a:srgbClr val="5A6C7D"/>
                </a:solidFill>
                <a:latin typeface="Calibri"/>
              </a:rPr>
              <a:t> </a:t>
            </a:r>
            <a:r>
              <a:rPr sz="1400" b="0" i="0" dirty="0" err="1">
                <a:solidFill>
                  <a:srgbClr val="5A6C7D"/>
                </a:solidFill>
                <a:latin typeface="Calibri"/>
              </a:rPr>
              <a:t>dagelijkse</a:t>
            </a:r>
            <a:r>
              <a:rPr sz="1400" b="0" i="0" dirty="0">
                <a:solidFill>
                  <a:srgbClr val="5A6C7D"/>
                </a:solidFill>
                <a:latin typeface="Calibri"/>
              </a:rPr>
              <a:t> </a:t>
            </a:r>
            <a:r>
              <a:rPr sz="1400" b="0" i="0" dirty="0" err="1">
                <a:solidFill>
                  <a:srgbClr val="5A6C7D"/>
                </a:solidFill>
                <a:latin typeface="Calibri"/>
              </a:rPr>
              <a:t>werk</a:t>
            </a:r>
            <a:r>
              <a:rPr sz="1400" b="0" i="0" dirty="0">
                <a:solidFill>
                  <a:srgbClr val="5A6C7D"/>
                </a:solidFill>
                <a:latin typeface="Calibri"/>
              </a:rPr>
              <a:t>.</a:t>
            </a:r>
          </a:p>
          <a:p>
            <a:pPr algn="l">
              <a:lnSpc>
                <a:spcPct val="115000"/>
              </a:lnSpc>
              <a:spcAft>
                <a:spcPts val="800"/>
              </a:spcAft>
            </a:pPr>
            <a:r>
              <a:rPr sz="1400" b="1" i="0" dirty="0">
                <a:solidFill>
                  <a:srgbClr val="028090"/>
                </a:solidFill>
                <a:latin typeface="Calibri"/>
              </a:rPr>
              <a:t>Vijf kern-</a:t>
            </a:r>
            <a:r>
              <a:rPr sz="1400" b="1" i="0" dirty="0" err="1">
                <a:solidFill>
                  <a:srgbClr val="028090"/>
                </a:solidFill>
                <a:latin typeface="Calibri"/>
              </a:rPr>
              <a:t>functies</a:t>
            </a:r>
            <a:r>
              <a:rPr sz="1400" b="1" i="0" dirty="0">
                <a:solidFill>
                  <a:srgbClr val="028090"/>
                </a:solidFill>
                <a:latin typeface="Calibri"/>
              </a:rPr>
              <a:t>:</a:t>
            </a:r>
          </a:p>
          <a:p>
            <a:pPr algn="l">
              <a:lnSpc>
                <a:spcPct val="115000"/>
              </a:lnSpc>
              <a:spcAft>
                <a:spcPts val="400"/>
              </a:spcAft>
            </a:pPr>
            <a:r>
              <a:rPr sz="1300" b="0" i="0" dirty="0">
                <a:solidFill>
                  <a:srgbClr val="1A2333"/>
                </a:solidFill>
                <a:latin typeface="Calibri"/>
              </a:rPr>
              <a:t>•  </a:t>
            </a:r>
            <a:r>
              <a:rPr sz="1300" b="0" i="0" dirty="0" err="1">
                <a:solidFill>
                  <a:srgbClr val="1A2333"/>
                </a:solidFill>
                <a:latin typeface="Calibri"/>
              </a:rPr>
              <a:t>Cliëntdossiers</a:t>
            </a:r>
            <a:r>
              <a:rPr sz="1300" b="0" i="0" dirty="0">
                <a:solidFill>
                  <a:srgbClr val="1A2333"/>
                </a:solidFill>
                <a:latin typeface="Calibri"/>
              </a:rPr>
              <a:t> </a:t>
            </a:r>
            <a:r>
              <a:rPr sz="1300" b="0" i="0" dirty="0" err="1">
                <a:solidFill>
                  <a:srgbClr val="1A2333"/>
                </a:solidFill>
                <a:latin typeface="Calibri"/>
              </a:rPr>
              <a:t>beheren</a:t>
            </a:r>
            <a:r>
              <a:rPr sz="1300" b="0" i="0" dirty="0">
                <a:solidFill>
                  <a:srgbClr val="1A2333"/>
                </a:solidFill>
                <a:latin typeface="Calibri"/>
              </a:rPr>
              <a:t> (</a:t>
            </a:r>
            <a:r>
              <a:rPr sz="1300" b="0" i="0" dirty="0" err="1">
                <a:solidFill>
                  <a:srgbClr val="1A2333"/>
                </a:solidFill>
                <a:latin typeface="Calibri"/>
              </a:rPr>
              <a:t>persoonsgegevens</a:t>
            </a:r>
            <a:r>
              <a:rPr sz="1300" b="0" i="0" dirty="0">
                <a:solidFill>
                  <a:srgbClr val="1A2333"/>
                </a:solidFill>
                <a:latin typeface="Calibri"/>
              </a:rPr>
              <a:t>, </a:t>
            </a:r>
            <a:r>
              <a:rPr sz="1300" b="0" i="0" dirty="0" err="1">
                <a:solidFill>
                  <a:srgbClr val="1A2333"/>
                </a:solidFill>
                <a:latin typeface="Calibri"/>
              </a:rPr>
              <a:t>zorgtype</a:t>
            </a:r>
            <a:r>
              <a:rPr sz="1300" b="0" i="0" dirty="0">
                <a:solidFill>
                  <a:srgbClr val="1A2333"/>
                </a:solidFill>
                <a:latin typeface="Calibri"/>
              </a:rPr>
              <a:t>, status)</a:t>
            </a:r>
          </a:p>
          <a:p>
            <a:pPr algn="l">
              <a:lnSpc>
                <a:spcPct val="115000"/>
              </a:lnSpc>
              <a:spcAft>
                <a:spcPts val="400"/>
              </a:spcAft>
            </a:pPr>
            <a:r>
              <a:rPr sz="1300" b="0" i="0" dirty="0">
                <a:solidFill>
                  <a:srgbClr val="1A2333"/>
                </a:solidFill>
                <a:latin typeface="Calibri"/>
              </a:rPr>
              <a:t>•  </a:t>
            </a:r>
            <a:r>
              <a:rPr sz="1300" b="0" i="0" dirty="0" err="1">
                <a:solidFill>
                  <a:srgbClr val="1A2333"/>
                </a:solidFill>
                <a:latin typeface="Calibri"/>
              </a:rPr>
              <a:t>Begeleiders</a:t>
            </a:r>
            <a:r>
              <a:rPr sz="1300" b="0" i="0" dirty="0">
                <a:solidFill>
                  <a:srgbClr val="1A2333"/>
                </a:solidFill>
                <a:latin typeface="Calibri"/>
              </a:rPr>
              <a:t> </a:t>
            </a:r>
            <a:r>
              <a:rPr sz="1300" b="0" i="0" dirty="0" err="1">
                <a:solidFill>
                  <a:srgbClr val="1A2333"/>
                </a:solidFill>
                <a:latin typeface="Calibri"/>
              </a:rPr>
              <a:t>koppelen</a:t>
            </a:r>
            <a:r>
              <a:rPr sz="1300" b="0" i="0" dirty="0">
                <a:solidFill>
                  <a:srgbClr val="1A2333"/>
                </a:solidFill>
                <a:latin typeface="Calibri"/>
              </a:rPr>
              <a:t> (</a:t>
            </a:r>
            <a:r>
              <a:rPr sz="1300" b="0" i="0" dirty="0" err="1">
                <a:solidFill>
                  <a:srgbClr val="1A2333"/>
                </a:solidFill>
                <a:latin typeface="Calibri"/>
              </a:rPr>
              <a:t>primair</a:t>
            </a:r>
            <a:r>
              <a:rPr sz="1300" b="0" i="0" dirty="0">
                <a:solidFill>
                  <a:srgbClr val="1A2333"/>
                </a:solidFill>
                <a:latin typeface="Calibri"/>
              </a:rPr>
              <a:t> · </a:t>
            </a:r>
            <a:r>
              <a:rPr sz="1300" b="0" i="0" dirty="0" err="1">
                <a:solidFill>
                  <a:srgbClr val="1A2333"/>
                </a:solidFill>
                <a:latin typeface="Calibri"/>
              </a:rPr>
              <a:t>secundair</a:t>
            </a:r>
            <a:r>
              <a:rPr sz="1300" b="0" i="0" dirty="0">
                <a:solidFill>
                  <a:srgbClr val="1A2333"/>
                </a:solidFill>
                <a:latin typeface="Calibri"/>
              </a:rPr>
              <a:t> · </a:t>
            </a:r>
            <a:r>
              <a:rPr sz="1300" b="0" i="0" dirty="0" err="1">
                <a:solidFill>
                  <a:srgbClr val="1A2333"/>
                </a:solidFill>
                <a:latin typeface="Calibri"/>
              </a:rPr>
              <a:t>tertiair</a:t>
            </a:r>
            <a:r>
              <a:rPr sz="1300" b="0" i="0" dirty="0">
                <a:solidFill>
                  <a:srgbClr val="1A2333"/>
                </a:solidFill>
                <a:latin typeface="Calibri"/>
              </a:rPr>
              <a:t>)</a:t>
            </a:r>
          </a:p>
          <a:p>
            <a:pPr algn="l">
              <a:lnSpc>
                <a:spcPct val="115000"/>
              </a:lnSpc>
              <a:spcAft>
                <a:spcPts val="400"/>
              </a:spcAft>
            </a:pPr>
            <a:r>
              <a:rPr sz="1300" b="0" i="0" dirty="0">
                <a:solidFill>
                  <a:srgbClr val="1A2333"/>
                </a:solidFill>
                <a:latin typeface="Calibri"/>
              </a:rPr>
              <a:t>•  </a:t>
            </a:r>
            <a:r>
              <a:rPr sz="1300" b="0" i="0" dirty="0" err="1">
                <a:solidFill>
                  <a:srgbClr val="1A2333"/>
                </a:solidFill>
                <a:latin typeface="Calibri"/>
              </a:rPr>
              <a:t>Urenregistratie</a:t>
            </a:r>
            <a:r>
              <a:rPr sz="1300" b="0" i="0" dirty="0">
                <a:solidFill>
                  <a:srgbClr val="1A2333"/>
                </a:solidFill>
                <a:latin typeface="Calibri"/>
              </a:rPr>
              <a:t> — van concept tot </a:t>
            </a:r>
            <a:r>
              <a:rPr sz="1300" b="0" i="0" dirty="0" err="1">
                <a:solidFill>
                  <a:srgbClr val="1A2333"/>
                </a:solidFill>
                <a:latin typeface="Calibri"/>
              </a:rPr>
              <a:t>goedkeuring</a:t>
            </a:r>
            <a:endParaRPr sz="1300" b="0" i="0" dirty="0">
              <a:solidFill>
                <a:srgbClr val="1A2333"/>
              </a:solidFill>
              <a:latin typeface="Calibri"/>
            </a:endParaRPr>
          </a:p>
          <a:p>
            <a:pPr algn="l">
              <a:lnSpc>
                <a:spcPct val="115000"/>
              </a:lnSpc>
              <a:spcAft>
                <a:spcPts val="400"/>
              </a:spcAft>
            </a:pPr>
            <a:r>
              <a:rPr sz="1300" b="0" i="0" dirty="0">
                <a:solidFill>
                  <a:srgbClr val="1A2333"/>
                </a:solidFill>
                <a:latin typeface="Calibri"/>
              </a:rPr>
              <a:t>•  </a:t>
            </a:r>
            <a:r>
              <a:rPr sz="1300" b="0" i="0" dirty="0" err="1">
                <a:solidFill>
                  <a:srgbClr val="1A2333"/>
                </a:solidFill>
                <a:latin typeface="Calibri"/>
              </a:rPr>
              <a:t>Teambeheer</a:t>
            </a:r>
            <a:r>
              <a:rPr sz="1300" b="0" i="0" dirty="0">
                <a:solidFill>
                  <a:srgbClr val="1A2333"/>
                </a:solidFill>
                <a:latin typeface="Calibri"/>
              </a:rPr>
              <a:t> (</a:t>
            </a:r>
            <a:r>
              <a:rPr sz="1300" b="0" i="0" dirty="0" err="1">
                <a:solidFill>
                  <a:srgbClr val="1A2333"/>
                </a:solidFill>
                <a:latin typeface="Calibri"/>
              </a:rPr>
              <a:t>medewerkers</a:t>
            </a:r>
            <a:r>
              <a:rPr sz="1300" b="0" i="0" dirty="0">
                <a:solidFill>
                  <a:srgbClr val="1A2333"/>
                </a:solidFill>
                <a:latin typeface="Calibri"/>
              </a:rPr>
              <a:t> + </a:t>
            </a:r>
            <a:r>
              <a:rPr sz="1300" b="0" i="0" dirty="0" err="1">
                <a:solidFill>
                  <a:srgbClr val="1A2333"/>
                </a:solidFill>
                <a:latin typeface="Calibri"/>
              </a:rPr>
              <a:t>rollen</a:t>
            </a:r>
            <a:r>
              <a:rPr sz="1300" b="0" i="0" dirty="0">
                <a:solidFill>
                  <a:srgbClr val="1A2333"/>
                </a:solidFill>
                <a:latin typeface="Calibri"/>
              </a:rPr>
              <a:t>)</a:t>
            </a:r>
          </a:p>
          <a:p>
            <a:pPr algn="l">
              <a:lnSpc>
                <a:spcPct val="115000"/>
              </a:lnSpc>
              <a:spcAft>
                <a:spcPts val="400"/>
              </a:spcAft>
            </a:pPr>
            <a:r>
              <a:rPr sz="1300" b="0" i="0" dirty="0">
                <a:solidFill>
                  <a:srgbClr val="1A2333"/>
                </a:solidFill>
                <a:latin typeface="Calibri"/>
              </a:rPr>
              <a:t>•  </a:t>
            </a:r>
            <a:r>
              <a:rPr sz="1300" b="0" i="0" dirty="0" err="1">
                <a:solidFill>
                  <a:srgbClr val="1A2333"/>
                </a:solidFill>
                <a:latin typeface="Calibri"/>
              </a:rPr>
              <a:t>Rolgebaseerde</a:t>
            </a:r>
            <a:r>
              <a:rPr sz="1300" b="0" i="0" dirty="0">
                <a:solidFill>
                  <a:srgbClr val="1A2333"/>
                </a:solidFill>
                <a:latin typeface="Calibri"/>
              </a:rPr>
              <a:t> </a:t>
            </a:r>
            <a:r>
              <a:rPr sz="1300" b="0" i="0" dirty="0" err="1">
                <a:solidFill>
                  <a:srgbClr val="1A2333"/>
                </a:solidFill>
                <a:latin typeface="Calibri"/>
              </a:rPr>
              <a:t>toegang</a:t>
            </a:r>
            <a:r>
              <a:rPr sz="1300" b="0" i="0" dirty="0">
                <a:solidFill>
                  <a:srgbClr val="1A2333"/>
                </a:solidFill>
                <a:latin typeface="Calibri"/>
              </a:rPr>
              <a:t> via Policies + middleware</a:t>
            </a:r>
          </a:p>
        </p:txBody>
      </p:sp>
      <p:sp>
        <p:nvSpPr>
          <p:cNvPr id="7" name="Rectangle 6"/>
          <p:cNvSpPr/>
          <p:nvPr/>
        </p:nvSpPr>
        <p:spPr>
          <a:xfrm>
            <a:off x="6675120" y="1691640"/>
            <a:ext cx="5074920" cy="402336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medewerkers-overzicht.png"/>
          <p:cNvPicPr>
            <a:picLocks noChangeAspect="1"/>
          </p:cNvPicPr>
          <p:nvPr/>
        </p:nvPicPr>
        <p:blipFill>
          <a:blip r:embed="rId3"/>
          <a:stretch>
            <a:fillRect/>
          </a:stretch>
        </p:blipFill>
        <p:spPr>
          <a:xfrm>
            <a:off x="6720840" y="1737360"/>
            <a:ext cx="4983480" cy="3931920"/>
          </a:xfrm>
          <a:prstGeom prst="rect">
            <a:avLst/>
          </a:prstGeom>
        </p:spPr>
      </p:pic>
      <p:sp>
        <p:nvSpPr>
          <p:cNvPr id="9" name="TextBox 8"/>
          <p:cNvSpPr txBox="1"/>
          <p:nvPr/>
        </p:nvSpPr>
        <p:spPr>
          <a:xfrm>
            <a:off x="6675120" y="5806440"/>
            <a:ext cx="5074920" cy="274320"/>
          </a:xfrm>
          <a:prstGeom prst="rect">
            <a:avLst/>
          </a:prstGeom>
          <a:noFill/>
        </p:spPr>
        <p:txBody>
          <a:bodyPr wrap="square" lIns="0" tIns="0" rIns="0" bIns="0" anchor="t">
            <a:spAutoFit/>
          </a:bodyPr>
          <a:lstStyle/>
          <a:p>
            <a:pPr algn="ctr"/>
            <a:r>
              <a:rPr sz="1000" b="0" i="1">
                <a:solidFill>
                  <a:srgbClr val="5A6C7D"/>
                </a:solidFill>
                <a:latin typeface="Calibri"/>
              </a:rPr>
              <a:t>Medewerkersoverzicht — Nexora dashboard</a:t>
            </a:r>
          </a:p>
        </p:txBody>
      </p:sp>
      <p:sp>
        <p:nvSpPr>
          <p:cNvPr id="10" name="TextBox 9"/>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11" name="TextBox 10"/>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3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CONTEXT</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Doelgroep, rollen en wettelijk kader</a:t>
            </a:r>
          </a:p>
        </p:txBody>
      </p:sp>
      <p:sp>
        <p:nvSpPr>
          <p:cNvPr id="6" name="Rounded Rectangle 5"/>
          <p:cNvSpPr/>
          <p:nvPr/>
        </p:nvSpPr>
        <p:spPr>
          <a:xfrm>
            <a:off x="457200" y="1508760"/>
            <a:ext cx="5532120" cy="33375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08760"/>
            <a:ext cx="164592" cy="333756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91640"/>
            <a:ext cx="5074920" cy="274320"/>
          </a:xfrm>
          <a:prstGeom prst="rect">
            <a:avLst/>
          </a:prstGeom>
          <a:noFill/>
        </p:spPr>
        <p:txBody>
          <a:bodyPr wrap="square" lIns="0" tIns="0" rIns="0" bIns="0" anchor="t">
            <a:spAutoFit/>
          </a:bodyPr>
          <a:lstStyle/>
          <a:p>
            <a:pPr algn="l"/>
            <a:r>
              <a:rPr sz="1100" b="1" i="0">
                <a:solidFill>
                  <a:srgbClr val="028090"/>
                </a:solidFill>
                <a:latin typeface="Calibri"/>
              </a:rPr>
              <a:t>ZORGBEGELEIDER</a:t>
            </a:r>
          </a:p>
        </p:txBody>
      </p:sp>
      <p:sp>
        <p:nvSpPr>
          <p:cNvPr id="9" name="TextBox 8"/>
          <p:cNvSpPr txBox="1"/>
          <p:nvPr/>
        </p:nvSpPr>
        <p:spPr>
          <a:xfrm>
            <a:off x="777240" y="2011680"/>
            <a:ext cx="5074920" cy="502920"/>
          </a:xfrm>
          <a:prstGeom prst="rect">
            <a:avLst/>
          </a:prstGeom>
          <a:noFill/>
        </p:spPr>
        <p:txBody>
          <a:bodyPr wrap="square" lIns="0" tIns="0" rIns="0" bIns="0" anchor="t">
            <a:spAutoFit/>
          </a:bodyPr>
          <a:lstStyle/>
          <a:p>
            <a:pPr algn="l"/>
            <a:r>
              <a:rPr sz="2400" b="1" i="0">
                <a:solidFill>
                  <a:srgbClr val="1A2333"/>
                </a:solidFill>
                <a:latin typeface="Calibri"/>
              </a:rPr>
              <a:t>Eigen caseload</a:t>
            </a:r>
          </a:p>
        </p:txBody>
      </p:sp>
      <p:sp>
        <p:nvSpPr>
          <p:cNvPr id="10" name="TextBox 9"/>
          <p:cNvSpPr txBox="1"/>
          <p:nvPr/>
        </p:nvSpPr>
        <p:spPr>
          <a:xfrm>
            <a:off x="777240" y="2560320"/>
            <a:ext cx="5074920" cy="274320"/>
          </a:xfrm>
          <a:prstGeom prst="rect">
            <a:avLst/>
          </a:prstGeom>
          <a:noFill/>
        </p:spPr>
        <p:txBody>
          <a:bodyPr wrap="square" lIns="0" tIns="0" rIns="0" bIns="0" anchor="t">
            <a:spAutoFit/>
          </a:bodyPr>
          <a:lstStyle/>
          <a:p>
            <a:pPr algn="l"/>
            <a:r>
              <a:rPr sz="1000" b="1" i="0">
                <a:solidFill>
                  <a:srgbClr val="5A6C7D"/>
                </a:solidFill>
                <a:latin typeface="Calibri"/>
              </a:rPr>
              <a:t>Wat kan hij doen?</a:t>
            </a:r>
          </a:p>
        </p:txBody>
      </p:sp>
      <p:sp>
        <p:nvSpPr>
          <p:cNvPr id="11" name="TextBox 10"/>
          <p:cNvSpPr txBox="1"/>
          <p:nvPr/>
        </p:nvSpPr>
        <p:spPr>
          <a:xfrm>
            <a:off x="777240" y="2880360"/>
            <a:ext cx="5074920" cy="1828800"/>
          </a:xfrm>
          <a:prstGeom prst="rect">
            <a:avLst/>
          </a:prstGeom>
          <a:noFill/>
        </p:spPr>
        <p:txBody>
          <a:bodyPr wrap="square" lIns="0" tIns="0" rIns="0" bIns="0" anchor="t">
            <a:spAutoFit/>
          </a:bodyPr>
          <a:lstStyle/>
          <a:p>
            <a:pPr algn="l">
              <a:lnSpc>
                <a:spcPct val="115000"/>
              </a:lnSpc>
              <a:spcAft>
                <a:spcPts val="500"/>
              </a:spcAft>
            </a:pPr>
            <a:r>
              <a:rPr sz="1200" b="0" i="0">
                <a:solidFill>
                  <a:srgbClr val="1A2333"/>
                </a:solidFill>
                <a:latin typeface="Calibri"/>
              </a:rPr>
              <a:t>•  Inloggen + eigen profiel / wachtwoord beheren</a:t>
            </a:r>
          </a:p>
          <a:p>
            <a:pPr algn="l">
              <a:lnSpc>
                <a:spcPct val="115000"/>
              </a:lnSpc>
              <a:spcAft>
                <a:spcPts val="500"/>
              </a:spcAft>
            </a:pPr>
            <a:r>
              <a:rPr sz="1200" b="0" i="0">
                <a:solidFill>
                  <a:srgbClr val="1A2333"/>
                </a:solidFill>
                <a:latin typeface="Calibri"/>
              </a:rPr>
              <a:t>•  Eigen cliënten inzien (gefilterd door koppeling)</a:t>
            </a:r>
          </a:p>
          <a:p>
            <a:pPr algn="l">
              <a:lnSpc>
                <a:spcPct val="115000"/>
              </a:lnSpc>
              <a:spcAft>
                <a:spcPts val="500"/>
              </a:spcAft>
            </a:pPr>
            <a:r>
              <a:rPr sz="1200" b="0" i="0">
                <a:solidFill>
                  <a:srgbClr val="1A2333"/>
                </a:solidFill>
                <a:latin typeface="Calibri"/>
              </a:rPr>
              <a:t>•  Cliëntdossier bekijken (rol-gefilterd)</a:t>
            </a:r>
          </a:p>
          <a:p>
            <a:pPr algn="l">
              <a:lnSpc>
                <a:spcPct val="115000"/>
              </a:lnSpc>
              <a:spcAft>
                <a:spcPts val="500"/>
              </a:spcAft>
            </a:pPr>
            <a:r>
              <a:rPr sz="1200" b="0" i="0">
                <a:solidFill>
                  <a:srgbClr val="1A2333"/>
                </a:solidFill>
                <a:latin typeface="Calibri"/>
              </a:rPr>
              <a:t>•  Concept-uren aanmaken en bewerken per cliënt</a:t>
            </a:r>
          </a:p>
          <a:p>
            <a:pPr algn="l">
              <a:lnSpc>
                <a:spcPct val="115000"/>
              </a:lnSpc>
              <a:spcAft>
                <a:spcPts val="500"/>
              </a:spcAft>
            </a:pPr>
            <a:r>
              <a:rPr sz="1200" b="0" i="0">
                <a:solidFill>
                  <a:srgbClr val="1A2333"/>
                </a:solidFill>
                <a:latin typeface="Calibri"/>
              </a:rPr>
              <a:t>•  Uren indienen, terugtrekken, resubmit na afkeuring</a:t>
            </a:r>
          </a:p>
        </p:txBody>
      </p:sp>
      <p:sp>
        <p:nvSpPr>
          <p:cNvPr id="12" name="Rounded Rectangle 11"/>
          <p:cNvSpPr/>
          <p:nvPr/>
        </p:nvSpPr>
        <p:spPr>
          <a:xfrm>
            <a:off x="6199632" y="1508760"/>
            <a:ext cx="5532120" cy="33375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99632" y="1508760"/>
            <a:ext cx="164592" cy="333756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9672" y="1691640"/>
            <a:ext cx="5074920" cy="274320"/>
          </a:xfrm>
          <a:prstGeom prst="rect">
            <a:avLst/>
          </a:prstGeom>
          <a:noFill/>
        </p:spPr>
        <p:txBody>
          <a:bodyPr wrap="square" lIns="0" tIns="0" rIns="0" bIns="0" anchor="t">
            <a:spAutoFit/>
          </a:bodyPr>
          <a:lstStyle/>
          <a:p>
            <a:pPr algn="l"/>
            <a:r>
              <a:rPr sz="1100" b="1" i="0">
                <a:solidFill>
                  <a:srgbClr val="1E2761"/>
                </a:solidFill>
                <a:latin typeface="Calibri"/>
              </a:rPr>
              <a:t>TEAMLEIDER</a:t>
            </a:r>
          </a:p>
        </p:txBody>
      </p:sp>
      <p:sp>
        <p:nvSpPr>
          <p:cNvPr id="15" name="TextBox 14"/>
          <p:cNvSpPr txBox="1"/>
          <p:nvPr/>
        </p:nvSpPr>
        <p:spPr>
          <a:xfrm>
            <a:off x="6519672" y="2011680"/>
            <a:ext cx="5074920" cy="502920"/>
          </a:xfrm>
          <a:prstGeom prst="rect">
            <a:avLst/>
          </a:prstGeom>
          <a:noFill/>
        </p:spPr>
        <p:txBody>
          <a:bodyPr wrap="square" lIns="0" tIns="0" rIns="0" bIns="0" anchor="t">
            <a:spAutoFit/>
          </a:bodyPr>
          <a:lstStyle/>
          <a:p>
            <a:pPr algn="l"/>
            <a:r>
              <a:rPr sz="2400" b="1" i="0">
                <a:solidFill>
                  <a:srgbClr val="1A2333"/>
                </a:solidFill>
                <a:latin typeface="Calibri"/>
              </a:rPr>
              <a:t>Volledig beheer</a:t>
            </a:r>
          </a:p>
        </p:txBody>
      </p:sp>
      <p:sp>
        <p:nvSpPr>
          <p:cNvPr id="16" name="TextBox 15"/>
          <p:cNvSpPr txBox="1"/>
          <p:nvPr/>
        </p:nvSpPr>
        <p:spPr>
          <a:xfrm>
            <a:off x="6519672" y="2560320"/>
            <a:ext cx="5074920" cy="274320"/>
          </a:xfrm>
          <a:prstGeom prst="rect">
            <a:avLst/>
          </a:prstGeom>
          <a:noFill/>
        </p:spPr>
        <p:txBody>
          <a:bodyPr wrap="square" lIns="0" tIns="0" rIns="0" bIns="0" anchor="t">
            <a:spAutoFit/>
          </a:bodyPr>
          <a:lstStyle/>
          <a:p>
            <a:pPr algn="l"/>
            <a:r>
              <a:rPr sz="1000" b="1" i="0">
                <a:solidFill>
                  <a:srgbClr val="5A6C7D"/>
                </a:solidFill>
                <a:latin typeface="Calibri"/>
              </a:rPr>
              <a:t>Alles wat zorgbegeleider kan + extra rechten:</a:t>
            </a:r>
          </a:p>
        </p:txBody>
      </p:sp>
      <p:sp>
        <p:nvSpPr>
          <p:cNvPr id="17" name="TextBox 16"/>
          <p:cNvSpPr txBox="1"/>
          <p:nvPr/>
        </p:nvSpPr>
        <p:spPr>
          <a:xfrm>
            <a:off x="6519672" y="2880360"/>
            <a:ext cx="5074920" cy="1828800"/>
          </a:xfrm>
          <a:prstGeom prst="rect">
            <a:avLst/>
          </a:prstGeom>
          <a:noFill/>
        </p:spPr>
        <p:txBody>
          <a:bodyPr wrap="square" lIns="0" tIns="0" rIns="0" bIns="0" anchor="t">
            <a:spAutoFit/>
          </a:bodyPr>
          <a:lstStyle/>
          <a:p>
            <a:pPr algn="l">
              <a:lnSpc>
                <a:spcPct val="115000"/>
              </a:lnSpc>
              <a:spcAft>
                <a:spcPts val="500"/>
              </a:spcAft>
            </a:pPr>
            <a:r>
              <a:rPr sz="1200" b="0" i="0">
                <a:solidFill>
                  <a:srgbClr val="1A2333"/>
                </a:solidFill>
                <a:latin typeface="Calibri"/>
              </a:rPr>
              <a:t>•  Medewerkers aanmaken, bewerken, (de)activeren</a:t>
            </a:r>
          </a:p>
          <a:p>
            <a:pPr algn="l">
              <a:lnSpc>
                <a:spcPct val="115000"/>
              </a:lnSpc>
              <a:spcAft>
                <a:spcPts val="500"/>
              </a:spcAft>
            </a:pPr>
            <a:r>
              <a:rPr sz="1200" b="0" i="0">
                <a:solidFill>
                  <a:srgbClr val="1A2333"/>
                </a:solidFill>
                <a:latin typeface="Calibri"/>
              </a:rPr>
              <a:t>•  Cliëntdossiers aanmaken, bewerken, archiveren</a:t>
            </a:r>
          </a:p>
          <a:p>
            <a:pPr algn="l">
              <a:lnSpc>
                <a:spcPct val="115000"/>
              </a:lnSpc>
              <a:spcAft>
                <a:spcPts val="500"/>
              </a:spcAft>
            </a:pPr>
            <a:r>
              <a:rPr sz="1200" b="0" i="0">
                <a:solidFill>
                  <a:srgbClr val="1A2333"/>
                </a:solidFill>
                <a:latin typeface="Calibri"/>
              </a:rPr>
              <a:t>•  Begeleiders koppelen — primair / secundair / tertiair</a:t>
            </a:r>
          </a:p>
          <a:p>
            <a:pPr algn="l">
              <a:lnSpc>
                <a:spcPct val="115000"/>
              </a:lnSpc>
              <a:spcAft>
                <a:spcPts val="500"/>
              </a:spcAft>
            </a:pPr>
            <a:r>
              <a:rPr sz="1200" b="0" i="0">
                <a:solidFill>
                  <a:srgbClr val="1A2333"/>
                </a:solidFill>
                <a:latin typeface="Calibri"/>
              </a:rPr>
              <a:t>•  Uren goedkeuren of afkeuren (met verplichte reden)</a:t>
            </a:r>
          </a:p>
          <a:p>
            <a:pPr algn="l">
              <a:lnSpc>
                <a:spcPct val="115000"/>
              </a:lnSpc>
              <a:spcAft>
                <a:spcPts val="500"/>
              </a:spcAft>
            </a:pPr>
            <a:r>
              <a:rPr sz="1200" b="0" i="0">
                <a:solidFill>
                  <a:srgbClr val="1A2333"/>
                </a:solidFill>
                <a:latin typeface="Calibri"/>
              </a:rPr>
              <a:t>•  Filter-rich urenoverzicht over hele organisatie</a:t>
            </a:r>
          </a:p>
        </p:txBody>
      </p:sp>
      <p:sp>
        <p:nvSpPr>
          <p:cNvPr id="18" name="Rounded Rectangle 17"/>
          <p:cNvSpPr/>
          <p:nvPr/>
        </p:nvSpPr>
        <p:spPr>
          <a:xfrm>
            <a:off x="457200" y="5029200"/>
            <a:ext cx="3749039" cy="137160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166360"/>
            <a:ext cx="3383279" cy="365760"/>
          </a:xfrm>
          <a:prstGeom prst="rect">
            <a:avLst/>
          </a:prstGeom>
          <a:noFill/>
        </p:spPr>
        <p:txBody>
          <a:bodyPr wrap="square" lIns="0" tIns="0" rIns="0" bIns="0" anchor="t">
            <a:spAutoFit/>
          </a:bodyPr>
          <a:lstStyle/>
          <a:p>
            <a:pPr algn="l"/>
            <a:r>
              <a:rPr sz="1600" b="1" i="0">
                <a:solidFill>
                  <a:srgbClr val="028090"/>
                </a:solidFill>
                <a:latin typeface="Calibri"/>
              </a:rPr>
              <a:t>AVG</a:t>
            </a:r>
          </a:p>
        </p:txBody>
      </p:sp>
      <p:sp>
        <p:nvSpPr>
          <p:cNvPr id="20" name="TextBox 19"/>
          <p:cNvSpPr txBox="1"/>
          <p:nvPr/>
        </p:nvSpPr>
        <p:spPr>
          <a:xfrm>
            <a:off x="640080" y="5486400"/>
            <a:ext cx="3383279" cy="274320"/>
          </a:xfrm>
          <a:prstGeom prst="rect">
            <a:avLst/>
          </a:prstGeom>
          <a:noFill/>
        </p:spPr>
        <p:txBody>
          <a:bodyPr wrap="square" lIns="0" tIns="0" rIns="0" bIns="0" anchor="t">
            <a:spAutoFit/>
          </a:bodyPr>
          <a:lstStyle/>
          <a:p>
            <a:pPr algn="l"/>
            <a:r>
              <a:rPr sz="1000" b="1" i="0">
                <a:solidFill>
                  <a:srgbClr val="1E2761"/>
                </a:solidFill>
                <a:latin typeface="Calibri"/>
              </a:rPr>
              <a:t>art. 5 · 9 · 30 · 32</a:t>
            </a:r>
          </a:p>
        </p:txBody>
      </p:sp>
      <p:sp>
        <p:nvSpPr>
          <p:cNvPr id="21" name="TextBox 20"/>
          <p:cNvSpPr txBox="1"/>
          <p:nvPr/>
        </p:nvSpPr>
        <p:spPr>
          <a:xfrm>
            <a:off x="640080" y="5760720"/>
            <a:ext cx="3383279" cy="594360"/>
          </a:xfrm>
          <a:prstGeom prst="rect">
            <a:avLst/>
          </a:prstGeom>
          <a:noFill/>
        </p:spPr>
        <p:txBody>
          <a:bodyPr wrap="square" lIns="0" tIns="0" rIns="0" bIns="0" anchor="t">
            <a:spAutoFit/>
          </a:bodyPr>
          <a:lstStyle/>
          <a:p>
            <a:pPr algn="l"/>
            <a:r>
              <a:rPr sz="1000" b="0" i="0">
                <a:solidFill>
                  <a:srgbClr val="5A6C7D"/>
                </a:solidFill>
                <a:latin typeface="Calibri"/>
              </a:rPr>
              <a:t>Dataminimalisatie · bijzondere persoonsgegevens · verwerkingsregister · beveiliging</a:t>
            </a:r>
          </a:p>
        </p:txBody>
      </p:sp>
      <p:sp>
        <p:nvSpPr>
          <p:cNvPr id="22" name="Rounded Rectangle 21"/>
          <p:cNvSpPr/>
          <p:nvPr/>
        </p:nvSpPr>
        <p:spPr>
          <a:xfrm>
            <a:off x="4297679" y="5029200"/>
            <a:ext cx="3749039" cy="137160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80559" y="5166360"/>
            <a:ext cx="3383279" cy="365760"/>
          </a:xfrm>
          <a:prstGeom prst="rect">
            <a:avLst/>
          </a:prstGeom>
          <a:noFill/>
        </p:spPr>
        <p:txBody>
          <a:bodyPr wrap="square" lIns="0" tIns="0" rIns="0" bIns="0" anchor="t">
            <a:spAutoFit/>
          </a:bodyPr>
          <a:lstStyle/>
          <a:p>
            <a:pPr algn="l"/>
            <a:r>
              <a:rPr sz="1600" b="1" i="0">
                <a:solidFill>
                  <a:srgbClr val="028090"/>
                </a:solidFill>
                <a:latin typeface="Calibri"/>
              </a:rPr>
              <a:t>Wgbo</a:t>
            </a:r>
          </a:p>
        </p:txBody>
      </p:sp>
      <p:sp>
        <p:nvSpPr>
          <p:cNvPr id="24" name="TextBox 23"/>
          <p:cNvSpPr txBox="1"/>
          <p:nvPr/>
        </p:nvSpPr>
        <p:spPr>
          <a:xfrm>
            <a:off x="4480559" y="5486400"/>
            <a:ext cx="3383279" cy="274320"/>
          </a:xfrm>
          <a:prstGeom prst="rect">
            <a:avLst/>
          </a:prstGeom>
          <a:noFill/>
        </p:spPr>
        <p:txBody>
          <a:bodyPr wrap="square" lIns="0" tIns="0" rIns="0" bIns="0" anchor="t">
            <a:spAutoFit/>
          </a:bodyPr>
          <a:lstStyle/>
          <a:p>
            <a:pPr algn="l"/>
            <a:r>
              <a:rPr sz="1000" b="1" i="0">
                <a:solidFill>
                  <a:srgbClr val="1E2761"/>
                </a:solidFill>
                <a:latin typeface="Calibri"/>
              </a:rPr>
              <a:t>Bewaartermijn 20 jaar</a:t>
            </a:r>
          </a:p>
        </p:txBody>
      </p:sp>
      <p:sp>
        <p:nvSpPr>
          <p:cNvPr id="25" name="TextBox 24"/>
          <p:cNvSpPr txBox="1"/>
          <p:nvPr/>
        </p:nvSpPr>
        <p:spPr>
          <a:xfrm>
            <a:off x="4480559" y="5760720"/>
            <a:ext cx="3383279" cy="594360"/>
          </a:xfrm>
          <a:prstGeom prst="rect">
            <a:avLst/>
          </a:prstGeom>
          <a:noFill/>
        </p:spPr>
        <p:txBody>
          <a:bodyPr wrap="square" lIns="0" tIns="0" rIns="0" bIns="0" anchor="t">
            <a:spAutoFit/>
          </a:bodyPr>
          <a:lstStyle/>
          <a:p>
            <a:pPr algn="l"/>
            <a:r>
              <a:rPr sz="1000" b="0" i="0">
                <a:solidFill>
                  <a:srgbClr val="5A6C7D"/>
                </a:solidFill>
                <a:latin typeface="Calibri"/>
              </a:rPr>
              <a:t>Medisch / zorg-dossier · recht op rectificatie en inzage</a:t>
            </a:r>
          </a:p>
        </p:txBody>
      </p:sp>
      <p:sp>
        <p:nvSpPr>
          <p:cNvPr id="26" name="Rounded Rectangle 25"/>
          <p:cNvSpPr/>
          <p:nvPr/>
        </p:nvSpPr>
        <p:spPr>
          <a:xfrm>
            <a:off x="8138158" y="5029200"/>
            <a:ext cx="3749039" cy="137160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38" y="5166360"/>
            <a:ext cx="3383279" cy="365760"/>
          </a:xfrm>
          <a:prstGeom prst="rect">
            <a:avLst/>
          </a:prstGeom>
          <a:noFill/>
        </p:spPr>
        <p:txBody>
          <a:bodyPr wrap="square" lIns="0" tIns="0" rIns="0" bIns="0" anchor="t">
            <a:spAutoFit/>
          </a:bodyPr>
          <a:lstStyle/>
          <a:p>
            <a:pPr algn="l"/>
            <a:r>
              <a:rPr sz="1600" b="1" i="0">
                <a:solidFill>
                  <a:srgbClr val="028090"/>
                </a:solidFill>
                <a:latin typeface="Calibri"/>
              </a:rPr>
              <a:t>NEN 7510</a:t>
            </a:r>
          </a:p>
        </p:txBody>
      </p:sp>
      <p:sp>
        <p:nvSpPr>
          <p:cNvPr id="28" name="TextBox 27"/>
          <p:cNvSpPr txBox="1"/>
          <p:nvPr/>
        </p:nvSpPr>
        <p:spPr>
          <a:xfrm>
            <a:off x="8321038" y="5486400"/>
            <a:ext cx="3383279" cy="274320"/>
          </a:xfrm>
          <a:prstGeom prst="rect">
            <a:avLst/>
          </a:prstGeom>
          <a:noFill/>
        </p:spPr>
        <p:txBody>
          <a:bodyPr wrap="square" lIns="0" tIns="0" rIns="0" bIns="0" anchor="t">
            <a:spAutoFit/>
          </a:bodyPr>
          <a:lstStyle/>
          <a:p>
            <a:pPr algn="l"/>
            <a:r>
              <a:rPr sz="1000" b="1" i="0">
                <a:solidFill>
                  <a:srgbClr val="1E2761"/>
                </a:solidFill>
                <a:latin typeface="Calibri"/>
              </a:rPr>
              <a:t>Informatiebeveiliging zorg</a:t>
            </a:r>
          </a:p>
        </p:txBody>
      </p:sp>
      <p:sp>
        <p:nvSpPr>
          <p:cNvPr id="29" name="TextBox 28"/>
          <p:cNvSpPr txBox="1"/>
          <p:nvPr/>
        </p:nvSpPr>
        <p:spPr>
          <a:xfrm>
            <a:off x="8321038" y="5760720"/>
            <a:ext cx="3383279" cy="594360"/>
          </a:xfrm>
          <a:prstGeom prst="rect">
            <a:avLst/>
          </a:prstGeom>
          <a:noFill/>
        </p:spPr>
        <p:txBody>
          <a:bodyPr wrap="square" lIns="0" tIns="0" rIns="0" bIns="0" anchor="t">
            <a:spAutoFit/>
          </a:bodyPr>
          <a:lstStyle/>
          <a:p>
            <a:pPr algn="l"/>
            <a:r>
              <a:rPr sz="1000" b="0" i="0">
                <a:solidFill>
                  <a:srgbClr val="5A6C7D"/>
                </a:solidFill>
                <a:latin typeface="Calibri"/>
              </a:rPr>
              <a:t>Leidraad voor authenticatie, autorisatie, audit-trail en versleuteling</a:t>
            </a:r>
          </a:p>
        </p:txBody>
      </p:sp>
      <p:sp>
        <p:nvSpPr>
          <p:cNvPr id="30" name="TextBox 29"/>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1" name="TextBox 30"/>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4 /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30 CRITERIA · 6 CATEGORIEËN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Beoordelingskader: B1 · K1 · K2 · W3 · W5</a:t>
            </a:r>
          </a:p>
        </p:txBody>
      </p:sp>
      <p:sp>
        <p:nvSpPr>
          <p:cNvPr id="6" name="Rounded Rectangle 5"/>
          <p:cNvSpPr/>
          <p:nvPr/>
        </p:nvSpPr>
        <p:spPr>
          <a:xfrm>
            <a:off x="457200" y="1691640"/>
            <a:ext cx="3749039" cy="2240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874520"/>
            <a:ext cx="82296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892808"/>
            <a:ext cx="822960" cy="411480"/>
          </a:xfrm>
          <a:prstGeom prst="rect">
            <a:avLst/>
          </a:prstGeom>
          <a:noFill/>
        </p:spPr>
        <p:txBody>
          <a:bodyPr wrap="square" lIns="0" tIns="0" rIns="0" bIns="0" anchor="t">
            <a:spAutoFit/>
          </a:bodyPr>
          <a:lstStyle/>
          <a:p>
            <a:pPr algn="ctr"/>
            <a:r>
              <a:rPr sz="1400" b="1" i="0">
                <a:solidFill>
                  <a:srgbClr val="FFFFFF"/>
                </a:solidFill>
                <a:latin typeface="Calibri"/>
              </a:rPr>
              <a:t>B1</a:t>
            </a:r>
          </a:p>
        </p:txBody>
      </p:sp>
      <p:sp>
        <p:nvSpPr>
          <p:cNvPr id="9" name="TextBox 8"/>
          <p:cNvSpPr txBox="1"/>
          <p:nvPr/>
        </p:nvSpPr>
        <p:spPr>
          <a:xfrm>
            <a:off x="1600200" y="1920240"/>
            <a:ext cx="2468880" cy="365760"/>
          </a:xfrm>
          <a:prstGeom prst="rect">
            <a:avLst/>
          </a:prstGeom>
          <a:noFill/>
        </p:spPr>
        <p:txBody>
          <a:bodyPr wrap="square" lIns="0" tIns="0" rIns="0" bIns="0" anchor="t">
            <a:spAutoFit/>
          </a:bodyPr>
          <a:lstStyle/>
          <a:p>
            <a:pPr algn="l"/>
            <a:r>
              <a:rPr sz="1100" b="1" i="0">
                <a:solidFill>
                  <a:srgbClr val="028090"/>
                </a:solidFill>
                <a:latin typeface="Calibri"/>
              </a:rPr>
              <a:t>ANALYSEERT</a:t>
            </a:r>
          </a:p>
        </p:txBody>
      </p:sp>
      <p:sp>
        <p:nvSpPr>
          <p:cNvPr id="10" name="TextBox 9"/>
          <p:cNvSpPr txBox="1"/>
          <p:nvPr/>
        </p:nvSpPr>
        <p:spPr>
          <a:xfrm>
            <a:off x="685800" y="2377440"/>
            <a:ext cx="3291839" cy="457200"/>
          </a:xfrm>
          <a:prstGeom prst="rect">
            <a:avLst/>
          </a:prstGeom>
          <a:noFill/>
        </p:spPr>
        <p:txBody>
          <a:bodyPr wrap="square" lIns="0" tIns="0" rIns="0" bIns="0" anchor="t">
            <a:spAutoFit/>
          </a:bodyPr>
          <a:lstStyle/>
          <a:p>
            <a:pPr algn="l"/>
            <a:r>
              <a:rPr sz="1500" b="1" i="0">
                <a:solidFill>
                  <a:srgbClr val="1A2333"/>
                </a:solidFill>
                <a:latin typeface="Calibri"/>
              </a:rPr>
              <a:t>Eisen, ontwerp &amp; planning</a:t>
            </a:r>
          </a:p>
        </p:txBody>
      </p:sp>
      <p:sp>
        <p:nvSpPr>
          <p:cNvPr id="11" name="TextBox 10"/>
          <p:cNvSpPr txBox="1"/>
          <p:nvPr/>
        </p:nvSpPr>
        <p:spPr>
          <a:xfrm>
            <a:off x="685800" y="2834640"/>
            <a:ext cx="3291839" cy="274320"/>
          </a:xfrm>
          <a:prstGeom prst="rect">
            <a:avLst/>
          </a:prstGeom>
          <a:noFill/>
        </p:spPr>
        <p:txBody>
          <a:bodyPr wrap="square" lIns="0" tIns="0" rIns="0" bIns="0" anchor="t">
            <a:spAutoFit/>
          </a:bodyPr>
          <a:lstStyle/>
          <a:p>
            <a:pPr algn="l"/>
            <a:r>
              <a:rPr sz="1100" b="0" i="1">
                <a:solidFill>
                  <a:srgbClr val="1E2761"/>
                </a:solidFill>
                <a:latin typeface="Calibri"/>
              </a:rPr>
              <a:t>12 criteria</a:t>
            </a:r>
          </a:p>
        </p:txBody>
      </p:sp>
      <p:sp>
        <p:nvSpPr>
          <p:cNvPr id="12" name="TextBox 11"/>
          <p:cNvSpPr txBox="1"/>
          <p:nvPr/>
        </p:nvSpPr>
        <p:spPr>
          <a:xfrm>
            <a:off x="685800" y="3154680"/>
            <a:ext cx="3291839" cy="731520"/>
          </a:xfrm>
          <a:prstGeom prst="rect">
            <a:avLst/>
          </a:prstGeom>
          <a:noFill/>
        </p:spPr>
        <p:txBody>
          <a:bodyPr wrap="square" lIns="0" tIns="0" rIns="0" bIns="0" anchor="t">
            <a:spAutoFit/>
          </a:bodyPr>
          <a:lstStyle/>
          <a:p>
            <a:pPr algn="l"/>
            <a:r>
              <a:rPr sz="1000" b="0" i="0">
                <a:solidFill>
                  <a:srgbClr val="5A6C7D"/>
                </a:solidFill>
                <a:latin typeface="Calibri"/>
              </a:rPr>
              <a:t>eisen-wensen · user-stories · ERD · use-cases · wireframes</a:t>
            </a:r>
          </a:p>
        </p:txBody>
      </p:sp>
      <p:sp>
        <p:nvSpPr>
          <p:cNvPr id="13" name="Rounded Rectangle 12"/>
          <p:cNvSpPr/>
          <p:nvPr/>
        </p:nvSpPr>
        <p:spPr>
          <a:xfrm>
            <a:off x="4343399" y="1691640"/>
            <a:ext cx="3749039" cy="2240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1999" y="1874520"/>
            <a:ext cx="82296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1999" y="1892808"/>
            <a:ext cx="822960" cy="411480"/>
          </a:xfrm>
          <a:prstGeom prst="rect">
            <a:avLst/>
          </a:prstGeom>
          <a:noFill/>
        </p:spPr>
        <p:txBody>
          <a:bodyPr wrap="square" lIns="0" tIns="0" rIns="0" bIns="0" anchor="t">
            <a:spAutoFit/>
          </a:bodyPr>
          <a:lstStyle/>
          <a:p>
            <a:pPr algn="ctr"/>
            <a:r>
              <a:rPr sz="1400" b="1" i="0">
                <a:solidFill>
                  <a:srgbClr val="FFFFFF"/>
                </a:solidFill>
                <a:latin typeface="Calibri"/>
              </a:rPr>
              <a:t>K1</a:t>
            </a:r>
          </a:p>
        </p:txBody>
      </p:sp>
      <p:sp>
        <p:nvSpPr>
          <p:cNvPr id="16" name="TextBox 15"/>
          <p:cNvSpPr txBox="1"/>
          <p:nvPr/>
        </p:nvSpPr>
        <p:spPr>
          <a:xfrm>
            <a:off x="5486399" y="1920240"/>
            <a:ext cx="2468880" cy="365760"/>
          </a:xfrm>
          <a:prstGeom prst="rect">
            <a:avLst/>
          </a:prstGeom>
          <a:noFill/>
        </p:spPr>
        <p:txBody>
          <a:bodyPr wrap="square" lIns="0" tIns="0" rIns="0" bIns="0" anchor="t">
            <a:spAutoFit/>
          </a:bodyPr>
          <a:lstStyle/>
          <a:p>
            <a:pPr algn="l"/>
            <a:r>
              <a:rPr sz="1100" b="1" i="0">
                <a:solidFill>
                  <a:srgbClr val="028090"/>
                </a:solidFill>
                <a:latin typeface="Calibri"/>
              </a:rPr>
              <a:t>REALISEERT</a:t>
            </a:r>
          </a:p>
        </p:txBody>
      </p:sp>
      <p:sp>
        <p:nvSpPr>
          <p:cNvPr id="17" name="TextBox 16"/>
          <p:cNvSpPr txBox="1"/>
          <p:nvPr/>
        </p:nvSpPr>
        <p:spPr>
          <a:xfrm>
            <a:off x="4571999" y="2377440"/>
            <a:ext cx="3291839" cy="457200"/>
          </a:xfrm>
          <a:prstGeom prst="rect">
            <a:avLst/>
          </a:prstGeom>
          <a:noFill/>
        </p:spPr>
        <p:txBody>
          <a:bodyPr wrap="square" lIns="0" tIns="0" rIns="0" bIns="0" anchor="t">
            <a:spAutoFit/>
          </a:bodyPr>
          <a:lstStyle/>
          <a:p>
            <a:pPr algn="l"/>
            <a:r>
              <a:rPr sz="1500" b="1" i="0">
                <a:solidFill>
                  <a:srgbClr val="1A2333"/>
                </a:solidFill>
                <a:latin typeface="Calibri"/>
              </a:rPr>
              <a:t>Functionaliteit + bewijslast</a:t>
            </a:r>
          </a:p>
        </p:txBody>
      </p:sp>
      <p:sp>
        <p:nvSpPr>
          <p:cNvPr id="18" name="TextBox 17"/>
          <p:cNvSpPr txBox="1"/>
          <p:nvPr/>
        </p:nvSpPr>
        <p:spPr>
          <a:xfrm>
            <a:off x="4571999" y="2834640"/>
            <a:ext cx="3291839" cy="274320"/>
          </a:xfrm>
          <a:prstGeom prst="rect">
            <a:avLst/>
          </a:prstGeom>
          <a:noFill/>
        </p:spPr>
        <p:txBody>
          <a:bodyPr wrap="square" lIns="0" tIns="0" rIns="0" bIns="0" anchor="t">
            <a:spAutoFit/>
          </a:bodyPr>
          <a:lstStyle/>
          <a:p>
            <a:pPr algn="l"/>
            <a:r>
              <a:rPr sz="1100" b="0" i="1">
                <a:solidFill>
                  <a:srgbClr val="1E2761"/>
                </a:solidFill>
                <a:latin typeface="Calibri"/>
              </a:rPr>
              <a:t>3 criteria</a:t>
            </a:r>
          </a:p>
        </p:txBody>
      </p:sp>
      <p:sp>
        <p:nvSpPr>
          <p:cNvPr id="19" name="TextBox 18"/>
          <p:cNvSpPr txBox="1"/>
          <p:nvPr/>
        </p:nvSpPr>
        <p:spPr>
          <a:xfrm>
            <a:off x="4571999" y="3154680"/>
            <a:ext cx="3291839" cy="731520"/>
          </a:xfrm>
          <a:prstGeom prst="rect">
            <a:avLst/>
          </a:prstGeom>
          <a:noFill/>
        </p:spPr>
        <p:txBody>
          <a:bodyPr wrap="square" lIns="0" tIns="0" rIns="0" bIns="0" anchor="t">
            <a:spAutoFit/>
          </a:bodyPr>
          <a:lstStyle/>
          <a:p>
            <a:pPr algn="l"/>
            <a:r>
              <a:rPr sz="1000" b="0" i="0">
                <a:solidFill>
                  <a:srgbClr val="5A6C7D"/>
                </a:solidFill>
                <a:latin typeface="Calibri"/>
              </a:rPr>
              <a:t>16 user stories · 18 PRs · 257 commits · 4 sprint-tags</a:t>
            </a:r>
          </a:p>
        </p:txBody>
      </p:sp>
      <p:sp>
        <p:nvSpPr>
          <p:cNvPr id="20" name="Rounded Rectangle 19"/>
          <p:cNvSpPr/>
          <p:nvPr/>
        </p:nvSpPr>
        <p:spPr>
          <a:xfrm>
            <a:off x="8229598" y="1691640"/>
            <a:ext cx="3749039" cy="2240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458198" y="1874520"/>
            <a:ext cx="82296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58198" y="1892808"/>
            <a:ext cx="822960" cy="411480"/>
          </a:xfrm>
          <a:prstGeom prst="rect">
            <a:avLst/>
          </a:prstGeom>
          <a:noFill/>
        </p:spPr>
        <p:txBody>
          <a:bodyPr wrap="square" lIns="0" tIns="0" rIns="0" bIns="0" anchor="t">
            <a:spAutoFit/>
          </a:bodyPr>
          <a:lstStyle/>
          <a:p>
            <a:pPr algn="ctr"/>
            <a:r>
              <a:rPr sz="1400" b="1" i="0">
                <a:solidFill>
                  <a:srgbClr val="FFFFFF"/>
                </a:solidFill>
                <a:latin typeface="Calibri"/>
              </a:rPr>
              <a:t>K1</a:t>
            </a:r>
          </a:p>
        </p:txBody>
      </p:sp>
      <p:sp>
        <p:nvSpPr>
          <p:cNvPr id="23" name="TextBox 22"/>
          <p:cNvSpPr txBox="1"/>
          <p:nvPr/>
        </p:nvSpPr>
        <p:spPr>
          <a:xfrm>
            <a:off x="9372598" y="1920240"/>
            <a:ext cx="2468880" cy="365760"/>
          </a:xfrm>
          <a:prstGeom prst="rect">
            <a:avLst/>
          </a:prstGeom>
          <a:noFill/>
        </p:spPr>
        <p:txBody>
          <a:bodyPr wrap="square" lIns="0" tIns="0" rIns="0" bIns="0" anchor="t">
            <a:spAutoFit/>
          </a:bodyPr>
          <a:lstStyle/>
          <a:p>
            <a:pPr algn="l"/>
            <a:r>
              <a:rPr sz="1100" b="1" i="0">
                <a:solidFill>
                  <a:srgbClr val="028090"/>
                </a:solidFill>
                <a:latin typeface="Calibri"/>
              </a:rPr>
              <a:t>REALISEERT</a:t>
            </a:r>
          </a:p>
        </p:txBody>
      </p:sp>
      <p:sp>
        <p:nvSpPr>
          <p:cNvPr id="24" name="TextBox 23"/>
          <p:cNvSpPr txBox="1"/>
          <p:nvPr/>
        </p:nvSpPr>
        <p:spPr>
          <a:xfrm>
            <a:off x="8458198" y="2377440"/>
            <a:ext cx="3291839" cy="457200"/>
          </a:xfrm>
          <a:prstGeom prst="rect">
            <a:avLst/>
          </a:prstGeom>
          <a:noFill/>
        </p:spPr>
        <p:txBody>
          <a:bodyPr wrap="square" lIns="0" tIns="0" rIns="0" bIns="0" anchor="t">
            <a:spAutoFit/>
          </a:bodyPr>
          <a:lstStyle/>
          <a:p>
            <a:pPr algn="l"/>
            <a:r>
              <a:rPr sz="1500" b="1" i="0">
                <a:solidFill>
                  <a:srgbClr val="1A2333"/>
                </a:solidFill>
                <a:latin typeface="Calibri"/>
              </a:rPr>
              <a:t>Testen</a:t>
            </a:r>
          </a:p>
        </p:txBody>
      </p:sp>
      <p:sp>
        <p:nvSpPr>
          <p:cNvPr id="25" name="TextBox 24"/>
          <p:cNvSpPr txBox="1"/>
          <p:nvPr/>
        </p:nvSpPr>
        <p:spPr>
          <a:xfrm>
            <a:off x="8458198" y="2834640"/>
            <a:ext cx="3291839" cy="274320"/>
          </a:xfrm>
          <a:prstGeom prst="rect">
            <a:avLst/>
          </a:prstGeom>
          <a:noFill/>
        </p:spPr>
        <p:txBody>
          <a:bodyPr wrap="square" lIns="0" tIns="0" rIns="0" bIns="0" anchor="t">
            <a:spAutoFit/>
          </a:bodyPr>
          <a:lstStyle/>
          <a:p>
            <a:pPr algn="l"/>
            <a:r>
              <a:rPr sz="1100" b="0" i="1">
                <a:solidFill>
                  <a:srgbClr val="1E2761"/>
                </a:solidFill>
                <a:latin typeface="Calibri"/>
              </a:rPr>
              <a:t>4 criteria</a:t>
            </a:r>
          </a:p>
        </p:txBody>
      </p:sp>
      <p:sp>
        <p:nvSpPr>
          <p:cNvPr id="26" name="TextBox 25"/>
          <p:cNvSpPr txBox="1"/>
          <p:nvPr/>
        </p:nvSpPr>
        <p:spPr>
          <a:xfrm>
            <a:off x="8458198" y="3154680"/>
            <a:ext cx="3291839" cy="731520"/>
          </a:xfrm>
          <a:prstGeom prst="rect">
            <a:avLst/>
          </a:prstGeom>
          <a:noFill/>
        </p:spPr>
        <p:txBody>
          <a:bodyPr wrap="square" lIns="0" tIns="0" rIns="0" bIns="0" anchor="t">
            <a:spAutoFit/>
          </a:bodyPr>
          <a:lstStyle/>
          <a:p>
            <a:pPr algn="l"/>
            <a:r>
              <a:rPr sz="1000" b="0" i="0">
                <a:solidFill>
                  <a:srgbClr val="5A6C7D"/>
                </a:solidFill>
                <a:latin typeface="Calibri"/>
              </a:rPr>
              <a:t>360 Pest-tests · 953 asserts · per-US testplannen</a:t>
            </a:r>
          </a:p>
        </p:txBody>
      </p:sp>
      <p:sp>
        <p:nvSpPr>
          <p:cNvPr id="27" name="Rounded Rectangle 26"/>
          <p:cNvSpPr/>
          <p:nvPr/>
        </p:nvSpPr>
        <p:spPr>
          <a:xfrm>
            <a:off x="457200" y="4096512"/>
            <a:ext cx="3749039" cy="2240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85800" y="4279392"/>
            <a:ext cx="82296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4297680"/>
            <a:ext cx="822960" cy="411480"/>
          </a:xfrm>
          <a:prstGeom prst="rect">
            <a:avLst/>
          </a:prstGeom>
          <a:noFill/>
        </p:spPr>
        <p:txBody>
          <a:bodyPr wrap="square" lIns="0" tIns="0" rIns="0" bIns="0" anchor="t">
            <a:spAutoFit/>
          </a:bodyPr>
          <a:lstStyle/>
          <a:p>
            <a:pPr algn="ctr"/>
            <a:r>
              <a:rPr sz="1400" b="1" i="0">
                <a:solidFill>
                  <a:srgbClr val="FFFFFF"/>
                </a:solidFill>
                <a:latin typeface="Calibri"/>
              </a:rPr>
              <a:t>K2</a:t>
            </a:r>
          </a:p>
        </p:txBody>
      </p:sp>
      <p:sp>
        <p:nvSpPr>
          <p:cNvPr id="30" name="TextBox 29"/>
          <p:cNvSpPr txBox="1"/>
          <p:nvPr/>
        </p:nvSpPr>
        <p:spPr>
          <a:xfrm>
            <a:off x="1600200" y="4325112"/>
            <a:ext cx="2468880" cy="365760"/>
          </a:xfrm>
          <a:prstGeom prst="rect">
            <a:avLst/>
          </a:prstGeom>
          <a:noFill/>
        </p:spPr>
        <p:txBody>
          <a:bodyPr wrap="square" lIns="0" tIns="0" rIns="0" bIns="0" anchor="t">
            <a:spAutoFit/>
          </a:bodyPr>
          <a:lstStyle/>
          <a:p>
            <a:pPr algn="l"/>
            <a:r>
              <a:rPr sz="1100" b="1" i="0">
                <a:solidFill>
                  <a:srgbClr val="028090"/>
                </a:solidFill>
                <a:latin typeface="Calibri"/>
              </a:rPr>
              <a:t>ONDERHOUDT</a:t>
            </a:r>
          </a:p>
        </p:txBody>
      </p:sp>
      <p:sp>
        <p:nvSpPr>
          <p:cNvPr id="31" name="TextBox 30"/>
          <p:cNvSpPr txBox="1"/>
          <p:nvPr/>
        </p:nvSpPr>
        <p:spPr>
          <a:xfrm>
            <a:off x="685800" y="4782312"/>
            <a:ext cx="3291839" cy="457200"/>
          </a:xfrm>
          <a:prstGeom prst="rect">
            <a:avLst/>
          </a:prstGeom>
          <a:noFill/>
        </p:spPr>
        <p:txBody>
          <a:bodyPr wrap="square" lIns="0" tIns="0" rIns="0" bIns="0" anchor="t">
            <a:spAutoFit/>
          </a:bodyPr>
          <a:lstStyle/>
          <a:p>
            <a:pPr algn="l"/>
            <a:r>
              <a:rPr sz="1500" b="1" i="0">
                <a:solidFill>
                  <a:srgbClr val="1A2333"/>
                </a:solidFill>
                <a:latin typeface="Calibri"/>
              </a:rPr>
              <a:t>Overleg met PO</a:t>
            </a:r>
          </a:p>
        </p:txBody>
      </p:sp>
      <p:sp>
        <p:nvSpPr>
          <p:cNvPr id="32" name="TextBox 31"/>
          <p:cNvSpPr txBox="1"/>
          <p:nvPr/>
        </p:nvSpPr>
        <p:spPr>
          <a:xfrm>
            <a:off x="685800" y="5239512"/>
            <a:ext cx="3291839" cy="274320"/>
          </a:xfrm>
          <a:prstGeom prst="rect">
            <a:avLst/>
          </a:prstGeom>
          <a:noFill/>
        </p:spPr>
        <p:txBody>
          <a:bodyPr wrap="square" lIns="0" tIns="0" rIns="0" bIns="0" anchor="t">
            <a:spAutoFit/>
          </a:bodyPr>
          <a:lstStyle/>
          <a:p>
            <a:pPr algn="l"/>
            <a:r>
              <a:rPr sz="1100" b="0" i="1">
                <a:solidFill>
                  <a:srgbClr val="1E2761"/>
                </a:solidFill>
                <a:latin typeface="Calibri"/>
              </a:rPr>
              <a:t>3 criteria</a:t>
            </a:r>
          </a:p>
        </p:txBody>
      </p:sp>
      <p:sp>
        <p:nvSpPr>
          <p:cNvPr id="33" name="TextBox 32"/>
          <p:cNvSpPr txBox="1"/>
          <p:nvPr/>
        </p:nvSpPr>
        <p:spPr>
          <a:xfrm>
            <a:off x="685800" y="5559552"/>
            <a:ext cx="3291839" cy="731520"/>
          </a:xfrm>
          <a:prstGeom prst="rect">
            <a:avLst/>
          </a:prstGeom>
          <a:noFill/>
        </p:spPr>
        <p:txBody>
          <a:bodyPr wrap="square" lIns="0" tIns="0" rIns="0" bIns="0" anchor="t">
            <a:spAutoFit/>
          </a:bodyPr>
          <a:lstStyle/>
          <a:p>
            <a:pPr algn="l"/>
            <a:r>
              <a:rPr sz="1000" b="0" i="0">
                <a:solidFill>
                  <a:srgbClr val="5A6C7D"/>
                </a:solidFill>
                <a:latin typeface="Calibri"/>
              </a:rPr>
              <a:t>Trello-activiteitenlog · sprint-reviews · PO-comments</a:t>
            </a:r>
          </a:p>
        </p:txBody>
      </p:sp>
      <p:sp>
        <p:nvSpPr>
          <p:cNvPr id="34" name="Rounded Rectangle 33"/>
          <p:cNvSpPr/>
          <p:nvPr/>
        </p:nvSpPr>
        <p:spPr>
          <a:xfrm>
            <a:off x="4343399" y="4096512"/>
            <a:ext cx="3749039" cy="2240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571999" y="4279392"/>
            <a:ext cx="82296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1999" y="4297680"/>
            <a:ext cx="822960" cy="411480"/>
          </a:xfrm>
          <a:prstGeom prst="rect">
            <a:avLst/>
          </a:prstGeom>
          <a:noFill/>
        </p:spPr>
        <p:txBody>
          <a:bodyPr wrap="square" lIns="0" tIns="0" rIns="0" bIns="0" anchor="t">
            <a:spAutoFit/>
          </a:bodyPr>
          <a:lstStyle/>
          <a:p>
            <a:pPr algn="ctr"/>
            <a:r>
              <a:rPr sz="1400" b="1" i="0">
                <a:solidFill>
                  <a:srgbClr val="FFFFFF"/>
                </a:solidFill>
                <a:latin typeface="Calibri"/>
              </a:rPr>
              <a:t>W5</a:t>
            </a:r>
          </a:p>
        </p:txBody>
      </p:sp>
      <p:sp>
        <p:nvSpPr>
          <p:cNvPr id="37" name="TextBox 36"/>
          <p:cNvSpPr txBox="1"/>
          <p:nvPr/>
        </p:nvSpPr>
        <p:spPr>
          <a:xfrm>
            <a:off x="5486399" y="4325112"/>
            <a:ext cx="2468880" cy="365760"/>
          </a:xfrm>
          <a:prstGeom prst="rect">
            <a:avLst/>
          </a:prstGeom>
          <a:noFill/>
        </p:spPr>
        <p:txBody>
          <a:bodyPr wrap="square" lIns="0" tIns="0" rIns="0" bIns="0" anchor="t">
            <a:spAutoFit/>
          </a:bodyPr>
          <a:lstStyle/>
          <a:p>
            <a:pPr algn="l"/>
            <a:r>
              <a:rPr sz="1100" b="1" i="0">
                <a:solidFill>
                  <a:srgbClr val="028090"/>
                </a:solidFill>
                <a:latin typeface="Calibri"/>
              </a:rPr>
              <a:t>VERBETERT</a:t>
            </a:r>
          </a:p>
        </p:txBody>
      </p:sp>
      <p:sp>
        <p:nvSpPr>
          <p:cNvPr id="38" name="TextBox 37"/>
          <p:cNvSpPr txBox="1"/>
          <p:nvPr/>
        </p:nvSpPr>
        <p:spPr>
          <a:xfrm>
            <a:off x="4571999" y="4782312"/>
            <a:ext cx="3291839" cy="457200"/>
          </a:xfrm>
          <a:prstGeom prst="rect">
            <a:avLst/>
          </a:prstGeom>
          <a:noFill/>
        </p:spPr>
        <p:txBody>
          <a:bodyPr wrap="square" lIns="0" tIns="0" rIns="0" bIns="0" anchor="t">
            <a:spAutoFit/>
          </a:bodyPr>
          <a:lstStyle/>
          <a:p>
            <a:pPr algn="l"/>
            <a:r>
              <a:rPr sz="1500" b="1" i="0">
                <a:solidFill>
                  <a:srgbClr val="1A2333"/>
                </a:solidFill>
                <a:latin typeface="Calibri"/>
              </a:rPr>
              <a:t>Verbetervoorstellen</a:t>
            </a:r>
          </a:p>
        </p:txBody>
      </p:sp>
      <p:sp>
        <p:nvSpPr>
          <p:cNvPr id="39" name="TextBox 38"/>
          <p:cNvSpPr txBox="1"/>
          <p:nvPr/>
        </p:nvSpPr>
        <p:spPr>
          <a:xfrm>
            <a:off x="4571999" y="5239512"/>
            <a:ext cx="3291839" cy="274320"/>
          </a:xfrm>
          <a:prstGeom prst="rect">
            <a:avLst/>
          </a:prstGeom>
          <a:noFill/>
        </p:spPr>
        <p:txBody>
          <a:bodyPr wrap="square" lIns="0" tIns="0" rIns="0" bIns="0" anchor="t">
            <a:spAutoFit/>
          </a:bodyPr>
          <a:lstStyle/>
          <a:p>
            <a:pPr algn="l"/>
            <a:r>
              <a:rPr sz="1100" b="0" i="1">
                <a:solidFill>
                  <a:srgbClr val="1E2761"/>
                </a:solidFill>
                <a:latin typeface="Calibri"/>
              </a:rPr>
              <a:t>5 criteria</a:t>
            </a:r>
          </a:p>
        </p:txBody>
      </p:sp>
      <p:sp>
        <p:nvSpPr>
          <p:cNvPr id="40" name="TextBox 39"/>
          <p:cNvSpPr txBox="1"/>
          <p:nvPr/>
        </p:nvSpPr>
        <p:spPr>
          <a:xfrm>
            <a:off x="4571999" y="5559552"/>
            <a:ext cx="3291839" cy="731520"/>
          </a:xfrm>
          <a:prstGeom prst="rect">
            <a:avLst/>
          </a:prstGeom>
          <a:noFill/>
        </p:spPr>
        <p:txBody>
          <a:bodyPr wrap="square" lIns="0" tIns="0" rIns="0" bIns="0" anchor="t">
            <a:spAutoFit/>
          </a:bodyPr>
          <a:lstStyle/>
          <a:p>
            <a:pPr algn="l"/>
            <a:r>
              <a:rPr sz="1000" b="0" i="0">
                <a:solidFill>
                  <a:srgbClr val="5A6C7D"/>
                </a:solidFill>
                <a:latin typeface="Calibri"/>
              </a:rPr>
              <a:t>VV-1, VV-2, VV-3 · US-17 (Resend) doorgevoerd</a:t>
            </a:r>
          </a:p>
        </p:txBody>
      </p:sp>
      <p:sp>
        <p:nvSpPr>
          <p:cNvPr id="41" name="Rounded Rectangle 40"/>
          <p:cNvSpPr/>
          <p:nvPr/>
        </p:nvSpPr>
        <p:spPr>
          <a:xfrm>
            <a:off x="8229598" y="4096512"/>
            <a:ext cx="3749039" cy="2240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458198" y="4279392"/>
            <a:ext cx="82296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58198" y="4297680"/>
            <a:ext cx="822960" cy="411480"/>
          </a:xfrm>
          <a:prstGeom prst="rect">
            <a:avLst/>
          </a:prstGeom>
          <a:noFill/>
        </p:spPr>
        <p:txBody>
          <a:bodyPr wrap="square" lIns="0" tIns="0" rIns="0" bIns="0" anchor="t">
            <a:spAutoFit/>
          </a:bodyPr>
          <a:lstStyle/>
          <a:p>
            <a:pPr algn="ctr"/>
            <a:r>
              <a:rPr sz="1400" b="1" i="0">
                <a:solidFill>
                  <a:srgbClr val="FFFFFF"/>
                </a:solidFill>
                <a:latin typeface="Calibri"/>
              </a:rPr>
              <a:t>W3</a:t>
            </a:r>
          </a:p>
        </p:txBody>
      </p:sp>
      <p:sp>
        <p:nvSpPr>
          <p:cNvPr id="44" name="TextBox 43"/>
          <p:cNvSpPr txBox="1"/>
          <p:nvPr/>
        </p:nvSpPr>
        <p:spPr>
          <a:xfrm>
            <a:off x="9372598" y="4325112"/>
            <a:ext cx="2468880" cy="365760"/>
          </a:xfrm>
          <a:prstGeom prst="rect">
            <a:avLst/>
          </a:prstGeom>
          <a:noFill/>
        </p:spPr>
        <p:txBody>
          <a:bodyPr wrap="square" lIns="0" tIns="0" rIns="0" bIns="0" anchor="t">
            <a:spAutoFit/>
          </a:bodyPr>
          <a:lstStyle/>
          <a:p>
            <a:pPr algn="l"/>
            <a:r>
              <a:rPr sz="1100" b="1" i="0">
                <a:solidFill>
                  <a:srgbClr val="028090"/>
                </a:solidFill>
                <a:latin typeface="Calibri"/>
              </a:rPr>
              <a:t>REFLECTEERT</a:t>
            </a:r>
          </a:p>
        </p:txBody>
      </p:sp>
      <p:sp>
        <p:nvSpPr>
          <p:cNvPr id="45" name="TextBox 44"/>
          <p:cNvSpPr txBox="1"/>
          <p:nvPr/>
        </p:nvSpPr>
        <p:spPr>
          <a:xfrm>
            <a:off x="8458198" y="4782312"/>
            <a:ext cx="3291839" cy="457200"/>
          </a:xfrm>
          <a:prstGeom prst="rect">
            <a:avLst/>
          </a:prstGeom>
          <a:noFill/>
        </p:spPr>
        <p:txBody>
          <a:bodyPr wrap="square" lIns="0" tIns="0" rIns="0" bIns="0" anchor="t">
            <a:spAutoFit/>
          </a:bodyPr>
          <a:lstStyle/>
          <a:p>
            <a:pPr algn="l"/>
            <a:r>
              <a:rPr sz="1500" b="1" i="0">
                <a:solidFill>
                  <a:srgbClr val="1A2333"/>
                </a:solidFill>
                <a:latin typeface="Calibri"/>
              </a:rPr>
              <a:t>Reflectie per sprint</a:t>
            </a:r>
          </a:p>
        </p:txBody>
      </p:sp>
      <p:sp>
        <p:nvSpPr>
          <p:cNvPr id="46" name="TextBox 45"/>
          <p:cNvSpPr txBox="1"/>
          <p:nvPr/>
        </p:nvSpPr>
        <p:spPr>
          <a:xfrm>
            <a:off x="8458198" y="5239512"/>
            <a:ext cx="3291839" cy="274320"/>
          </a:xfrm>
          <a:prstGeom prst="rect">
            <a:avLst/>
          </a:prstGeom>
          <a:noFill/>
        </p:spPr>
        <p:txBody>
          <a:bodyPr wrap="square" lIns="0" tIns="0" rIns="0" bIns="0" anchor="t">
            <a:spAutoFit/>
          </a:bodyPr>
          <a:lstStyle/>
          <a:p>
            <a:pPr algn="l"/>
            <a:r>
              <a:rPr sz="1100" b="0" i="1">
                <a:solidFill>
                  <a:srgbClr val="1E2761"/>
                </a:solidFill>
                <a:latin typeface="Calibri"/>
              </a:rPr>
              <a:t>3 criteria</a:t>
            </a:r>
          </a:p>
        </p:txBody>
      </p:sp>
      <p:sp>
        <p:nvSpPr>
          <p:cNvPr id="47" name="TextBox 46"/>
          <p:cNvSpPr txBox="1"/>
          <p:nvPr/>
        </p:nvSpPr>
        <p:spPr>
          <a:xfrm>
            <a:off x="8458198" y="5559552"/>
            <a:ext cx="3291839" cy="731520"/>
          </a:xfrm>
          <a:prstGeom prst="rect">
            <a:avLst/>
          </a:prstGeom>
          <a:noFill/>
        </p:spPr>
        <p:txBody>
          <a:bodyPr wrap="square" lIns="0" tIns="0" rIns="0" bIns="0" anchor="t">
            <a:spAutoFit/>
          </a:bodyPr>
          <a:lstStyle/>
          <a:p>
            <a:pPr algn="l"/>
            <a:r>
              <a:rPr sz="1000" b="0" i="0">
                <a:solidFill>
                  <a:srgbClr val="5A6C7D"/>
                </a:solidFill>
                <a:latin typeface="Calibri"/>
              </a:rPr>
              <a:t>Per sprint +/− /→ op proces · PO · prestaties</a:t>
            </a:r>
          </a:p>
        </p:txBody>
      </p:sp>
      <p:sp>
        <p:nvSpPr>
          <p:cNvPr id="48" name="TextBox 47"/>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49" name="TextBox 48"/>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5 / 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B1 · ANALYSEREN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Eisen &amp; wensen — MoSCoW</a:t>
            </a:r>
          </a:p>
        </p:txBody>
      </p:sp>
      <p:sp>
        <p:nvSpPr>
          <p:cNvPr id="6" name="Rounded Rectangle 5"/>
          <p:cNvSpPr/>
          <p:nvPr/>
        </p:nvSpPr>
        <p:spPr>
          <a:xfrm>
            <a:off x="457200" y="1691640"/>
            <a:ext cx="2743200" cy="402336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828800"/>
            <a:ext cx="2743200" cy="457200"/>
          </a:xfrm>
          <a:prstGeom prst="rect">
            <a:avLst/>
          </a:prstGeom>
          <a:noFill/>
        </p:spPr>
        <p:txBody>
          <a:bodyPr wrap="square" lIns="0" tIns="0" rIns="0" bIns="0" anchor="t">
            <a:spAutoFit/>
          </a:bodyPr>
          <a:lstStyle/>
          <a:p>
            <a:pPr algn="ctr"/>
            <a:r>
              <a:rPr sz="1200" b="1" i="0">
                <a:solidFill>
                  <a:srgbClr val="84B59F"/>
                </a:solidFill>
                <a:latin typeface="Calibri"/>
              </a:rPr>
              <a:t>MUST-HAVES</a:t>
            </a:r>
          </a:p>
        </p:txBody>
      </p:sp>
      <p:sp>
        <p:nvSpPr>
          <p:cNvPr id="8" name="TextBox 7"/>
          <p:cNvSpPr txBox="1"/>
          <p:nvPr/>
        </p:nvSpPr>
        <p:spPr>
          <a:xfrm>
            <a:off x="457200" y="2377440"/>
            <a:ext cx="2743200" cy="1828800"/>
          </a:xfrm>
          <a:prstGeom prst="rect">
            <a:avLst/>
          </a:prstGeom>
          <a:noFill/>
        </p:spPr>
        <p:txBody>
          <a:bodyPr wrap="square" lIns="0" tIns="0" rIns="0" bIns="0" anchor="t">
            <a:spAutoFit/>
          </a:bodyPr>
          <a:lstStyle/>
          <a:p>
            <a:pPr algn="ctr"/>
            <a:r>
              <a:rPr sz="14000" b="1" i="0">
                <a:solidFill>
                  <a:srgbClr val="FFFFFF"/>
                </a:solidFill>
                <a:latin typeface="Calibri"/>
              </a:rPr>
              <a:t>16</a:t>
            </a:r>
          </a:p>
        </p:txBody>
      </p:sp>
      <p:sp>
        <p:nvSpPr>
          <p:cNvPr id="9" name="TextBox 8"/>
          <p:cNvSpPr txBox="1"/>
          <p:nvPr/>
        </p:nvSpPr>
        <p:spPr>
          <a:xfrm>
            <a:off x="457200" y="4572000"/>
            <a:ext cx="2743200" cy="457200"/>
          </a:xfrm>
          <a:prstGeom prst="rect">
            <a:avLst/>
          </a:prstGeom>
          <a:noFill/>
        </p:spPr>
        <p:txBody>
          <a:bodyPr wrap="square" lIns="0" tIns="0" rIns="0" bIns="0" anchor="t">
            <a:spAutoFit/>
          </a:bodyPr>
          <a:lstStyle/>
          <a:p>
            <a:pPr algn="ctr"/>
            <a:r>
              <a:rPr sz="1600" b="1" i="0">
                <a:solidFill>
                  <a:srgbClr val="FFFFFF"/>
                </a:solidFill>
                <a:latin typeface="Calibri"/>
              </a:rPr>
              <a:t>E01 t/m E16</a:t>
            </a:r>
          </a:p>
        </p:txBody>
      </p:sp>
      <p:sp>
        <p:nvSpPr>
          <p:cNvPr id="10" name="TextBox 9"/>
          <p:cNvSpPr txBox="1"/>
          <p:nvPr/>
        </p:nvSpPr>
        <p:spPr>
          <a:xfrm>
            <a:off x="457200" y="5029200"/>
            <a:ext cx="2743200" cy="548640"/>
          </a:xfrm>
          <a:prstGeom prst="rect">
            <a:avLst/>
          </a:prstGeom>
          <a:noFill/>
        </p:spPr>
        <p:txBody>
          <a:bodyPr wrap="square" lIns="0" tIns="0" rIns="0" bIns="0" anchor="t">
            <a:spAutoFit/>
          </a:bodyPr>
          <a:lstStyle/>
          <a:p>
            <a:pPr algn="ctr"/>
            <a:r>
              <a:rPr sz="1200" b="0" i="1">
                <a:solidFill>
                  <a:srgbClr val="84B59F"/>
                </a:solidFill>
                <a:latin typeface="Calibri"/>
              </a:rPr>
              <a:t>Alle MUST haves zijn gerealiseerd.</a:t>
            </a:r>
          </a:p>
        </p:txBody>
      </p:sp>
      <p:sp>
        <p:nvSpPr>
          <p:cNvPr id="11" name="TextBox 10"/>
          <p:cNvSpPr txBox="1"/>
          <p:nvPr/>
        </p:nvSpPr>
        <p:spPr>
          <a:xfrm>
            <a:off x="3520440" y="1691640"/>
            <a:ext cx="8229600" cy="4572000"/>
          </a:xfrm>
          <a:prstGeom prst="rect">
            <a:avLst/>
          </a:prstGeom>
          <a:noFill/>
        </p:spPr>
        <p:txBody>
          <a:bodyPr wrap="square" lIns="0" tIns="0" rIns="0" bIns="0" anchor="t">
            <a:spAutoFit/>
          </a:bodyPr>
          <a:lstStyle/>
          <a:p>
            <a:pPr algn="l">
              <a:lnSpc>
                <a:spcPct val="115000"/>
              </a:lnSpc>
              <a:spcAft>
                <a:spcPts val="400"/>
              </a:spcAft>
            </a:pPr>
            <a:r>
              <a:rPr sz="1600" b="1" i="0">
                <a:solidFill>
                  <a:srgbClr val="028090"/>
                </a:solidFill>
                <a:latin typeface="Calibri"/>
              </a:rPr>
              <a:t>MUST  ·  16 eisen</a:t>
            </a:r>
          </a:p>
          <a:p>
            <a:pPr algn="l">
              <a:lnSpc>
                <a:spcPct val="115000"/>
              </a:lnSpc>
              <a:spcAft>
                <a:spcPts val="1600"/>
              </a:spcAft>
            </a:pPr>
            <a:r>
              <a:rPr sz="1200" b="0" i="0">
                <a:solidFill>
                  <a:srgbClr val="1A2333"/>
                </a:solidFill>
                <a:latin typeface="Calibri"/>
              </a:rPr>
              <a:t>Login, rollen, teambeheer, cliëntdossiers, uren-flow, wachtwoord-reset, profielbeheer.</a:t>
            </a:r>
          </a:p>
          <a:p>
            <a:pPr algn="l">
              <a:lnSpc>
                <a:spcPct val="115000"/>
              </a:lnSpc>
              <a:spcAft>
                <a:spcPts val="400"/>
              </a:spcAft>
            </a:pPr>
            <a:r>
              <a:rPr sz="1600" b="1" i="0">
                <a:solidFill>
                  <a:srgbClr val="1E2761"/>
                </a:solidFill>
                <a:latin typeface="Calibri"/>
              </a:rPr>
              <a:t>SHOULD  ·  4 wensen</a:t>
            </a:r>
          </a:p>
          <a:p>
            <a:pPr algn="l">
              <a:lnSpc>
                <a:spcPct val="115000"/>
              </a:lnSpc>
              <a:spcAft>
                <a:spcPts val="1600"/>
              </a:spcAft>
            </a:pPr>
            <a:r>
              <a:rPr sz="1200" b="0" i="0">
                <a:solidFill>
                  <a:srgbClr val="1A2333"/>
                </a:solidFill>
                <a:latin typeface="Calibri"/>
              </a:rPr>
              <a:t>E-mailnotificaties (S01) · audit-log dossier (S02) · CSV-export uren (S03) · dashboard-widgets (S04).</a:t>
            </a:r>
          </a:p>
          <a:p>
            <a:pPr algn="l">
              <a:lnSpc>
                <a:spcPct val="115000"/>
              </a:lnSpc>
              <a:spcAft>
                <a:spcPts val="400"/>
              </a:spcAft>
            </a:pPr>
            <a:r>
              <a:rPr sz="1600" b="1" i="0">
                <a:solidFill>
                  <a:srgbClr val="84B59F"/>
                </a:solidFill>
                <a:latin typeface="Calibri"/>
              </a:rPr>
              <a:t>COULD  ·  4 wensen</a:t>
            </a:r>
          </a:p>
          <a:p>
            <a:pPr algn="l">
              <a:lnSpc>
                <a:spcPct val="115000"/>
              </a:lnSpc>
              <a:spcAft>
                <a:spcPts val="1600"/>
              </a:spcAft>
            </a:pPr>
            <a:r>
              <a:rPr sz="1200" b="0" i="0">
                <a:solidFill>
                  <a:srgbClr val="1A2333"/>
                </a:solidFill>
                <a:latin typeface="Calibri"/>
              </a:rPr>
              <a:t>Bulk-goedkeuring · type-ahead filter · donker/licht thema · meertaligheid.</a:t>
            </a:r>
          </a:p>
          <a:p>
            <a:pPr algn="l">
              <a:lnSpc>
                <a:spcPct val="115000"/>
              </a:lnSpc>
              <a:spcAft>
                <a:spcPts val="400"/>
              </a:spcAft>
            </a:pPr>
            <a:r>
              <a:rPr sz="1600" b="1" i="0">
                <a:solidFill>
                  <a:srgbClr val="5A6C7D"/>
                </a:solidFill>
                <a:latin typeface="Calibri"/>
              </a:rPr>
              <a:t>WON'T  ·  4 buiten scope</a:t>
            </a:r>
          </a:p>
          <a:p>
            <a:pPr algn="l">
              <a:lnSpc>
                <a:spcPct val="115000"/>
              </a:lnSpc>
              <a:spcAft>
                <a:spcPts val="800"/>
              </a:spcAft>
            </a:pPr>
            <a:r>
              <a:rPr sz="1200" b="0" i="0">
                <a:solidFill>
                  <a:srgbClr val="5A6C7D"/>
                </a:solidFill>
                <a:latin typeface="Calibri"/>
              </a:rPr>
              <a:t>Native mobile app · salaris-koppelingen · SUWInet/ZorgMail · cliënt-portaal.</a:t>
            </a:r>
          </a:p>
        </p:txBody>
      </p:sp>
      <p:sp>
        <p:nvSpPr>
          <p:cNvPr id="12" name="TextBox 11"/>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13" name="TextBox 12"/>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6 / 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B1 · ANALYSEREN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Technische uitgangspunten</a:t>
            </a:r>
          </a:p>
        </p:txBody>
      </p:sp>
      <p:sp>
        <p:nvSpPr>
          <p:cNvPr id="6" name="Rounded Rectangle 5"/>
          <p:cNvSpPr/>
          <p:nvPr/>
        </p:nvSpPr>
        <p:spPr>
          <a:xfrm>
            <a:off x="457200" y="169164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856232"/>
            <a:ext cx="3291839" cy="274320"/>
          </a:xfrm>
          <a:prstGeom prst="rect">
            <a:avLst/>
          </a:prstGeom>
          <a:noFill/>
        </p:spPr>
        <p:txBody>
          <a:bodyPr wrap="square" lIns="0" tIns="0" rIns="0" bIns="0" anchor="t">
            <a:spAutoFit/>
          </a:bodyPr>
          <a:lstStyle/>
          <a:p>
            <a:pPr algn="l"/>
            <a:r>
              <a:rPr sz="1000" b="1" i="0">
                <a:solidFill>
                  <a:srgbClr val="028090"/>
                </a:solidFill>
                <a:latin typeface="Calibri"/>
              </a:rPr>
              <a:t>BACKEND</a:t>
            </a:r>
          </a:p>
        </p:txBody>
      </p:sp>
      <p:sp>
        <p:nvSpPr>
          <p:cNvPr id="8" name="TextBox 7"/>
          <p:cNvSpPr txBox="1"/>
          <p:nvPr/>
        </p:nvSpPr>
        <p:spPr>
          <a:xfrm>
            <a:off x="685800" y="2130552"/>
            <a:ext cx="3291839" cy="365760"/>
          </a:xfrm>
          <a:prstGeom prst="rect">
            <a:avLst/>
          </a:prstGeom>
          <a:noFill/>
        </p:spPr>
        <p:txBody>
          <a:bodyPr wrap="square" lIns="0" tIns="0" rIns="0" bIns="0" anchor="t">
            <a:spAutoFit/>
          </a:bodyPr>
          <a:lstStyle/>
          <a:p>
            <a:pPr algn="l"/>
            <a:r>
              <a:rPr sz="1500" b="1" i="0">
                <a:solidFill>
                  <a:srgbClr val="1A2333"/>
                </a:solidFill>
                <a:latin typeface="Calibri"/>
              </a:rPr>
              <a:t>PHP 8.4 + Laravel 12</a:t>
            </a:r>
          </a:p>
        </p:txBody>
      </p:sp>
      <p:sp>
        <p:nvSpPr>
          <p:cNvPr id="9" name="TextBox 8"/>
          <p:cNvSpPr txBox="1"/>
          <p:nvPr/>
        </p:nvSpPr>
        <p:spPr>
          <a:xfrm>
            <a:off x="685800" y="2542032"/>
            <a:ext cx="3291839" cy="640080"/>
          </a:xfrm>
          <a:prstGeom prst="rect">
            <a:avLst/>
          </a:prstGeom>
          <a:noFill/>
        </p:spPr>
        <p:txBody>
          <a:bodyPr wrap="square" lIns="0" tIns="0" rIns="0" bIns="0" anchor="t">
            <a:spAutoFit/>
          </a:bodyPr>
          <a:lstStyle/>
          <a:p>
            <a:pPr algn="l"/>
            <a:r>
              <a:rPr sz="1000" b="0" i="0">
                <a:solidFill>
                  <a:srgbClr val="5A6C7D"/>
                </a:solidFill>
                <a:latin typeface="Calibri"/>
              </a:rPr>
              <a:t>Modern PHP met strikte types · MVC-framework met ingebakken auth, validatie en CSRF.</a:t>
            </a:r>
          </a:p>
        </p:txBody>
      </p:sp>
      <p:sp>
        <p:nvSpPr>
          <p:cNvPr id="10" name="Rounded Rectangle 9"/>
          <p:cNvSpPr/>
          <p:nvPr/>
        </p:nvSpPr>
        <p:spPr>
          <a:xfrm>
            <a:off x="4343399" y="169164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1999" y="1856232"/>
            <a:ext cx="3291839" cy="274320"/>
          </a:xfrm>
          <a:prstGeom prst="rect">
            <a:avLst/>
          </a:prstGeom>
          <a:noFill/>
        </p:spPr>
        <p:txBody>
          <a:bodyPr wrap="square" lIns="0" tIns="0" rIns="0" bIns="0" anchor="t">
            <a:spAutoFit/>
          </a:bodyPr>
          <a:lstStyle/>
          <a:p>
            <a:pPr algn="l"/>
            <a:r>
              <a:rPr sz="1000" b="1" i="0">
                <a:solidFill>
                  <a:srgbClr val="028090"/>
                </a:solidFill>
                <a:latin typeface="Calibri"/>
              </a:rPr>
              <a:t>FRONTEND</a:t>
            </a:r>
          </a:p>
        </p:txBody>
      </p:sp>
      <p:sp>
        <p:nvSpPr>
          <p:cNvPr id="12" name="TextBox 11"/>
          <p:cNvSpPr txBox="1"/>
          <p:nvPr/>
        </p:nvSpPr>
        <p:spPr>
          <a:xfrm>
            <a:off x="4571999" y="2130552"/>
            <a:ext cx="3291839" cy="365760"/>
          </a:xfrm>
          <a:prstGeom prst="rect">
            <a:avLst/>
          </a:prstGeom>
          <a:noFill/>
        </p:spPr>
        <p:txBody>
          <a:bodyPr wrap="square" lIns="0" tIns="0" rIns="0" bIns="0" anchor="t">
            <a:spAutoFit/>
          </a:bodyPr>
          <a:lstStyle/>
          <a:p>
            <a:pPr algn="l"/>
            <a:r>
              <a:rPr sz="1500" b="1" i="0">
                <a:solidFill>
                  <a:srgbClr val="1A2333"/>
                </a:solidFill>
                <a:latin typeface="Calibri"/>
              </a:rPr>
              <a:t>Blade + Tailwind CSS v4</a:t>
            </a:r>
          </a:p>
        </p:txBody>
      </p:sp>
      <p:sp>
        <p:nvSpPr>
          <p:cNvPr id="13" name="TextBox 12"/>
          <p:cNvSpPr txBox="1"/>
          <p:nvPr/>
        </p:nvSpPr>
        <p:spPr>
          <a:xfrm>
            <a:off x="4571999" y="2542032"/>
            <a:ext cx="3291839" cy="640080"/>
          </a:xfrm>
          <a:prstGeom prst="rect">
            <a:avLst/>
          </a:prstGeom>
          <a:noFill/>
        </p:spPr>
        <p:txBody>
          <a:bodyPr wrap="square" lIns="0" tIns="0" rIns="0" bIns="0" anchor="t">
            <a:spAutoFit/>
          </a:bodyPr>
          <a:lstStyle/>
          <a:p>
            <a:pPr algn="l"/>
            <a:r>
              <a:rPr sz="1000" b="0" i="0">
                <a:solidFill>
                  <a:srgbClr val="5A6C7D"/>
                </a:solidFill>
                <a:latin typeface="Calibri"/>
              </a:rPr>
              <a:t>Server-rendered — geen SPA-complexiteit · utility-first styling, consistent design.</a:t>
            </a:r>
          </a:p>
        </p:txBody>
      </p:sp>
      <p:sp>
        <p:nvSpPr>
          <p:cNvPr id="14" name="Rounded Rectangle 13"/>
          <p:cNvSpPr/>
          <p:nvPr/>
        </p:nvSpPr>
        <p:spPr>
          <a:xfrm>
            <a:off x="8229598" y="169164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198" y="1856232"/>
            <a:ext cx="3291839" cy="274320"/>
          </a:xfrm>
          <a:prstGeom prst="rect">
            <a:avLst/>
          </a:prstGeom>
          <a:noFill/>
        </p:spPr>
        <p:txBody>
          <a:bodyPr wrap="square" lIns="0" tIns="0" rIns="0" bIns="0" anchor="t">
            <a:spAutoFit/>
          </a:bodyPr>
          <a:lstStyle/>
          <a:p>
            <a:pPr algn="l"/>
            <a:r>
              <a:rPr sz="1000" b="1" i="0">
                <a:solidFill>
                  <a:srgbClr val="028090"/>
                </a:solidFill>
                <a:latin typeface="Calibri"/>
              </a:rPr>
              <a:t>DATABASE</a:t>
            </a:r>
          </a:p>
        </p:txBody>
      </p:sp>
      <p:sp>
        <p:nvSpPr>
          <p:cNvPr id="16" name="TextBox 15"/>
          <p:cNvSpPr txBox="1"/>
          <p:nvPr/>
        </p:nvSpPr>
        <p:spPr>
          <a:xfrm>
            <a:off x="8458198" y="2130552"/>
            <a:ext cx="3291839" cy="365760"/>
          </a:xfrm>
          <a:prstGeom prst="rect">
            <a:avLst/>
          </a:prstGeom>
          <a:noFill/>
        </p:spPr>
        <p:txBody>
          <a:bodyPr wrap="square" lIns="0" tIns="0" rIns="0" bIns="0" anchor="t">
            <a:spAutoFit/>
          </a:bodyPr>
          <a:lstStyle/>
          <a:p>
            <a:pPr algn="l"/>
            <a:r>
              <a:rPr sz="1500" b="1" i="0">
                <a:solidFill>
                  <a:srgbClr val="1A2333"/>
                </a:solidFill>
                <a:latin typeface="Calibri"/>
              </a:rPr>
              <a:t>SQLite (dev / examen)</a:t>
            </a:r>
          </a:p>
        </p:txBody>
      </p:sp>
      <p:sp>
        <p:nvSpPr>
          <p:cNvPr id="17" name="TextBox 16"/>
          <p:cNvSpPr txBox="1"/>
          <p:nvPr/>
        </p:nvSpPr>
        <p:spPr>
          <a:xfrm>
            <a:off x="8458198" y="2542032"/>
            <a:ext cx="3291839" cy="640080"/>
          </a:xfrm>
          <a:prstGeom prst="rect">
            <a:avLst/>
          </a:prstGeom>
          <a:noFill/>
        </p:spPr>
        <p:txBody>
          <a:bodyPr wrap="square" lIns="0" tIns="0" rIns="0" bIns="0" anchor="t">
            <a:spAutoFit/>
          </a:bodyPr>
          <a:lstStyle/>
          <a:p>
            <a:pPr algn="l"/>
            <a:r>
              <a:rPr sz="1000" b="0" i="0">
                <a:solidFill>
                  <a:srgbClr val="5A6C7D"/>
                </a:solidFill>
                <a:latin typeface="Calibri"/>
              </a:rPr>
              <a:t>Zero-config · productie-migratie naar PostgreSQL is triviaal.</a:t>
            </a:r>
          </a:p>
        </p:txBody>
      </p:sp>
      <p:sp>
        <p:nvSpPr>
          <p:cNvPr id="18" name="Rounded Rectangle 17"/>
          <p:cNvSpPr/>
          <p:nvPr/>
        </p:nvSpPr>
        <p:spPr>
          <a:xfrm>
            <a:off x="457200" y="333756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502152"/>
            <a:ext cx="3291839" cy="274320"/>
          </a:xfrm>
          <a:prstGeom prst="rect">
            <a:avLst/>
          </a:prstGeom>
          <a:noFill/>
        </p:spPr>
        <p:txBody>
          <a:bodyPr wrap="square" lIns="0" tIns="0" rIns="0" bIns="0" anchor="t">
            <a:spAutoFit/>
          </a:bodyPr>
          <a:lstStyle/>
          <a:p>
            <a:pPr algn="l"/>
            <a:r>
              <a:rPr sz="1000" b="1" i="0">
                <a:solidFill>
                  <a:srgbClr val="028090"/>
                </a:solidFill>
                <a:latin typeface="Calibri"/>
              </a:rPr>
              <a:t>ORM</a:t>
            </a:r>
          </a:p>
        </p:txBody>
      </p:sp>
      <p:sp>
        <p:nvSpPr>
          <p:cNvPr id="20" name="TextBox 19"/>
          <p:cNvSpPr txBox="1"/>
          <p:nvPr/>
        </p:nvSpPr>
        <p:spPr>
          <a:xfrm>
            <a:off x="685800" y="3776472"/>
            <a:ext cx="3291839" cy="365760"/>
          </a:xfrm>
          <a:prstGeom prst="rect">
            <a:avLst/>
          </a:prstGeom>
          <a:noFill/>
        </p:spPr>
        <p:txBody>
          <a:bodyPr wrap="square" lIns="0" tIns="0" rIns="0" bIns="0" anchor="t">
            <a:spAutoFit/>
          </a:bodyPr>
          <a:lstStyle/>
          <a:p>
            <a:pPr algn="l"/>
            <a:r>
              <a:rPr sz="1500" b="1" i="0">
                <a:solidFill>
                  <a:srgbClr val="1A2333"/>
                </a:solidFill>
                <a:latin typeface="Calibri"/>
              </a:rPr>
              <a:t>Eloquent</a:t>
            </a:r>
          </a:p>
        </p:txBody>
      </p:sp>
      <p:sp>
        <p:nvSpPr>
          <p:cNvPr id="21" name="TextBox 20"/>
          <p:cNvSpPr txBox="1"/>
          <p:nvPr/>
        </p:nvSpPr>
        <p:spPr>
          <a:xfrm>
            <a:off x="685800" y="4187952"/>
            <a:ext cx="3291839" cy="640080"/>
          </a:xfrm>
          <a:prstGeom prst="rect">
            <a:avLst/>
          </a:prstGeom>
          <a:noFill/>
        </p:spPr>
        <p:txBody>
          <a:bodyPr wrap="square" lIns="0" tIns="0" rIns="0" bIns="0" anchor="t">
            <a:spAutoFit/>
          </a:bodyPr>
          <a:lstStyle/>
          <a:p>
            <a:pPr algn="l"/>
            <a:r>
              <a:rPr sz="1000" b="0" i="0">
                <a:solidFill>
                  <a:srgbClr val="5A6C7D"/>
                </a:solidFill>
                <a:latin typeface="Calibri"/>
              </a:rPr>
              <a:t>Mass-assignment via $fillable · relations · casts · query-builder.</a:t>
            </a:r>
          </a:p>
        </p:txBody>
      </p:sp>
      <p:sp>
        <p:nvSpPr>
          <p:cNvPr id="22" name="Rounded Rectangle 21"/>
          <p:cNvSpPr/>
          <p:nvPr/>
        </p:nvSpPr>
        <p:spPr>
          <a:xfrm>
            <a:off x="4343399" y="333756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1999" y="3502152"/>
            <a:ext cx="3291839" cy="274320"/>
          </a:xfrm>
          <a:prstGeom prst="rect">
            <a:avLst/>
          </a:prstGeom>
          <a:noFill/>
        </p:spPr>
        <p:txBody>
          <a:bodyPr wrap="square" lIns="0" tIns="0" rIns="0" bIns="0" anchor="t">
            <a:spAutoFit/>
          </a:bodyPr>
          <a:lstStyle/>
          <a:p>
            <a:pPr algn="l"/>
            <a:r>
              <a:rPr sz="1000" b="1" i="0">
                <a:solidFill>
                  <a:srgbClr val="028090"/>
                </a:solidFill>
                <a:latin typeface="Calibri"/>
              </a:rPr>
              <a:t>TESTING</a:t>
            </a:r>
          </a:p>
        </p:txBody>
      </p:sp>
      <p:sp>
        <p:nvSpPr>
          <p:cNvPr id="24" name="TextBox 23"/>
          <p:cNvSpPr txBox="1"/>
          <p:nvPr/>
        </p:nvSpPr>
        <p:spPr>
          <a:xfrm>
            <a:off x="4571999" y="3776472"/>
            <a:ext cx="3291839" cy="365760"/>
          </a:xfrm>
          <a:prstGeom prst="rect">
            <a:avLst/>
          </a:prstGeom>
          <a:noFill/>
        </p:spPr>
        <p:txBody>
          <a:bodyPr wrap="square" lIns="0" tIns="0" rIns="0" bIns="0" anchor="t">
            <a:spAutoFit/>
          </a:bodyPr>
          <a:lstStyle/>
          <a:p>
            <a:pPr algn="l"/>
            <a:r>
              <a:rPr sz="1500" b="1" i="0">
                <a:solidFill>
                  <a:srgbClr val="1A2333"/>
                </a:solidFill>
                <a:latin typeface="Calibri"/>
              </a:rPr>
              <a:t>Pest v4 + pest-plugin-laravel</a:t>
            </a:r>
          </a:p>
        </p:txBody>
      </p:sp>
      <p:sp>
        <p:nvSpPr>
          <p:cNvPr id="25" name="TextBox 24"/>
          <p:cNvSpPr txBox="1"/>
          <p:nvPr/>
        </p:nvSpPr>
        <p:spPr>
          <a:xfrm>
            <a:off x="4571999" y="4187952"/>
            <a:ext cx="3291839" cy="640080"/>
          </a:xfrm>
          <a:prstGeom prst="rect">
            <a:avLst/>
          </a:prstGeom>
          <a:noFill/>
        </p:spPr>
        <p:txBody>
          <a:bodyPr wrap="square" lIns="0" tIns="0" rIns="0" bIns="0" anchor="t">
            <a:spAutoFit/>
          </a:bodyPr>
          <a:lstStyle/>
          <a:p>
            <a:pPr algn="l"/>
            <a:r>
              <a:rPr sz="1000" b="0" i="0">
                <a:solidFill>
                  <a:srgbClr val="5A6C7D"/>
                </a:solidFill>
                <a:latin typeface="Calibri"/>
              </a:rPr>
              <a:t>Leesbaarder dan PHPUnit · RefreshDatabase trait · feature- en browser-tests.</a:t>
            </a:r>
          </a:p>
        </p:txBody>
      </p:sp>
      <p:sp>
        <p:nvSpPr>
          <p:cNvPr id="26" name="Rounded Rectangle 25"/>
          <p:cNvSpPr/>
          <p:nvPr/>
        </p:nvSpPr>
        <p:spPr>
          <a:xfrm>
            <a:off x="8229598" y="333756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8198" y="3502152"/>
            <a:ext cx="3291839" cy="274320"/>
          </a:xfrm>
          <a:prstGeom prst="rect">
            <a:avLst/>
          </a:prstGeom>
          <a:noFill/>
        </p:spPr>
        <p:txBody>
          <a:bodyPr wrap="square" lIns="0" tIns="0" rIns="0" bIns="0" anchor="t">
            <a:spAutoFit/>
          </a:bodyPr>
          <a:lstStyle/>
          <a:p>
            <a:pPr algn="l"/>
            <a:r>
              <a:rPr sz="1000" b="1" i="0">
                <a:solidFill>
                  <a:srgbClr val="028090"/>
                </a:solidFill>
                <a:latin typeface="Calibri"/>
              </a:rPr>
              <a:t>AUTORISATIE</a:t>
            </a:r>
          </a:p>
        </p:txBody>
      </p:sp>
      <p:sp>
        <p:nvSpPr>
          <p:cNvPr id="28" name="TextBox 27"/>
          <p:cNvSpPr txBox="1"/>
          <p:nvPr/>
        </p:nvSpPr>
        <p:spPr>
          <a:xfrm>
            <a:off x="8458198" y="3776472"/>
            <a:ext cx="3291839" cy="365760"/>
          </a:xfrm>
          <a:prstGeom prst="rect">
            <a:avLst/>
          </a:prstGeom>
          <a:noFill/>
        </p:spPr>
        <p:txBody>
          <a:bodyPr wrap="square" lIns="0" tIns="0" rIns="0" bIns="0" anchor="t">
            <a:spAutoFit/>
          </a:bodyPr>
          <a:lstStyle/>
          <a:p>
            <a:pPr algn="l"/>
            <a:r>
              <a:rPr sz="1500" b="1" i="0">
                <a:solidFill>
                  <a:srgbClr val="1A2333"/>
                </a:solidFill>
                <a:latin typeface="Calibri"/>
              </a:rPr>
              <a:t>Policies + Middleware</a:t>
            </a:r>
          </a:p>
        </p:txBody>
      </p:sp>
      <p:sp>
        <p:nvSpPr>
          <p:cNvPr id="29" name="TextBox 28"/>
          <p:cNvSpPr txBox="1"/>
          <p:nvPr/>
        </p:nvSpPr>
        <p:spPr>
          <a:xfrm>
            <a:off x="8458198" y="4187952"/>
            <a:ext cx="3291839" cy="640080"/>
          </a:xfrm>
          <a:prstGeom prst="rect">
            <a:avLst/>
          </a:prstGeom>
          <a:noFill/>
        </p:spPr>
        <p:txBody>
          <a:bodyPr wrap="square" lIns="0" tIns="0" rIns="0" bIns="0" anchor="t">
            <a:spAutoFit/>
          </a:bodyPr>
          <a:lstStyle/>
          <a:p>
            <a:pPr algn="l"/>
            <a:r>
              <a:rPr sz="1000" b="0" i="0">
                <a:solidFill>
                  <a:srgbClr val="5A6C7D"/>
                </a:solidFill>
                <a:latin typeface="Calibri"/>
              </a:rPr>
              <a:t>Defense in depth — policy per resource + middleware per rol-groep.</a:t>
            </a:r>
          </a:p>
        </p:txBody>
      </p:sp>
      <p:sp>
        <p:nvSpPr>
          <p:cNvPr id="30" name="Rounded Rectangle 29"/>
          <p:cNvSpPr/>
          <p:nvPr/>
        </p:nvSpPr>
        <p:spPr>
          <a:xfrm>
            <a:off x="457200" y="498348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148072"/>
            <a:ext cx="3291839" cy="274320"/>
          </a:xfrm>
          <a:prstGeom prst="rect">
            <a:avLst/>
          </a:prstGeom>
          <a:noFill/>
        </p:spPr>
        <p:txBody>
          <a:bodyPr wrap="square" lIns="0" tIns="0" rIns="0" bIns="0" anchor="t">
            <a:spAutoFit/>
          </a:bodyPr>
          <a:lstStyle/>
          <a:p>
            <a:pPr algn="l"/>
            <a:r>
              <a:rPr sz="1000" b="1" i="0">
                <a:solidFill>
                  <a:srgbClr val="028090"/>
                </a:solidFill>
                <a:latin typeface="Calibri"/>
              </a:rPr>
              <a:t>CODE-STYLE</a:t>
            </a:r>
          </a:p>
        </p:txBody>
      </p:sp>
      <p:sp>
        <p:nvSpPr>
          <p:cNvPr id="32" name="TextBox 31"/>
          <p:cNvSpPr txBox="1"/>
          <p:nvPr/>
        </p:nvSpPr>
        <p:spPr>
          <a:xfrm>
            <a:off x="685800" y="5422392"/>
            <a:ext cx="3291839" cy="365760"/>
          </a:xfrm>
          <a:prstGeom prst="rect">
            <a:avLst/>
          </a:prstGeom>
          <a:noFill/>
        </p:spPr>
        <p:txBody>
          <a:bodyPr wrap="square" lIns="0" tIns="0" rIns="0" bIns="0" anchor="t">
            <a:spAutoFit/>
          </a:bodyPr>
          <a:lstStyle/>
          <a:p>
            <a:pPr algn="l"/>
            <a:r>
              <a:rPr sz="1500" b="1" i="0">
                <a:solidFill>
                  <a:srgbClr val="1A2333"/>
                </a:solidFill>
                <a:latin typeface="Calibri"/>
              </a:rPr>
              <a:t>Laravel Pint (PSR-12)</a:t>
            </a:r>
          </a:p>
        </p:txBody>
      </p:sp>
      <p:sp>
        <p:nvSpPr>
          <p:cNvPr id="33" name="TextBox 32"/>
          <p:cNvSpPr txBox="1"/>
          <p:nvPr/>
        </p:nvSpPr>
        <p:spPr>
          <a:xfrm>
            <a:off x="685800" y="5833872"/>
            <a:ext cx="3291839" cy="640080"/>
          </a:xfrm>
          <a:prstGeom prst="rect">
            <a:avLst/>
          </a:prstGeom>
          <a:noFill/>
        </p:spPr>
        <p:txBody>
          <a:bodyPr wrap="square" lIns="0" tIns="0" rIns="0" bIns="0" anchor="t">
            <a:spAutoFit/>
          </a:bodyPr>
          <a:lstStyle/>
          <a:p>
            <a:pPr algn="l"/>
            <a:r>
              <a:rPr sz="1000" b="0" i="0">
                <a:solidFill>
                  <a:srgbClr val="5A6C7D"/>
                </a:solidFill>
                <a:latin typeface="Calibri"/>
              </a:rPr>
              <a:t>Afgedwongen per commit · `vendor/bin/pint --dirty` als gate.</a:t>
            </a:r>
          </a:p>
        </p:txBody>
      </p:sp>
      <p:sp>
        <p:nvSpPr>
          <p:cNvPr id="34" name="Rounded Rectangle 33"/>
          <p:cNvSpPr/>
          <p:nvPr/>
        </p:nvSpPr>
        <p:spPr>
          <a:xfrm>
            <a:off x="4343399" y="498348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1999" y="5148072"/>
            <a:ext cx="3291839" cy="274320"/>
          </a:xfrm>
          <a:prstGeom prst="rect">
            <a:avLst/>
          </a:prstGeom>
          <a:noFill/>
        </p:spPr>
        <p:txBody>
          <a:bodyPr wrap="square" lIns="0" tIns="0" rIns="0" bIns="0" anchor="t">
            <a:spAutoFit/>
          </a:bodyPr>
          <a:lstStyle/>
          <a:p>
            <a:pPr algn="l"/>
            <a:r>
              <a:rPr sz="1000" b="1" i="0">
                <a:solidFill>
                  <a:srgbClr val="028090"/>
                </a:solidFill>
                <a:latin typeface="Calibri"/>
              </a:rPr>
              <a:t>VERSIEBEHEER</a:t>
            </a:r>
          </a:p>
        </p:txBody>
      </p:sp>
      <p:sp>
        <p:nvSpPr>
          <p:cNvPr id="36" name="TextBox 35"/>
          <p:cNvSpPr txBox="1"/>
          <p:nvPr/>
        </p:nvSpPr>
        <p:spPr>
          <a:xfrm>
            <a:off x="4571999" y="5422392"/>
            <a:ext cx="3291839" cy="365760"/>
          </a:xfrm>
          <a:prstGeom prst="rect">
            <a:avLst/>
          </a:prstGeom>
          <a:noFill/>
        </p:spPr>
        <p:txBody>
          <a:bodyPr wrap="square" lIns="0" tIns="0" rIns="0" bIns="0" anchor="t">
            <a:spAutoFit/>
          </a:bodyPr>
          <a:lstStyle/>
          <a:p>
            <a:pPr algn="l"/>
            <a:r>
              <a:rPr sz="1500" b="1" i="0">
                <a:solidFill>
                  <a:srgbClr val="1A2333"/>
                </a:solidFill>
                <a:latin typeface="Calibri"/>
              </a:rPr>
              <a:t>Git + GitHub</a:t>
            </a:r>
          </a:p>
        </p:txBody>
      </p:sp>
      <p:sp>
        <p:nvSpPr>
          <p:cNvPr id="37" name="TextBox 36"/>
          <p:cNvSpPr txBox="1"/>
          <p:nvPr/>
        </p:nvSpPr>
        <p:spPr>
          <a:xfrm>
            <a:off x="4571999" y="5833872"/>
            <a:ext cx="3291839" cy="640080"/>
          </a:xfrm>
          <a:prstGeom prst="rect">
            <a:avLst/>
          </a:prstGeom>
          <a:noFill/>
        </p:spPr>
        <p:txBody>
          <a:bodyPr wrap="square" lIns="0" tIns="0" rIns="0" bIns="0" anchor="t">
            <a:spAutoFit/>
          </a:bodyPr>
          <a:lstStyle/>
          <a:p>
            <a:pPr algn="l"/>
            <a:r>
              <a:rPr sz="1000" b="0" i="0">
                <a:solidFill>
                  <a:srgbClr val="5A6C7D"/>
                </a:solidFill>
                <a:latin typeface="Calibri"/>
              </a:rPr>
              <a:t>Feature-branches · 18 PRs · 4 sprint-tags · geen --force-push, geen --amend.</a:t>
            </a:r>
          </a:p>
        </p:txBody>
      </p:sp>
      <p:sp>
        <p:nvSpPr>
          <p:cNvPr id="38" name="Rounded Rectangle 37"/>
          <p:cNvSpPr/>
          <p:nvPr/>
        </p:nvSpPr>
        <p:spPr>
          <a:xfrm>
            <a:off x="8229598" y="4983480"/>
            <a:ext cx="3749039" cy="150876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58198" y="5148072"/>
            <a:ext cx="3291839" cy="274320"/>
          </a:xfrm>
          <a:prstGeom prst="rect">
            <a:avLst/>
          </a:prstGeom>
          <a:noFill/>
        </p:spPr>
        <p:txBody>
          <a:bodyPr wrap="square" lIns="0" tIns="0" rIns="0" bIns="0" anchor="t">
            <a:spAutoFit/>
          </a:bodyPr>
          <a:lstStyle/>
          <a:p>
            <a:pPr algn="l"/>
            <a:r>
              <a:rPr sz="1000" b="1" i="0">
                <a:solidFill>
                  <a:srgbClr val="028090"/>
                </a:solidFill>
                <a:latin typeface="Calibri"/>
              </a:rPr>
              <a:t>LOKAAL HOSTEN</a:t>
            </a:r>
          </a:p>
        </p:txBody>
      </p:sp>
      <p:sp>
        <p:nvSpPr>
          <p:cNvPr id="40" name="TextBox 39"/>
          <p:cNvSpPr txBox="1"/>
          <p:nvPr/>
        </p:nvSpPr>
        <p:spPr>
          <a:xfrm>
            <a:off x="8458198" y="5422392"/>
            <a:ext cx="3291839" cy="365760"/>
          </a:xfrm>
          <a:prstGeom prst="rect">
            <a:avLst/>
          </a:prstGeom>
          <a:noFill/>
        </p:spPr>
        <p:txBody>
          <a:bodyPr wrap="square" lIns="0" tIns="0" rIns="0" bIns="0" anchor="t">
            <a:spAutoFit/>
          </a:bodyPr>
          <a:lstStyle/>
          <a:p>
            <a:pPr algn="l"/>
            <a:r>
              <a:rPr sz="1500" b="1" i="0">
                <a:solidFill>
                  <a:srgbClr val="1A2333"/>
                </a:solidFill>
                <a:latin typeface="Calibri"/>
              </a:rPr>
              <a:t>Laravel Herd</a:t>
            </a:r>
          </a:p>
        </p:txBody>
      </p:sp>
      <p:sp>
        <p:nvSpPr>
          <p:cNvPr id="41" name="TextBox 40"/>
          <p:cNvSpPr txBox="1"/>
          <p:nvPr/>
        </p:nvSpPr>
        <p:spPr>
          <a:xfrm>
            <a:off x="8458198" y="5833872"/>
            <a:ext cx="3291839" cy="640080"/>
          </a:xfrm>
          <a:prstGeom prst="rect">
            <a:avLst/>
          </a:prstGeom>
          <a:noFill/>
        </p:spPr>
        <p:txBody>
          <a:bodyPr wrap="square" lIns="0" tIns="0" rIns="0" bIns="0" anchor="t">
            <a:spAutoFit/>
          </a:bodyPr>
          <a:lstStyle/>
          <a:p>
            <a:pPr algn="l"/>
            <a:r>
              <a:rPr sz="1000" b="0" i="0">
                <a:solidFill>
                  <a:srgbClr val="5A6C7D"/>
                </a:solidFill>
                <a:latin typeface="Calibri"/>
              </a:rPr>
              <a:t>nexora.test · zero-config PHP + Node + DB.</a:t>
            </a:r>
          </a:p>
        </p:txBody>
      </p:sp>
      <p:sp>
        <p:nvSpPr>
          <p:cNvPr id="42" name="TextBox 41"/>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43" name="TextBox 42"/>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7 / 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B1 · ANALYSEREN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16 user stories  ·  4 sprints</a:t>
            </a:r>
          </a:p>
        </p:txBody>
      </p:sp>
      <p:sp>
        <p:nvSpPr>
          <p:cNvPr id="6" name="Rounded Rectangle 5"/>
          <p:cNvSpPr/>
          <p:nvPr/>
        </p:nvSpPr>
        <p:spPr>
          <a:xfrm>
            <a:off x="457200" y="1691640"/>
            <a:ext cx="2788920" cy="82296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737360"/>
            <a:ext cx="2788920" cy="502920"/>
          </a:xfrm>
          <a:prstGeom prst="rect">
            <a:avLst/>
          </a:prstGeom>
          <a:noFill/>
        </p:spPr>
        <p:txBody>
          <a:bodyPr wrap="square" lIns="0" tIns="0" rIns="0" bIns="0" anchor="t">
            <a:spAutoFit/>
          </a:bodyPr>
          <a:lstStyle/>
          <a:p>
            <a:pPr algn="ctr"/>
            <a:r>
              <a:rPr sz="3000" b="1" i="0">
                <a:solidFill>
                  <a:srgbClr val="FFFFFF"/>
                </a:solidFill>
                <a:latin typeface="Calibri"/>
              </a:rPr>
              <a:t>16</a:t>
            </a:r>
          </a:p>
        </p:txBody>
      </p:sp>
      <p:sp>
        <p:nvSpPr>
          <p:cNvPr id="8" name="TextBox 7"/>
          <p:cNvSpPr txBox="1"/>
          <p:nvPr/>
        </p:nvSpPr>
        <p:spPr>
          <a:xfrm>
            <a:off x="457200" y="2148840"/>
            <a:ext cx="2788920" cy="365760"/>
          </a:xfrm>
          <a:prstGeom prst="rect">
            <a:avLst/>
          </a:prstGeom>
          <a:noFill/>
        </p:spPr>
        <p:txBody>
          <a:bodyPr wrap="square" lIns="0" tIns="0" rIns="0" bIns="0" anchor="t">
            <a:spAutoFit/>
          </a:bodyPr>
          <a:lstStyle/>
          <a:p>
            <a:pPr algn="ctr"/>
            <a:r>
              <a:rPr sz="1100" b="0" i="0">
                <a:solidFill>
                  <a:srgbClr val="FFFFFF"/>
                </a:solidFill>
                <a:latin typeface="Calibri"/>
              </a:rPr>
              <a:t>User stories</a:t>
            </a:r>
          </a:p>
        </p:txBody>
      </p:sp>
      <p:sp>
        <p:nvSpPr>
          <p:cNvPr id="9" name="Rounded Rectangle 8"/>
          <p:cNvSpPr/>
          <p:nvPr/>
        </p:nvSpPr>
        <p:spPr>
          <a:xfrm>
            <a:off x="3337560" y="1691640"/>
            <a:ext cx="2788920" cy="82296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737360"/>
            <a:ext cx="2788920" cy="502920"/>
          </a:xfrm>
          <a:prstGeom prst="rect">
            <a:avLst/>
          </a:prstGeom>
          <a:noFill/>
        </p:spPr>
        <p:txBody>
          <a:bodyPr wrap="square" lIns="0" tIns="0" rIns="0" bIns="0" anchor="t">
            <a:spAutoFit/>
          </a:bodyPr>
          <a:lstStyle/>
          <a:p>
            <a:pPr algn="ctr"/>
            <a:r>
              <a:rPr sz="3000" b="1" i="0">
                <a:solidFill>
                  <a:srgbClr val="FFFFFF"/>
                </a:solidFill>
                <a:latin typeface="Calibri"/>
              </a:rPr>
              <a:t>4</a:t>
            </a:r>
          </a:p>
        </p:txBody>
      </p:sp>
      <p:sp>
        <p:nvSpPr>
          <p:cNvPr id="11" name="TextBox 10"/>
          <p:cNvSpPr txBox="1"/>
          <p:nvPr/>
        </p:nvSpPr>
        <p:spPr>
          <a:xfrm>
            <a:off x="3337560" y="2148840"/>
            <a:ext cx="2788920" cy="365760"/>
          </a:xfrm>
          <a:prstGeom prst="rect">
            <a:avLst/>
          </a:prstGeom>
          <a:noFill/>
        </p:spPr>
        <p:txBody>
          <a:bodyPr wrap="square" lIns="0" tIns="0" rIns="0" bIns="0" anchor="t">
            <a:spAutoFit/>
          </a:bodyPr>
          <a:lstStyle/>
          <a:p>
            <a:pPr algn="ctr"/>
            <a:r>
              <a:rPr sz="1100" b="0" i="0">
                <a:solidFill>
                  <a:srgbClr val="FFFFFF"/>
                </a:solidFill>
                <a:latin typeface="Calibri"/>
              </a:rPr>
              <a:t>Sprints</a:t>
            </a:r>
          </a:p>
        </p:txBody>
      </p:sp>
      <p:sp>
        <p:nvSpPr>
          <p:cNvPr id="12" name="Rounded Rectangle 11"/>
          <p:cNvSpPr/>
          <p:nvPr/>
        </p:nvSpPr>
        <p:spPr>
          <a:xfrm>
            <a:off x="6217920" y="1691640"/>
            <a:ext cx="2788920" cy="822960"/>
          </a:xfrm>
          <a:prstGeom prst="roundRect">
            <a:avLst>
              <a:gd name="adj" fmla="val 12000"/>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737360"/>
            <a:ext cx="2788920" cy="502920"/>
          </a:xfrm>
          <a:prstGeom prst="rect">
            <a:avLst/>
          </a:prstGeom>
          <a:noFill/>
        </p:spPr>
        <p:txBody>
          <a:bodyPr wrap="square" lIns="0" tIns="0" rIns="0" bIns="0" anchor="t">
            <a:spAutoFit/>
          </a:bodyPr>
          <a:lstStyle/>
          <a:p>
            <a:pPr algn="ctr"/>
            <a:r>
              <a:rPr sz="3000" b="1" i="0">
                <a:solidFill>
                  <a:srgbClr val="FFFFFF"/>
                </a:solidFill>
                <a:latin typeface="Calibri"/>
              </a:rPr>
              <a:t>18</a:t>
            </a:r>
          </a:p>
        </p:txBody>
      </p:sp>
      <p:sp>
        <p:nvSpPr>
          <p:cNvPr id="14" name="TextBox 13"/>
          <p:cNvSpPr txBox="1"/>
          <p:nvPr/>
        </p:nvSpPr>
        <p:spPr>
          <a:xfrm>
            <a:off x="6217920" y="2148840"/>
            <a:ext cx="2788920" cy="365760"/>
          </a:xfrm>
          <a:prstGeom prst="rect">
            <a:avLst/>
          </a:prstGeom>
          <a:noFill/>
        </p:spPr>
        <p:txBody>
          <a:bodyPr wrap="square" lIns="0" tIns="0" rIns="0" bIns="0" anchor="t">
            <a:spAutoFit/>
          </a:bodyPr>
          <a:lstStyle/>
          <a:p>
            <a:pPr algn="ctr"/>
            <a:r>
              <a:rPr sz="1100" b="0" i="0">
                <a:solidFill>
                  <a:srgbClr val="FFFFFF"/>
                </a:solidFill>
                <a:latin typeface="Calibri"/>
              </a:rPr>
              <a:t>Pull requests</a:t>
            </a:r>
          </a:p>
        </p:txBody>
      </p:sp>
      <p:sp>
        <p:nvSpPr>
          <p:cNvPr id="15" name="Rounded Rectangle 14"/>
          <p:cNvSpPr/>
          <p:nvPr/>
        </p:nvSpPr>
        <p:spPr>
          <a:xfrm>
            <a:off x="9098280" y="1691640"/>
            <a:ext cx="2788920" cy="82296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98280" y="1737360"/>
            <a:ext cx="2788920" cy="502920"/>
          </a:xfrm>
          <a:prstGeom prst="rect">
            <a:avLst/>
          </a:prstGeom>
          <a:noFill/>
        </p:spPr>
        <p:txBody>
          <a:bodyPr wrap="square" lIns="0" tIns="0" rIns="0" bIns="0" anchor="t">
            <a:spAutoFit/>
          </a:bodyPr>
          <a:lstStyle/>
          <a:p>
            <a:pPr algn="ctr"/>
            <a:r>
              <a:rPr sz="3000" b="1" i="0">
                <a:solidFill>
                  <a:srgbClr val="FFFFFF"/>
                </a:solidFill>
                <a:latin typeface="Calibri"/>
              </a:rPr>
              <a:t>257</a:t>
            </a:r>
          </a:p>
        </p:txBody>
      </p:sp>
      <p:sp>
        <p:nvSpPr>
          <p:cNvPr id="17" name="TextBox 16"/>
          <p:cNvSpPr txBox="1"/>
          <p:nvPr/>
        </p:nvSpPr>
        <p:spPr>
          <a:xfrm>
            <a:off x="9098280" y="2148840"/>
            <a:ext cx="2788920" cy="365760"/>
          </a:xfrm>
          <a:prstGeom prst="rect">
            <a:avLst/>
          </a:prstGeom>
          <a:noFill/>
        </p:spPr>
        <p:txBody>
          <a:bodyPr wrap="square" lIns="0" tIns="0" rIns="0" bIns="0" anchor="t">
            <a:spAutoFit/>
          </a:bodyPr>
          <a:lstStyle/>
          <a:p>
            <a:pPr algn="ctr"/>
            <a:r>
              <a:rPr sz="1100" b="0" i="0">
                <a:solidFill>
                  <a:srgbClr val="FFFFFF"/>
                </a:solidFill>
                <a:latin typeface="Calibri"/>
              </a:rPr>
              <a:t>Commits</a:t>
            </a:r>
          </a:p>
        </p:txBody>
      </p:sp>
      <p:sp>
        <p:nvSpPr>
          <p:cNvPr id="18" name="Rectangle 17"/>
          <p:cNvSpPr/>
          <p:nvPr/>
        </p:nvSpPr>
        <p:spPr>
          <a:xfrm>
            <a:off x="457200" y="2743200"/>
            <a:ext cx="5669280"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2779776"/>
            <a:ext cx="5394960" cy="274320"/>
          </a:xfrm>
          <a:prstGeom prst="rect">
            <a:avLst/>
          </a:prstGeom>
          <a:noFill/>
        </p:spPr>
        <p:txBody>
          <a:bodyPr wrap="square" lIns="0" tIns="0" rIns="0" bIns="0" anchor="t">
            <a:spAutoFit/>
          </a:bodyPr>
          <a:lstStyle/>
          <a:p>
            <a:pPr algn="l"/>
            <a:r>
              <a:rPr sz="1100" b="1" i="0">
                <a:solidFill>
                  <a:srgbClr val="FFFFFF"/>
                </a:solidFill>
                <a:latin typeface="Calibri"/>
              </a:rPr>
              <a:t>Sprint 1 — Auth + team basis</a:t>
            </a:r>
          </a:p>
        </p:txBody>
      </p:sp>
      <p:sp>
        <p:nvSpPr>
          <p:cNvPr id="20" name="TextBox 19"/>
          <p:cNvSpPr txBox="1"/>
          <p:nvPr/>
        </p:nvSpPr>
        <p:spPr>
          <a:xfrm>
            <a:off x="594360" y="3090672"/>
            <a:ext cx="5394960" cy="274320"/>
          </a:xfrm>
          <a:prstGeom prst="rect">
            <a:avLst/>
          </a:prstGeom>
          <a:noFill/>
        </p:spPr>
        <p:txBody>
          <a:bodyPr wrap="square" lIns="0" tIns="0" rIns="0" bIns="0" anchor="t">
            <a:spAutoFit/>
          </a:bodyPr>
          <a:lstStyle/>
          <a:p>
            <a:pPr algn="l"/>
            <a:r>
              <a:rPr sz="1200" b="0" i="0">
                <a:solidFill>
                  <a:srgbClr val="1A2333"/>
                </a:solidFill>
                <a:latin typeface="Calibri"/>
              </a:rPr>
              <a:t>US-01  Inloggen op Nexora</a:t>
            </a:r>
          </a:p>
        </p:txBody>
      </p:sp>
      <p:sp>
        <p:nvSpPr>
          <p:cNvPr id="21" name="TextBox 20"/>
          <p:cNvSpPr txBox="1"/>
          <p:nvPr/>
        </p:nvSpPr>
        <p:spPr>
          <a:xfrm>
            <a:off x="5852160" y="3090672"/>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22" name="TextBox 21"/>
          <p:cNvSpPr txBox="1"/>
          <p:nvPr/>
        </p:nvSpPr>
        <p:spPr>
          <a:xfrm>
            <a:off x="594360" y="3401568"/>
            <a:ext cx="5394960" cy="274320"/>
          </a:xfrm>
          <a:prstGeom prst="rect">
            <a:avLst/>
          </a:prstGeom>
          <a:noFill/>
        </p:spPr>
        <p:txBody>
          <a:bodyPr wrap="square" lIns="0" tIns="0" rIns="0" bIns="0" anchor="t">
            <a:spAutoFit/>
          </a:bodyPr>
          <a:lstStyle/>
          <a:p>
            <a:pPr algn="l"/>
            <a:r>
              <a:rPr sz="1200" b="0" i="0">
                <a:solidFill>
                  <a:srgbClr val="1A2333"/>
                </a:solidFill>
                <a:latin typeface="Calibri"/>
              </a:rPr>
              <a:t>US-02  Rolgebaseerde toegang</a:t>
            </a:r>
          </a:p>
        </p:txBody>
      </p:sp>
      <p:sp>
        <p:nvSpPr>
          <p:cNvPr id="23" name="TextBox 22"/>
          <p:cNvSpPr txBox="1"/>
          <p:nvPr/>
        </p:nvSpPr>
        <p:spPr>
          <a:xfrm>
            <a:off x="5852160" y="3401568"/>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24" name="TextBox 23"/>
          <p:cNvSpPr txBox="1"/>
          <p:nvPr/>
        </p:nvSpPr>
        <p:spPr>
          <a:xfrm>
            <a:off x="594360" y="3712464"/>
            <a:ext cx="5394960" cy="274320"/>
          </a:xfrm>
          <a:prstGeom prst="rect">
            <a:avLst/>
          </a:prstGeom>
          <a:noFill/>
        </p:spPr>
        <p:txBody>
          <a:bodyPr wrap="square" lIns="0" tIns="0" rIns="0" bIns="0" anchor="t">
            <a:spAutoFit/>
          </a:bodyPr>
          <a:lstStyle/>
          <a:p>
            <a:pPr algn="l"/>
            <a:r>
              <a:rPr sz="1200" b="0" i="0">
                <a:solidFill>
                  <a:srgbClr val="1A2333"/>
                </a:solidFill>
                <a:latin typeface="Calibri"/>
              </a:rPr>
              <a:t>US-03  Nieuwe zorgbegeleider aanmaken</a:t>
            </a:r>
          </a:p>
        </p:txBody>
      </p:sp>
      <p:sp>
        <p:nvSpPr>
          <p:cNvPr id="25" name="TextBox 24"/>
          <p:cNvSpPr txBox="1"/>
          <p:nvPr/>
        </p:nvSpPr>
        <p:spPr>
          <a:xfrm>
            <a:off x="5852160" y="3712464"/>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26" name="TextBox 25"/>
          <p:cNvSpPr txBox="1"/>
          <p:nvPr/>
        </p:nvSpPr>
        <p:spPr>
          <a:xfrm>
            <a:off x="594360" y="4023360"/>
            <a:ext cx="5394960" cy="274320"/>
          </a:xfrm>
          <a:prstGeom prst="rect">
            <a:avLst/>
          </a:prstGeom>
          <a:noFill/>
        </p:spPr>
        <p:txBody>
          <a:bodyPr wrap="square" lIns="0" tIns="0" rIns="0" bIns="0" anchor="t">
            <a:spAutoFit/>
          </a:bodyPr>
          <a:lstStyle/>
          <a:p>
            <a:pPr algn="l"/>
            <a:r>
              <a:rPr sz="1200" b="0" i="0">
                <a:solidFill>
                  <a:srgbClr val="1A2333"/>
                </a:solidFill>
                <a:latin typeface="Calibri"/>
              </a:rPr>
              <a:t>US-04  Medewerkersoverzicht (zoek + filter)</a:t>
            </a:r>
          </a:p>
        </p:txBody>
      </p:sp>
      <p:sp>
        <p:nvSpPr>
          <p:cNvPr id="27" name="TextBox 26"/>
          <p:cNvSpPr txBox="1"/>
          <p:nvPr/>
        </p:nvSpPr>
        <p:spPr>
          <a:xfrm>
            <a:off x="5852160" y="4023360"/>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28" name="Rectangle 27"/>
          <p:cNvSpPr/>
          <p:nvPr/>
        </p:nvSpPr>
        <p:spPr>
          <a:xfrm>
            <a:off x="457200" y="4297680"/>
            <a:ext cx="5669280"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4334256"/>
            <a:ext cx="5394960" cy="274320"/>
          </a:xfrm>
          <a:prstGeom prst="rect">
            <a:avLst/>
          </a:prstGeom>
          <a:noFill/>
        </p:spPr>
        <p:txBody>
          <a:bodyPr wrap="square" lIns="0" tIns="0" rIns="0" bIns="0" anchor="t">
            <a:spAutoFit/>
          </a:bodyPr>
          <a:lstStyle/>
          <a:p>
            <a:pPr algn="l"/>
            <a:r>
              <a:rPr sz="1100" b="1" i="0">
                <a:solidFill>
                  <a:srgbClr val="FFFFFF"/>
                </a:solidFill>
                <a:latin typeface="Calibri"/>
              </a:rPr>
              <a:t>Sprint 2 — Team compleet + cliënt basis</a:t>
            </a:r>
          </a:p>
        </p:txBody>
      </p:sp>
      <p:sp>
        <p:nvSpPr>
          <p:cNvPr id="30" name="TextBox 29"/>
          <p:cNvSpPr txBox="1"/>
          <p:nvPr/>
        </p:nvSpPr>
        <p:spPr>
          <a:xfrm>
            <a:off x="594360" y="4645152"/>
            <a:ext cx="5394960" cy="274320"/>
          </a:xfrm>
          <a:prstGeom prst="rect">
            <a:avLst/>
          </a:prstGeom>
          <a:noFill/>
        </p:spPr>
        <p:txBody>
          <a:bodyPr wrap="square" lIns="0" tIns="0" rIns="0" bIns="0" anchor="t">
            <a:spAutoFit/>
          </a:bodyPr>
          <a:lstStyle/>
          <a:p>
            <a:pPr algn="l"/>
            <a:r>
              <a:rPr sz="1200" b="0" i="0">
                <a:solidFill>
                  <a:srgbClr val="1A2333"/>
                </a:solidFill>
                <a:latin typeface="Calibri"/>
              </a:rPr>
              <a:t>US-05  Teamlid bewerken (rol + dienstverband)</a:t>
            </a:r>
          </a:p>
        </p:txBody>
      </p:sp>
      <p:sp>
        <p:nvSpPr>
          <p:cNvPr id="31" name="TextBox 30"/>
          <p:cNvSpPr txBox="1"/>
          <p:nvPr/>
        </p:nvSpPr>
        <p:spPr>
          <a:xfrm>
            <a:off x="5852160" y="4645152"/>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32" name="TextBox 31"/>
          <p:cNvSpPr txBox="1"/>
          <p:nvPr/>
        </p:nvSpPr>
        <p:spPr>
          <a:xfrm>
            <a:off x="594360" y="4956048"/>
            <a:ext cx="5394960" cy="274320"/>
          </a:xfrm>
          <a:prstGeom prst="rect">
            <a:avLst/>
          </a:prstGeom>
          <a:noFill/>
        </p:spPr>
        <p:txBody>
          <a:bodyPr wrap="square" lIns="0" tIns="0" rIns="0" bIns="0" anchor="t">
            <a:spAutoFit/>
          </a:bodyPr>
          <a:lstStyle/>
          <a:p>
            <a:pPr algn="l"/>
            <a:r>
              <a:rPr sz="1200" b="0" i="0">
                <a:solidFill>
                  <a:srgbClr val="1A2333"/>
                </a:solidFill>
                <a:latin typeface="Calibri"/>
              </a:rPr>
              <a:t>US-06  Teamlid deactiveren &amp; heractiveren</a:t>
            </a:r>
          </a:p>
        </p:txBody>
      </p:sp>
      <p:sp>
        <p:nvSpPr>
          <p:cNvPr id="33" name="TextBox 32"/>
          <p:cNvSpPr txBox="1"/>
          <p:nvPr/>
        </p:nvSpPr>
        <p:spPr>
          <a:xfrm>
            <a:off x="5852160" y="4956048"/>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34" name="TextBox 33"/>
          <p:cNvSpPr txBox="1"/>
          <p:nvPr/>
        </p:nvSpPr>
        <p:spPr>
          <a:xfrm>
            <a:off x="594360" y="5266944"/>
            <a:ext cx="5394960" cy="274320"/>
          </a:xfrm>
          <a:prstGeom prst="rect">
            <a:avLst/>
          </a:prstGeom>
          <a:noFill/>
        </p:spPr>
        <p:txBody>
          <a:bodyPr wrap="square" lIns="0" tIns="0" rIns="0" bIns="0" anchor="t">
            <a:spAutoFit/>
          </a:bodyPr>
          <a:lstStyle/>
          <a:p>
            <a:pPr algn="l"/>
            <a:r>
              <a:rPr sz="1200" b="0" i="0">
                <a:solidFill>
                  <a:srgbClr val="1A2333"/>
                </a:solidFill>
                <a:latin typeface="Calibri"/>
              </a:rPr>
              <a:t>US-07  Cliënt aanmaken met persoonsgegevens</a:t>
            </a:r>
          </a:p>
        </p:txBody>
      </p:sp>
      <p:sp>
        <p:nvSpPr>
          <p:cNvPr id="35" name="TextBox 34"/>
          <p:cNvSpPr txBox="1"/>
          <p:nvPr/>
        </p:nvSpPr>
        <p:spPr>
          <a:xfrm>
            <a:off x="5852160" y="5266944"/>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36" name="TextBox 35"/>
          <p:cNvSpPr txBox="1"/>
          <p:nvPr/>
        </p:nvSpPr>
        <p:spPr>
          <a:xfrm>
            <a:off x="594360" y="5577840"/>
            <a:ext cx="5394960" cy="274320"/>
          </a:xfrm>
          <a:prstGeom prst="rect">
            <a:avLst/>
          </a:prstGeom>
          <a:noFill/>
        </p:spPr>
        <p:txBody>
          <a:bodyPr wrap="square" lIns="0" tIns="0" rIns="0" bIns="0" anchor="t">
            <a:spAutoFit/>
          </a:bodyPr>
          <a:lstStyle/>
          <a:p>
            <a:pPr algn="l"/>
            <a:r>
              <a:rPr sz="1200" b="0" i="0">
                <a:solidFill>
                  <a:srgbClr val="1A2333"/>
                </a:solidFill>
                <a:latin typeface="Calibri"/>
              </a:rPr>
              <a:t>US-08  Cliënten koppelen aan begeleiders</a:t>
            </a:r>
          </a:p>
        </p:txBody>
      </p:sp>
      <p:sp>
        <p:nvSpPr>
          <p:cNvPr id="37" name="TextBox 36"/>
          <p:cNvSpPr txBox="1"/>
          <p:nvPr/>
        </p:nvSpPr>
        <p:spPr>
          <a:xfrm>
            <a:off x="5852160" y="5577840"/>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38" name="Rectangle 37"/>
          <p:cNvSpPr/>
          <p:nvPr/>
        </p:nvSpPr>
        <p:spPr>
          <a:xfrm>
            <a:off x="6263640" y="2743200"/>
            <a:ext cx="5669280"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0" y="2779776"/>
            <a:ext cx="5394960" cy="274320"/>
          </a:xfrm>
          <a:prstGeom prst="rect">
            <a:avLst/>
          </a:prstGeom>
          <a:noFill/>
        </p:spPr>
        <p:txBody>
          <a:bodyPr wrap="square" lIns="0" tIns="0" rIns="0" bIns="0" anchor="t">
            <a:spAutoFit/>
          </a:bodyPr>
          <a:lstStyle/>
          <a:p>
            <a:pPr algn="l"/>
            <a:r>
              <a:rPr sz="1100" b="1" i="0">
                <a:solidFill>
                  <a:srgbClr val="FFFFFF"/>
                </a:solidFill>
                <a:latin typeface="Calibri"/>
              </a:rPr>
              <a:t>Sprint 3 — Cliënt compleet + uren basis</a:t>
            </a:r>
          </a:p>
        </p:txBody>
      </p:sp>
      <p:sp>
        <p:nvSpPr>
          <p:cNvPr id="40" name="TextBox 39"/>
          <p:cNvSpPr txBox="1"/>
          <p:nvPr/>
        </p:nvSpPr>
        <p:spPr>
          <a:xfrm>
            <a:off x="6400800" y="3090672"/>
            <a:ext cx="5394960" cy="274320"/>
          </a:xfrm>
          <a:prstGeom prst="rect">
            <a:avLst/>
          </a:prstGeom>
          <a:noFill/>
        </p:spPr>
        <p:txBody>
          <a:bodyPr wrap="square" lIns="0" tIns="0" rIns="0" bIns="0" anchor="t">
            <a:spAutoFit/>
          </a:bodyPr>
          <a:lstStyle/>
          <a:p>
            <a:pPr algn="l"/>
            <a:r>
              <a:rPr sz="1200" b="0" i="0">
                <a:solidFill>
                  <a:srgbClr val="1A2333"/>
                </a:solidFill>
                <a:latin typeface="Calibri"/>
              </a:rPr>
              <a:t>US-09  Cliëntenoverzicht rol-gebaseerd</a:t>
            </a:r>
          </a:p>
        </p:txBody>
      </p:sp>
      <p:sp>
        <p:nvSpPr>
          <p:cNvPr id="41" name="TextBox 40"/>
          <p:cNvSpPr txBox="1"/>
          <p:nvPr/>
        </p:nvSpPr>
        <p:spPr>
          <a:xfrm>
            <a:off x="11658600" y="3090672"/>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42" name="TextBox 41"/>
          <p:cNvSpPr txBox="1"/>
          <p:nvPr/>
        </p:nvSpPr>
        <p:spPr>
          <a:xfrm>
            <a:off x="6400800" y="3401568"/>
            <a:ext cx="5394960" cy="274320"/>
          </a:xfrm>
          <a:prstGeom prst="rect">
            <a:avLst/>
          </a:prstGeom>
          <a:noFill/>
        </p:spPr>
        <p:txBody>
          <a:bodyPr wrap="square" lIns="0" tIns="0" rIns="0" bIns="0" anchor="t">
            <a:spAutoFit/>
          </a:bodyPr>
          <a:lstStyle/>
          <a:p>
            <a:pPr algn="l"/>
            <a:r>
              <a:rPr sz="1200" b="0" i="0">
                <a:solidFill>
                  <a:srgbClr val="1A2333"/>
                </a:solidFill>
                <a:latin typeface="Calibri"/>
              </a:rPr>
              <a:t>US-10  Cliënt bewerken &amp; archiveren</a:t>
            </a:r>
          </a:p>
        </p:txBody>
      </p:sp>
      <p:sp>
        <p:nvSpPr>
          <p:cNvPr id="43" name="TextBox 42"/>
          <p:cNvSpPr txBox="1"/>
          <p:nvPr/>
        </p:nvSpPr>
        <p:spPr>
          <a:xfrm>
            <a:off x="11658600" y="3401568"/>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44" name="TextBox 43"/>
          <p:cNvSpPr txBox="1"/>
          <p:nvPr/>
        </p:nvSpPr>
        <p:spPr>
          <a:xfrm>
            <a:off x="6400800" y="3712464"/>
            <a:ext cx="5394960" cy="274320"/>
          </a:xfrm>
          <a:prstGeom prst="rect">
            <a:avLst/>
          </a:prstGeom>
          <a:noFill/>
        </p:spPr>
        <p:txBody>
          <a:bodyPr wrap="square" lIns="0" tIns="0" rIns="0" bIns="0" anchor="t">
            <a:spAutoFit/>
          </a:bodyPr>
          <a:lstStyle/>
          <a:p>
            <a:pPr algn="l"/>
            <a:r>
              <a:rPr sz="1200" b="0" i="0">
                <a:solidFill>
                  <a:srgbClr val="1A2333"/>
                </a:solidFill>
                <a:latin typeface="Calibri"/>
              </a:rPr>
              <a:t>US-11  Concept-uren aanmaken &amp; bewerken</a:t>
            </a:r>
          </a:p>
        </p:txBody>
      </p:sp>
      <p:sp>
        <p:nvSpPr>
          <p:cNvPr id="45" name="TextBox 44"/>
          <p:cNvSpPr txBox="1"/>
          <p:nvPr/>
        </p:nvSpPr>
        <p:spPr>
          <a:xfrm>
            <a:off x="11658600" y="3712464"/>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46" name="TextBox 45"/>
          <p:cNvSpPr txBox="1"/>
          <p:nvPr/>
        </p:nvSpPr>
        <p:spPr>
          <a:xfrm>
            <a:off x="6400800" y="4023360"/>
            <a:ext cx="5394960" cy="274320"/>
          </a:xfrm>
          <a:prstGeom prst="rect">
            <a:avLst/>
          </a:prstGeom>
          <a:noFill/>
        </p:spPr>
        <p:txBody>
          <a:bodyPr wrap="square" lIns="0" tIns="0" rIns="0" bIns="0" anchor="t">
            <a:spAutoFit/>
          </a:bodyPr>
          <a:lstStyle/>
          <a:p>
            <a:pPr algn="l"/>
            <a:r>
              <a:rPr sz="1200" b="0" i="0">
                <a:solidFill>
                  <a:srgbClr val="1A2333"/>
                </a:solidFill>
                <a:latin typeface="Calibri"/>
              </a:rPr>
              <a:t>US-12  Uren indienen &amp; terugtrekken</a:t>
            </a:r>
          </a:p>
        </p:txBody>
      </p:sp>
      <p:sp>
        <p:nvSpPr>
          <p:cNvPr id="47" name="TextBox 46"/>
          <p:cNvSpPr txBox="1"/>
          <p:nvPr/>
        </p:nvSpPr>
        <p:spPr>
          <a:xfrm>
            <a:off x="11658600" y="4023360"/>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48" name="Rectangle 47"/>
          <p:cNvSpPr/>
          <p:nvPr/>
        </p:nvSpPr>
        <p:spPr>
          <a:xfrm>
            <a:off x="6263640" y="4297680"/>
            <a:ext cx="5669280" cy="310896"/>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00800" y="4334256"/>
            <a:ext cx="5394960" cy="274320"/>
          </a:xfrm>
          <a:prstGeom prst="rect">
            <a:avLst/>
          </a:prstGeom>
          <a:noFill/>
        </p:spPr>
        <p:txBody>
          <a:bodyPr wrap="square" lIns="0" tIns="0" rIns="0" bIns="0" anchor="t">
            <a:spAutoFit/>
          </a:bodyPr>
          <a:lstStyle/>
          <a:p>
            <a:pPr algn="l"/>
            <a:r>
              <a:rPr sz="1100" b="1" i="0">
                <a:solidFill>
                  <a:srgbClr val="FFFFFF"/>
                </a:solidFill>
                <a:latin typeface="Calibri"/>
              </a:rPr>
              <a:t>Sprint 4 — Uren compleet + auth afronding</a:t>
            </a:r>
          </a:p>
        </p:txBody>
      </p:sp>
      <p:sp>
        <p:nvSpPr>
          <p:cNvPr id="50" name="TextBox 49"/>
          <p:cNvSpPr txBox="1"/>
          <p:nvPr/>
        </p:nvSpPr>
        <p:spPr>
          <a:xfrm>
            <a:off x="6400800" y="4645152"/>
            <a:ext cx="5394960" cy="274320"/>
          </a:xfrm>
          <a:prstGeom prst="rect">
            <a:avLst/>
          </a:prstGeom>
          <a:noFill/>
        </p:spPr>
        <p:txBody>
          <a:bodyPr wrap="square" lIns="0" tIns="0" rIns="0" bIns="0" anchor="t">
            <a:spAutoFit/>
          </a:bodyPr>
          <a:lstStyle/>
          <a:p>
            <a:pPr algn="l"/>
            <a:r>
              <a:rPr sz="1200" b="0" i="0">
                <a:solidFill>
                  <a:srgbClr val="1A2333"/>
                </a:solidFill>
                <a:latin typeface="Calibri"/>
              </a:rPr>
              <a:t>US-13  Uren goedkeuren of afkeuren</a:t>
            </a:r>
          </a:p>
        </p:txBody>
      </p:sp>
      <p:sp>
        <p:nvSpPr>
          <p:cNvPr id="51" name="TextBox 50"/>
          <p:cNvSpPr txBox="1"/>
          <p:nvPr/>
        </p:nvSpPr>
        <p:spPr>
          <a:xfrm>
            <a:off x="11658600" y="4645152"/>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52" name="TextBox 51"/>
          <p:cNvSpPr txBox="1"/>
          <p:nvPr/>
        </p:nvSpPr>
        <p:spPr>
          <a:xfrm>
            <a:off x="6400800" y="4956048"/>
            <a:ext cx="5394960" cy="274320"/>
          </a:xfrm>
          <a:prstGeom prst="rect">
            <a:avLst/>
          </a:prstGeom>
          <a:noFill/>
        </p:spPr>
        <p:txBody>
          <a:bodyPr wrap="square" lIns="0" tIns="0" rIns="0" bIns="0" anchor="t">
            <a:spAutoFit/>
          </a:bodyPr>
          <a:lstStyle/>
          <a:p>
            <a:pPr algn="l"/>
            <a:r>
              <a:rPr sz="1200" b="0" i="0">
                <a:solidFill>
                  <a:srgbClr val="1A2333"/>
                </a:solidFill>
                <a:latin typeface="Calibri"/>
              </a:rPr>
              <a:t>US-14  Urenoverzicht met filters</a:t>
            </a:r>
          </a:p>
        </p:txBody>
      </p:sp>
      <p:sp>
        <p:nvSpPr>
          <p:cNvPr id="53" name="TextBox 52"/>
          <p:cNvSpPr txBox="1"/>
          <p:nvPr/>
        </p:nvSpPr>
        <p:spPr>
          <a:xfrm>
            <a:off x="11658600" y="4956048"/>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54" name="TextBox 53"/>
          <p:cNvSpPr txBox="1"/>
          <p:nvPr/>
        </p:nvSpPr>
        <p:spPr>
          <a:xfrm>
            <a:off x="6400800" y="5266944"/>
            <a:ext cx="5394960" cy="274320"/>
          </a:xfrm>
          <a:prstGeom prst="rect">
            <a:avLst/>
          </a:prstGeom>
          <a:noFill/>
        </p:spPr>
        <p:txBody>
          <a:bodyPr wrap="square" lIns="0" tIns="0" rIns="0" bIns="0" anchor="t">
            <a:spAutoFit/>
          </a:bodyPr>
          <a:lstStyle/>
          <a:p>
            <a:pPr algn="l"/>
            <a:r>
              <a:rPr sz="1200" b="0" i="0">
                <a:solidFill>
                  <a:srgbClr val="1A2333"/>
                </a:solidFill>
                <a:latin typeface="Calibri"/>
              </a:rPr>
              <a:t>US-15  Wachtwoord vergeten &amp; reset</a:t>
            </a:r>
          </a:p>
        </p:txBody>
      </p:sp>
      <p:sp>
        <p:nvSpPr>
          <p:cNvPr id="55" name="TextBox 54"/>
          <p:cNvSpPr txBox="1"/>
          <p:nvPr/>
        </p:nvSpPr>
        <p:spPr>
          <a:xfrm>
            <a:off x="11658600" y="5266944"/>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56" name="TextBox 55"/>
          <p:cNvSpPr txBox="1"/>
          <p:nvPr/>
        </p:nvSpPr>
        <p:spPr>
          <a:xfrm>
            <a:off x="6400800" y="5577840"/>
            <a:ext cx="5394960" cy="274320"/>
          </a:xfrm>
          <a:prstGeom prst="rect">
            <a:avLst/>
          </a:prstGeom>
          <a:noFill/>
        </p:spPr>
        <p:txBody>
          <a:bodyPr wrap="square" lIns="0" tIns="0" rIns="0" bIns="0" anchor="t">
            <a:spAutoFit/>
          </a:bodyPr>
          <a:lstStyle/>
          <a:p>
            <a:pPr algn="l"/>
            <a:r>
              <a:rPr sz="1200" b="0" i="0">
                <a:solidFill>
                  <a:srgbClr val="1A2333"/>
                </a:solidFill>
                <a:latin typeface="Calibri"/>
              </a:rPr>
              <a:t>US-16  Profielbeheer</a:t>
            </a:r>
          </a:p>
        </p:txBody>
      </p:sp>
      <p:sp>
        <p:nvSpPr>
          <p:cNvPr id="57" name="TextBox 56"/>
          <p:cNvSpPr txBox="1"/>
          <p:nvPr/>
        </p:nvSpPr>
        <p:spPr>
          <a:xfrm>
            <a:off x="11658600" y="5577840"/>
            <a:ext cx="274320" cy="274320"/>
          </a:xfrm>
          <a:prstGeom prst="rect">
            <a:avLst/>
          </a:prstGeom>
          <a:noFill/>
        </p:spPr>
        <p:txBody>
          <a:bodyPr wrap="square" lIns="0" tIns="0" rIns="0" bIns="0" anchor="t">
            <a:spAutoFit/>
          </a:bodyPr>
          <a:lstStyle/>
          <a:p>
            <a:pPr algn="r"/>
            <a:r>
              <a:rPr sz="1400" b="1" i="0">
                <a:solidFill>
                  <a:srgbClr val="2D7A3F"/>
                </a:solidFill>
                <a:latin typeface="Calibri"/>
              </a:rPr>
              <a:t>✓</a:t>
            </a:r>
          </a:p>
        </p:txBody>
      </p:sp>
      <p:sp>
        <p:nvSpPr>
          <p:cNvPr id="58" name="TextBox 57"/>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59" name="TextBox 58"/>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8 / 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B1 · ANALYSEREN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Architectuur — ERD en workflow</a:t>
            </a:r>
          </a:p>
        </p:txBody>
      </p:sp>
      <p:sp>
        <p:nvSpPr>
          <p:cNvPr id="6" name="Rectangle 5"/>
          <p:cNvSpPr/>
          <p:nvPr/>
        </p:nvSpPr>
        <p:spPr>
          <a:xfrm>
            <a:off x="457200" y="1691640"/>
            <a:ext cx="5669280" cy="3657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737360"/>
            <a:ext cx="5486400" cy="274320"/>
          </a:xfrm>
          <a:prstGeom prst="rect">
            <a:avLst/>
          </a:prstGeom>
          <a:noFill/>
        </p:spPr>
        <p:txBody>
          <a:bodyPr wrap="square" lIns="0" tIns="0" rIns="0" bIns="0" anchor="t">
            <a:spAutoFit/>
          </a:bodyPr>
          <a:lstStyle/>
          <a:p>
            <a:pPr algn="l"/>
            <a:r>
              <a:rPr sz="1200" b="1" i="0">
                <a:solidFill>
                  <a:srgbClr val="FFFFFF"/>
                </a:solidFill>
                <a:latin typeface="Calibri"/>
              </a:rPr>
              <a:t>DATAMODEL  ·  ERD</a:t>
            </a:r>
          </a:p>
        </p:txBody>
      </p:sp>
      <p:pic>
        <p:nvPicPr>
          <p:cNvPr id="8" name="Picture 7" descr="erd.png"/>
          <p:cNvPicPr>
            <a:picLocks noChangeAspect="1"/>
          </p:cNvPicPr>
          <p:nvPr/>
        </p:nvPicPr>
        <p:blipFill>
          <a:blip r:embed="rId3"/>
          <a:stretch>
            <a:fillRect/>
          </a:stretch>
        </p:blipFill>
        <p:spPr>
          <a:xfrm>
            <a:off x="457200" y="2103120"/>
            <a:ext cx="5669280" cy="3931920"/>
          </a:xfrm>
          <a:prstGeom prst="rect">
            <a:avLst/>
          </a:prstGeom>
        </p:spPr>
      </p:pic>
      <p:sp>
        <p:nvSpPr>
          <p:cNvPr id="9" name="TextBox 8"/>
          <p:cNvSpPr txBox="1"/>
          <p:nvPr/>
        </p:nvSpPr>
        <p:spPr>
          <a:xfrm>
            <a:off x="457200" y="6080760"/>
            <a:ext cx="5669280" cy="274320"/>
          </a:xfrm>
          <a:prstGeom prst="rect">
            <a:avLst/>
          </a:prstGeom>
          <a:noFill/>
        </p:spPr>
        <p:txBody>
          <a:bodyPr wrap="square" lIns="0" tIns="0" rIns="0" bIns="0" anchor="t">
            <a:spAutoFit/>
          </a:bodyPr>
          <a:lstStyle/>
          <a:p>
            <a:pPr algn="ctr"/>
            <a:r>
              <a:rPr sz="1000" b="0" i="1">
                <a:solidFill>
                  <a:srgbClr val="5A6C7D"/>
                </a:solidFill>
                <a:latin typeface="Calibri"/>
              </a:rPr>
              <a:t>5 hoofdtabellen: users · clients · client_caregivers · urenregistratie · audit_logs</a:t>
            </a:r>
          </a:p>
        </p:txBody>
      </p:sp>
      <p:sp>
        <p:nvSpPr>
          <p:cNvPr id="10" name="Rectangle 9"/>
          <p:cNvSpPr/>
          <p:nvPr/>
        </p:nvSpPr>
        <p:spPr>
          <a:xfrm>
            <a:off x="6355080" y="1691640"/>
            <a:ext cx="5486400"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737360"/>
            <a:ext cx="5303520" cy="274320"/>
          </a:xfrm>
          <a:prstGeom prst="rect">
            <a:avLst/>
          </a:prstGeom>
          <a:noFill/>
        </p:spPr>
        <p:txBody>
          <a:bodyPr wrap="square" lIns="0" tIns="0" rIns="0" bIns="0" anchor="t">
            <a:spAutoFit/>
          </a:bodyPr>
          <a:lstStyle/>
          <a:p>
            <a:pPr algn="l"/>
            <a:r>
              <a:rPr sz="1200" b="1" i="0">
                <a:solidFill>
                  <a:srgbClr val="FFFFFF"/>
                </a:solidFill>
                <a:latin typeface="Calibri"/>
              </a:rPr>
              <a:t>PROCES  ·  URENREGISTRATIE-FLOW</a:t>
            </a:r>
          </a:p>
        </p:txBody>
      </p:sp>
      <p:pic>
        <p:nvPicPr>
          <p:cNvPr id="12" name="Picture 11" descr="urenregistratie-workflow.png"/>
          <p:cNvPicPr>
            <a:picLocks noChangeAspect="1"/>
          </p:cNvPicPr>
          <p:nvPr/>
        </p:nvPicPr>
        <p:blipFill>
          <a:blip r:embed="rId4"/>
          <a:stretch>
            <a:fillRect/>
          </a:stretch>
        </p:blipFill>
        <p:spPr>
          <a:xfrm>
            <a:off x="6355080" y="2103120"/>
            <a:ext cx="5486400" cy="3931920"/>
          </a:xfrm>
          <a:prstGeom prst="rect">
            <a:avLst/>
          </a:prstGeom>
        </p:spPr>
      </p:pic>
      <p:sp>
        <p:nvSpPr>
          <p:cNvPr id="13" name="TextBox 12"/>
          <p:cNvSpPr txBox="1"/>
          <p:nvPr/>
        </p:nvSpPr>
        <p:spPr>
          <a:xfrm>
            <a:off x="6355080" y="6080760"/>
            <a:ext cx="5486400" cy="274320"/>
          </a:xfrm>
          <a:prstGeom prst="rect">
            <a:avLst/>
          </a:prstGeom>
          <a:noFill/>
        </p:spPr>
        <p:txBody>
          <a:bodyPr wrap="square" lIns="0" tIns="0" rIns="0" bIns="0" anchor="t">
            <a:spAutoFit/>
          </a:bodyPr>
          <a:lstStyle/>
          <a:p>
            <a:pPr algn="ctr"/>
            <a:r>
              <a:rPr sz="1000" b="0" i="1">
                <a:solidFill>
                  <a:srgbClr val="5A6C7D"/>
                </a:solidFill>
                <a:latin typeface="Calibri"/>
              </a:rPr>
              <a:t>Concept → Ingediend → Goedgekeurd of Afgekeurd (US-11 t/m US-13)</a:t>
            </a:r>
          </a:p>
        </p:txBody>
      </p:sp>
      <p:sp>
        <p:nvSpPr>
          <p:cNvPr id="14" name="TextBox 13"/>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15" name="TextBox 14"/>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9 / 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B1 · ANALYSEREN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Wireframes &amp; sprint-aanpak</a:t>
            </a:r>
          </a:p>
        </p:txBody>
      </p:sp>
      <p:sp>
        <p:nvSpPr>
          <p:cNvPr id="6" name="Rectangle 5"/>
          <p:cNvSpPr/>
          <p:nvPr/>
        </p:nvSpPr>
        <p:spPr>
          <a:xfrm>
            <a:off x="457200" y="1691640"/>
            <a:ext cx="3657600" cy="3200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737360"/>
            <a:ext cx="3474720" cy="228600"/>
          </a:xfrm>
          <a:prstGeom prst="rect">
            <a:avLst/>
          </a:prstGeom>
          <a:noFill/>
        </p:spPr>
        <p:txBody>
          <a:bodyPr wrap="square" lIns="0" tIns="0" rIns="0" bIns="0" anchor="t">
            <a:spAutoFit/>
          </a:bodyPr>
          <a:lstStyle/>
          <a:p>
            <a:pPr algn="l"/>
            <a:r>
              <a:rPr sz="1100" b="1" i="0">
                <a:solidFill>
                  <a:srgbClr val="FFFFFF"/>
                </a:solidFill>
                <a:latin typeface="Calibri"/>
              </a:rPr>
              <a:t>Wireframe — login (US-01)</a:t>
            </a:r>
          </a:p>
        </p:txBody>
      </p:sp>
      <p:pic>
        <p:nvPicPr>
          <p:cNvPr id="8" name="Picture 7" descr="01-login-us-01.png"/>
          <p:cNvPicPr>
            <a:picLocks noChangeAspect="1"/>
          </p:cNvPicPr>
          <p:nvPr/>
        </p:nvPicPr>
        <p:blipFill>
          <a:blip r:embed="rId3"/>
          <a:stretch>
            <a:fillRect/>
          </a:stretch>
        </p:blipFill>
        <p:spPr>
          <a:xfrm>
            <a:off x="457200" y="2057400"/>
            <a:ext cx="3657600" cy="2194560"/>
          </a:xfrm>
          <a:prstGeom prst="rect">
            <a:avLst/>
          </a:prstGeom>
        </p:spPr>
      </p:pic>
      <p:sp>
        <p:nvSpPr>
          <p:cNvPr id="9" name="Rectangle 8"/>
          <p:cNvSpPr/>
          <p:nvPr/>
        </p:nvSpPr>
        <p:spPr>
          <a:xfrm>
            <a:off x="457200" y="4343400"/>
            <a:ext cx="3657600" cy="3200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389120"/>
            <a:ext cx="3474720" cy="228600"/>
          </a:xfrm>
          <a:prstGeom prst="rect">
            <a:avLst/>
          </a:prstGeom>
          <a:noFill/>
        </p:spPr>
        <p:txBody>
          <a:bodyPr wrap="square" lIns="0" tIns="0" rIns="0" bIns="0" anchor="t">
            <a:spAutoFit/>
          </a:bodyPr>
          <a:lstStyle/>
          <a:p>
            <a:pPr algn="l"/>
            <a:r>
              <a:rPr sz="1100" b="1" i="0">
                <a:solidFill>
                  <a:srgbClr val="FFFFFF"/>
                </a:solidFill>
                <a:latin typeface="Calibri"/>
              </a:rPr>
              <a:t>Wireframe — dashboard zorgbegeleider</a:t>
            </a:r>
          </a:p>
        </p:txBody>
      </p:sp>
      <p:pic>
        <p:nvPicPr>
          <p:cNvPr id="11" name="Picture 10" descr="04-dashboard-zorgbegeleider-us-04.png"/>
          <p:cNvPicPr>
            <a:picLocks noChangeAspect="1"/>
          </p:cNvPicPr>
          <p:nvPr/>
        </p:nvPicPr>
        <p:blipFill>
          <a:blip r:embed="rId4"/>
          <a:stretch>
            <a:fillRect/>
          </a:stretch>
        </p:blipFill>
        <p:spPr>
          <a:xfrm>
            <a:off x="457200" y="4709160"/>
            <a:ext cx="3657600" cy="1691640"/>
          </a:xfrm>
          <a:prstGeom prst="rect">
            <a:avLst/>
          </a:prstGeom>
        </p:spPr>
      </p:pic>
      <p:sp>
        <p:nvSpPr>
          <p:cNvPr id="12" name="TextBox 11"/>
          <p:cNvSpPr txBox="1"/>
          <p:nvPr/>
        </p:nvSpPr>
        <p:spPr>
          <a:xfrm>
            <a:off x="4434840" y="1691640"/>
            <a:ext cx="7315200" cy="365760"/>
          </a:xfrm>
          <a:prstGeom prst="rect">
            <a:avLst/>
          </a:prstGeom>
          <a:noFill/>
        </p:spPr>
        <p:txBody>
          <a:bodyPr wrap="square" lIns="0" tIns="0" rIns="0" bIns="0" anchor="t">
            <a:spAutoFit/>
          </a:bodyPr>
          <a:lstStyle/>
          <a:p>
            <a:pPr algn="l"/>
            <a:r>
              <a:rPr sz="1100" b="1" i="0">
                <a:solidFill>
                  <a:srgbClr val="028090"/>
                </a:solidFill>
                <a:latin typeface="Calibri"/>
              </a:rPr>
              <a:t>SPRINT-WORKFLOW (per user story)</a:t>
            </a:r>
          </a:p>
        </p:txBody>
      </p:sp>
      <p:sp>
        <p:nvSpPr>
          <p:cNvPr id="13" name="Rounded Rectangle 12"/>
          <p:cNvSpPr/>
          <p:nvPr/>
        </p:nvSpPr>
        <p:spPr>
          <a:xfrm>
            <a:off x="4434840" y="2103120"/>
            <a:ext cx="50292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4840" y="2148840"/>
            <a:ext cx="502920" cy="365760"/>
          </a:xfrm>
          <a:prstGeom prst="rect">
            <a:avLst/>
          </a:prstGeom>
          <a:noFill/>
        </p:spPr>
        <p:txBody>
          <a:bodyPr wrap="square" lIns="0" tIns="0" rIns="0" bIns="0" anchor="t">
            <a:spAutoFit/>
          </a:bodyPr>
          <a:lstStyle/>
          <a:p>
            <a:pPr algn="ctr"/>
            <a:r>
              <a:rPr sz="1400" b="1" i="0">
                <a:solidFill>
                  <a:srgbClr val="FFFFFF"/>
                </a:solidFill>
                <a:latin typeface="Calibri"/>
              </a:rPr>
              <a:t>01</a:t>
            </a:r>
          </a:p>
        </p:txBody>
      </p:sp>
      <p:sp>
        <p:nvSpPr>
          <p:cNvPr id="15" name="TextBox 14"/>
          <p:cNvSpPr txBox="1"/>
          <p:nvPr/>
        </p:nvSpPr>
        <p:spPr>
          <a:xfrm>
            <a:off x="5074920" y="2176272"/>
            <a:ext cx="6675120" cy="365760"/>
          </a:xfrm>
          <a:prstGeom prst="rect">
            <a:avLst/>
          </a:prstGeom>
          <a:noFill/>
        </p:spPr>
        <p:txBody>
          <a:bodyPr wrap="square" lIns="0" tIns="0" rIns="0" bIns="0" anchor="t">
            <a:spAutoFit/>
          </a:bodyPr>
          <a:lstStyle/>
          <a:p>
            <a:pPr algn="l"/>
            <a:r>
              <a:rPr sz="1200" b="0" i="0">
                <a:solidFill>
                  <a:srgbClr val="1A2333"/>
                </a:solidFill>
                <a:latin typeface="Calibri"/>
              </a:rPr>
              <a:t>Sprint-planning — 4 US uit backlog naar sprint</a:t>
            </a:r>
          </a:p>
        </p:txBody>
      </p:sp>
      <p:sp>
        <p:nvSpPr>
          <p:cNvPr id="16" name="Rounded Rectangle 15"/>
          <p:cNvSpPr/>
          <p:nvPr/>
        </p:nvSpPr>
        <p:spPr>
          <a:xfrm>
            <a:off x="4434840" y="2606040"/>
            <a:ext cx="50292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2651760"/>
            <a:ext cx="502920" cy="365760"/>
          </a:xfrm>
          <a:prstGeom prst="rect">
            <a:avLst/>
          </a:prstGeom>
          <a:noFill/>
        </p:spPr>
        <p:txBody>
          <a:bodyPr wrap="square" lIns="0" tIns="0" rIns="0" bIns="0" anchor="t">
            <a:spAutoFit/>
          </a:bodyPr>
          <a:lstStyle/>
          <a:p>
            <a:pPr algn="ctr"/>
            <a:r>
              <a:rPr sz="1400" b="1" i="0">
                <a:solidFill>
                  <a:srgbClr val="FFFFFF"/>
                </a:solidFill>
                <a:latin typeface="Calibri"/>
              </a:rPr>
              <a:t>02</a:t>
            </a:r>
          </a:p>
        </p:txBody>
      </p:sp>
      <p:sp>
        <p:nvSpPr>
          <p:cNvPr id="18" name="TextBox 17"/>
          <p:cNvSpPr txBox="1"/>
          <p:nvPr/>
        </p:nvSpPr>
        <p:spPr>
          <a:xfrm>
            <a:off x="5074920" y="2679192"/>
            <a:ext cx="6675120" cy="365760"/>
          </a:xfrm>
          <a:prstGeom prst="rect">
            <a:avLst/>
          </a:prstGeom>
          <a:noFill/>
        </p:spPr>
        <p:txBody>
          <a:bodyPr wrap="square" lIns="0" tIns="0" rIns="0" bIns="0" anchor="t">
            <a:spAutoFit/>
          </a:bodyPr>
          <a:lstStyle/>
          <a:p>
            <a:pPr algn="l"/>
            <a:r>
              <a:rPr sz="1200" b="0" i="0">
                <a:solidFill>
                  <a:srgbClr val="1A2333"/>
                </a:solidFill>
                <a:latin typeface="Calibri"/>
              </a:rPr>
              <a:t>Feature-branch — `feature/us0X-naam`</a:t>
            </a:r>
          </a:p>
        </p:txBody>
      </p:sp>
      <p:sp>
        <p:nvSpPr>
          <p:cNvPr id="19" name="Rounded Rectangle 18"/>
          <p:cNvSpPr/>
          <p:nvPr/>
        </p:nvSpPr>
        <p:spPr>
          <a:xfrm>
            <a:off x="4434840" y="3108960"/>
            <a:ext cx="50292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34840" y="3154680"/>
            <a:ext cx="502920" cy="365760"/>
          </a:xfrm>
          <a:prstGeom prst="rect">
            <a:avLst/>
          </a:prstGeom>
          <a:noFill/>
        </p:spPr>
        <p:txBody>
          <a:bodyPr wrap="square" lIns="0" tIns="0" rIns="0" bIns="0" anchor="t">
            <a:spAutoFit/>
          </a:bodyPr>
          <a:lstStyle/>
          <a:p>
            <a:pPr algn="ctr"/>
            <a:r>
              <a:rPr sz="1400" b="1" i="0">
                <a:solidFill>
                  <a:srgbClr val="FFFFFF"/>
                </a:solidFill>
                <a:latin typeface="Calibri"/>
              </a:rPr>
              <a:t>03</a:t>
            </a:r>
          </a:p>
        </p:txBody>
      </p:sp>
      <p:sp>
        <p:nvSpPr>
          <p:cNvPr id="21" name="TextBox 20"/>
          <p:cNvSpPr txBox="1"/>
          <p:nvPr/>
        </p:nvSpPr>
        <p:spPr>
          <a:xfrm>
            <a:off x="5074920" y="3182112"/>
            <a:ext cx="6675120" cy="365760"/>
          </a:xfrm>
          <a:prstGeom prst="rect">
            <a:avLst/>
          </a:prstGeom>
          <a:noFill/>
        </p:spPr>
        <p:txBody>
          <a:bodyPr wrap="square" lIns="0" tIns="0" rIns="0" bIns="0" anchor="t">
            <a:spAutoFit/>
          </a:bodyPr>
          <a:lstStyle/>
          <a:p>
            <a:pPr algn="l"/>
            <a:r>
              <a:rPr sz="1200" b="0" i="0">
                <a:solidFill>
                  <a:srgbClr val="1A2333"/>
                </a:solidFill>
                <a:latin typeface="Calibri"/>
              </a:rPr>
              <a:t>Code + Pest — TDD + handmatig testen</a:t>
            </a:r>
          </a:p>
        </p:txBody>
      </p:sp>
      <p:sp>
        <p:nvSpPr>
          <p:cNvPr id="22" name="Rounded Rectangle 21"/>
          <p:cNvSpPr/>
          <p:nvPr/>
        </p:nvSpPr>
        <p:spPr>
          <a:xfrm>
            <a:off x="4434840" y="3611880"/>
            <a:ext cx="50292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4840" y="3657600"/>
            <a:ext cx="502920" cy="365760"/>
          </a:xfrm>
          <a:prstGeom prst="rect">
            <a:avLst/>
          </a:prstGeom>
          <a:noFill/>
        </p:spPr>
        <p:txBody>
          <a:bodyPr wrap="square" lIns="0" tIns="0" rIns="0" bIns="0" anchor="t">
            <a:spAutoFit/>
          </a:bodyPr>
          <a:lstStyle/>
          <a:p>
            <a:pPr algn="ctr"/>
            <a:r>
              <a:rPr sz="1400" b="1" i="0">
                <a:solidFill>
                  <a:srgbClr val="FFFFFF"/>
                </a:solidFill>
                <a:latin typeface="Calibri"/>
              </a:rPr>
              <a:t>04</a:t>
            </a:r>
          </a:p>
        </p:txBody>
      </p:sp>
      <p:sp>
        <p:nvSpPr>
          <p:cNvPr id="24" name="TextBox 23"/>
          <p:cNvSpPr txBox="1"/>
          <p:nvPr/>
        </p:nvSpPr>
        <p:spPr>
          <a:xfrm>
            <a:off x="5074920" y="3685032"/>
            <a:ext cx="6675120" cy="365760"/>
          </a:xfrm>
          <a:prstGeom prst="rect">
            <a:avLst/>
          </a:prstGeom>
          <a:noFill/>
        </p:spPr>
        <p:txBody>
          <a:bodyPr wrap="square" lIns="0" tIns="0" rIns="0" bIns="0" anchor="t">
            <a:spAutoFit/>
          </a:bodyPr>
          <a:lstStyle/>
          <a:p>
            <a:pPr algn="l"/>
            <a:r>
              <a:rPr sz="1200" b="0" i="0">
                <a:solidFill>
                  <a:srgbClr val="1A2333"/>
                </a:solidFill>
                <a:latin typeface="Calibri"/>
              </a:rPr>
              <a:t>Pull request — self-review, merge naar `main`</a:t>
            </a:r>
          </a:p>
        </p:txBody>
      </p:sp>
      <p:sp>
        <p:nvSpPr>
          <p:cNvPr id="25" name="Rounded Rectangle 24"/>
          <p:cNvSpPr/>
          <p:nvPr/>
        </p:nvSpPr>
        <p:spPr>
          <a:xfrm>
            <a:off x="4434840" y="4114800"/>
            <a:ext cx="502920" cy="4114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34840" y="4160520"/>
            <a:ext cx="502920" cy="365760"/>
          </a:xfrm>
          <a:prstGeom prst="rect">
            <a:avLst/>
          </a:prstGeom>
          <a:noFill/>
        </p:spPr>
        <p:txBody>
          <a:bodyPr wrap="square" lIns="0" tIns="0" rIns="0" bIns="0" anchor="t">
            <a:spAutoFit/>
          </a:bodyPr>
          <a:lstStyle/>
          <a:p>
            <a:pPr algn="ctr"/>
            <a:r>
              <a:rPr sz="1400" b="1" i="0">
                <a:solidFill>
                  <a:srgbClr val="FFFFFF"/>
                </a:solidFill>
                <a:latin typeface="Calibri"/>
              </a:rPr>
              <a:t>05</a:t>
            </a:r>
          </a:p>
        </p:txBody>
      </p:sp>
      <p:sp>
        <p:nvSpPr>
          <p:cNvPr id="27" name="TextBox 26"/>
          <p:cNvSpPr txBox="1"/>
          <p:nvPr/>
        </p:nvSpPr>
        <p:spPr>
          <a:xfrm>
            <a:off x="5074920" y="4187952"/>
            <a:ext cx="6675120" cy="365760"/>
          </a:xfrm>
          <a:prstGeom prst="rect">
            <a:avLst/>
          </a:prstGeom>
          <a:noFill/>
        </p:spPr>
        <p:txBody>
          <a:bodyPr wrap="square" lIns="0" tIns="0" rIns="0" bIns="0" anchor="t">
            <a:spAutoFit/>
          </a:bodyPr>
          <a:lstStyle/>
          <a:p>
            <a:pPr algn="l"/>
            <a:r>
              <a:rPr sz="1200" b="0" i="0">
                <a:solidFill>
                  <a:srgbClr val="1A2333"/>
                </a:solidFill>
                <a:latin typeface="Calibri"/>
              </a:rPr>
              <a:t>Sprint-tag — annotated tag `sprint-N`</a:t>
            </a:r>
          </a:p>
        </p:txBody>
      </p:sp>
      <p:sp>
        <p:nvSpPr>
          <p:cNvPr id="28" name="TextBox 27"/>
          <p:cNvSpPr txBox="1"/>
          <p:nvPr/>
        </p:nvSpPr>
        <p:spPr>
          <a:xfrm>
            <a:off x="4434840" y="4937760"/>
            <a:ext cx="7315200" cy="274320"/>
          </a:xfrm>
          <a:prstGeom prst="rect">
            <a:avLst/>
          </a:prstGeom>
          <a:noFill/>
        </p:spPr>
        <p:txBody>
          <a:bodyPr wrap="square" lIns="0" tIns="0" rIns="0" bIns="0" anchor="t">
            <a:spAutoFit/>
          </a:bodyPr>
          <a:lstStyle/>
          <a:p>
            <a:pPr algn="l"/>
            <a:r>
              <a:rPr sz="1100" b="1" i="0">
                <a:solidFill>
                  <a:srgbClr val="028090"/>
                </a:solidFill>
                <a:latin typeface="Calibri"/>
              </a:rPr>
              <a:t>ONTWERPDOCUMENT (3 deeldocumenten)</a:t>
            </a:r>
          </a:p>
        </p:txBody>
      </p:sp>
      <p:sp>
        <p:nvSpPr>
          <p:cNvPr id="29" name="Rounded Rectangle 28"/>
          <p:cNvSpPr/>
          <p:nvPr/>
        </p:nvSpPr>
        <p:spPr>
          <a:xfrm>
            <a:off x="4434840" y="5303520"/>
            <a:ext cx="2377440" cy="100584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0" y="5394960"/>
            <a:ext cx="2103120" cy="274320"/>
          </a:xfrm>
          <a:prstGeom prst="rect">
            <a:avLst/>
          </a:prstGeom>
          <a:noFill/>
        </p:spPr>
        <p:txBody>
          <a:bodyPr wrap="square" lIns="0" tIns="0" rIns="0" bIns="0" anchor="t">
            <a:spAutoFit/>
          </a:bodyPr>
          <a:lstStyle/>
          <a:p>
            <a:pPr algn="l"/>
            <a:r>
              <a:rPr sz="1100" b="1" i="0">
                <a:solidFill>
                  <a:srgbClr val="028090"/>
                </a:solidFill>
                <a:latin typeface="Calibri"/>
              </a:rPr>
              <a:t>Verantwoorde verwerking</a:t>
            </a:r>
          </a:p>
        </p:txBody>
      </p:sp>
      <p:sp>
        <p:nvSpPr>
          <p:cNvPr id="31" name="TextBox 30"/>
          <p:cNvSpPr txBox="1"/>
          <p:nvPr/>
        </p:nvSpPr>
        <p:spPr>
          <a:xfrm>
            <a:off x="4572000" y="5669280"/>
            <a:ext cx="2103120" cy="640080"/>
          </a:xfrm>
          <a:prstGeom prst="rect">
            <a:avLst/>
          </a:prstGeom>
          <a:noFill/>
        </p:spPr>
        <p:txBody>
          <a:bodyPr wrap="square" lIns="0" tIns="0" rIns="0" bIns="0" anchor="t">
            <a:spAutoFit/>
          </a:bodyPr>
          <a:lstStyle/>
          <a:p>
            <a:pPr algn="l"/>
            <a:r>
              <a:rPr sz="900" b="0" i="0">
                <a:solidFill>
                  <a:srgbClr val="5A6C7D"/>
                </a:solidFill>
                <a:latin typeface="Calibri"/>
              </a:rPr>
              <a:t>Ethiek · rolscheiding · geen surveillance</a:t>
            </a:r>
          </a:p>
        </p:txBody>
      </p:sp>
      <p:sp>
        <p:nvSpPr>
          <p:cNvPr id="32" name="Rounded Rectangle 31"/>
          <p:cNvSpPr/>
          <p:nvPr/>
        </p:nvSpPr>
        <p:spPr>
          <a:xfrm>
            <a:off x="6876288" y="5303520"/>
            <a:ext cx="2377440" cy="100584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13448" y="5394960"/>
            <a:ext cx="2103120" cy="274320"/>
          </a:xfrm>
          <a:prstGeom prst="rect">
            <a:avLst/>
          </a:prstGeom>
          <a:noFill/>
        </p:spPr>
        <p:txBody>
          <a:bodyPr wrap="square" lIns="0" tIns="0" rIns="0" bIns="0" anchor="t">
            <a:spAutoFit/>
          </a:bodyPr>
          <a:lstStyle/>
          <a:p>
            <a:pPr algn="l"/>
            <a:r>
              <a:rPr sz="1100" b="1" i="0">
                <a:solidFill>
                  <a:srgbClr val="028090"/>
                </a:solidFill>
                <a:latin typeface="Calibri"/>
              </a:rPr>
              <a:t>Gegevensbescherming</a:t>
            </a:r>
          </a:p>
        </p:txBody>
      </p:sp>
      <p:sp>
        <p:nvSpPr>
          <p:cNvPr id="34" name="TextBox 33"/>
          <p:cNvSpPr txBox="1"/>
          <p:nvPr/>
        </p:nvSpPr>
        <p:spPr>
          <a:xfrm>
            <a:off x="7013448" y="5669280"/>
            <a:ext cx="2103120" cy="640080"/>
          </a:xfrm>
          <a:prstGeom prst="rect">
            <a:avLst/>
          </a:prstGeom>
          <a:noFill/>
        </p:spPr>
        <p:txBody>
          <a:bodyPr wrap="square" lIns="0" tIns="0" rIns="0" bIns="0" anchor="t">
            <a:spAutoFit/>
          </a:bodyPr>
          <a:lstStyle/>
          <a:p>
            <a:pPr algn="l"/>
            <a:r>
              <a:rPr sz="900" b="0" i="0">
                <a:solidFill>
                  <a:srgbClr val="5A6C7D"/>
                </a:solidFill>
                <a:latin typeface="Calibri"/>
              </a:rPr>
              <a:t>AVG · dataminimalisatie · Wgbo</a:t>
            </a:r>
          </a:p>
        </p:txBody>
      </p:sp>
      <p:sp>
        <p:nvSpPr>
          <p:cNvPr id="35" name="Rounded Rectangle 34"/>
          <p:cNvSpPr/>
          <p:nvPr/>
        </p:nvSpPr>
        <p:spPr>
          <a:xfrm>
            <a:off x="9317736" y="5303520"/>
            <a:ext cx="2377440" cy="100584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454896" y="5394960"/>
            <a:ext cx="2103120" cy="274320"/>
          </a:xfrm>
          <a:prstGeom prst="rect">
            <a:avLst/>
          </a:prstGeom>
          <a:noFill/>
        </p:spPr>
        <p:txBody>
          <a:bodyPr wrap="square" lIns="0" tIns="0" rIns="0" bIns="0" anchor="t">
            <a:spAutoFit/>
          </a:bodyPr>
          <a:lstStyle/>
          <a:p>
            <a:pPr algn="l"/>
            <a:r>
              <a:rPr sz="1100" b="1" i="0">
                <a:solidFill>
                  <a:srgbClr val="028090"/>
                </a:solidFill>
                <a:latin typeface="Calibri"/>
              </a:rPr>
              <a:t>Beveiliging</a:t>
            </a:r>
          </a:p>
        </p:txBody>
      </p:sp>
      <p:sp>
        <p:nvSpPr>
          <p:cNvPr id="37" name="TextBox 36"/>
          <p:cNvSpPr txBox="1"/>
          <p:nvPr/>
        </p:nvSpPr>
        <p:spPr>
          <a:xfrm>
            <a:off x="9454896" y="5669280"/>
            <a:ext cx="2103120" cy="640080"/>
          </a:xfrm>
          <a:prstGeom prst="rect">
            <a:avLst/>
          </a:prstGeom>
          <a:noFill/>
        </p:spPr>
        <p:txBody>
          <a:bodyPr wrap="square" lIns="0" tIns="0" rIns="0" bIns="0" anchor="t">
            <a:spAutoFit/>
          </a:bodyPr>
          <a:lstStyle/>
          <a:p>
            <a:pPr algn="l"/>
            <a:r>
              <a:rPr sz="900" b="0" i="0">
                <a:solidFill>
                  <a:srgbClr val="5A6C7D"/>
                </a:solidFill>
                <a:latin typeface="Calibri"/>
              </a:rPr>
              <a:t>HTTPS · bcrypt · CSRF · NEN 7510</a:t>
            </a:r>
          </a:p>
        </p:txBody>
      </p:sp>
      <p:sp>
        <p:nvSpPr>
          <p:cNvPr id="38" name="TextBox 37"/>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9" name="TextBox 38"/>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10 / 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BLOK 1 · SPRINT 1 + START SPRINT 2  ·  6 USER STORIES</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Authenticatie + Teambeheer</a:t>
            </a:r>
          </a:p>
        </p:txBody>
      </p:sp>
      <p:sp>
        <p:nvSpPr>
          <p:cNvPr id="6" name="Rounded Rectangle 5"/>
          <p:cNvSpPr/>
          <p:nvPr/>
        </p:nvSpPr>
        <p:spPr>
          <a:xfrm>
            <a:off x="457200" y="1508760"/>
            <a:ext cx="5486400" cy="489204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91640"/>
            <a:ext cx="5029200" cy="274320"/>
          </a:xfrm>
          <a:prstGeom prst="rect">
            <a:avLst/>
          </a:prstGeom>
          <a:noFill/>
        </p:spPr>
        <p:txBody>
          <a:bodyPr wrap="square" lIns="0" tIns="0" rIns="0" bIns="0" anchor="t">
            <a:spAutoFit/>
          </a:bodyPr>
          <a:lstStyle/>
          <a:p>
            <a:pPr algn="l"/>
            <a:r>
              <a:rPr sz="1000" b="1" i="0">
                <a:solidFill>
                  <a:srgbClr val="028090"/>
                </a:solidFill>
                <a:latin typeface="Calibri"/>
              </a:rPr>
              <a:t>USER STORIES IN DIT BLOK</a:t>
            </a:r>
          </a:p>
        </p:txBody>
      </p:sp>
      <p:sp>
        <p:nvSpPr>
          <p:cNvPr id="8" name="TextBox 7"/>
          <p:cNvSpPr txBox="1"/>
          <p:nvPr/>
        </p:nvSpPr>
        <p:spPr>
          <a:xfrm>
            <a:off x="685800" y="2011680"/>
            <a:ext cx="777240" cy="274320"/>
          </a:xfrm>
          <a:prstGeom prst="rect">
            <a:avLst/>
          </a:prstGeom>
          <a:noFill/>
        </p:spPr>
        <p:txBody>
          <a:bodyPr wrap="square" lIns="0" tIns="0" rIns="0" bIns="0" anchor="t">
            <a:spAutoFit/>
          </a:bodyPr>
          <a:lstStyle/>
          <a:p>
            <a:pPr algn="l"/>
            <a:r>
              <a:rPr sz="1100" b="1" i="0">
                <a:solidFill>
                  <a:srgbClr val="1E2761"/>
                </a:solidFill>
                <a:latin typeface="Calibri"/>
              </a:rPr>
              <a:t>US-01</a:t>
            </a:r>
          </a:p>
        </p:txBody>
      </p:sp>
      <p:sp>
        <p:nvSpPr>
          <p:cNvPr id="9" name="TextBox 8"/>
          <p:cNvSpPr txBox="1"/>
          <p:nvPr/>
        </p:nvSpPr>
        <p:spPr>
          <a:xfrm>
            <a:off x="1463040" y="2011680"/>
            <a:ext cx="3337560" cy="274320"/>
          </a:xfrm>
          <a:prstGeom prst="rect">
            <a:avLst/>
          </a:prstGeom>
          <a:noFill/>
        </p:spPr>
        <p:txBody>
          <a:bodyPr wrap="square" lIns="0" tIns="0" rIns="0" bIns="0" anchor="t">
            <a:spAutoFit/>
          </a:bodyPr>
          <a:lstStyle/>
          <a:p>
            <a:pPr algn="l"/>
            <a:r>
              <a:rPr sz="1100" b="0" i="0">
                <a:solidFill>
                  <a:srgbClr val="1A2333"/>
                </a:solidFill>
                <a:latin typeface="Calibri"/>
              </a:rPr>
              <a:t>Inloggen op Nexora</a:t>
            </a:r>
          </a:p>
        </p:txBody>
      </p:sp>
      <p:sp>
        <p:nvSpPr>
          <p:cNvPr id="10" name="TextBox 9"/>
          <p:cNvSpPr txBox="1"/>
          <p:nvPr/>
        </p:nvSpPr>
        <p:spPr>
          <a:xfrm>
            <a:off x="4846320" y="2011680"/>
            <a:ext cx="914400" cy="274320"/>
          </a:xfrm>
          <a:prstGeom prst="rect">
            <a:avLst/>
          </a:prstGeom>
          <a:noFill/>
        </p:spPr>
        <p:txBody>
          <a:bodyPr wrap="square" lIns="0" tIns="0" rIns="0" bIns="0" anchor="t">
            <a:spAutoFit/>
          </a:bodyPr>
          <a:lstStyle/>
          <a:p>
            <a:pPr algn="r"/>
            <a:r>
              <a:rPr sz="1000" b="0" i="1">
                <a:solidFill>
                  <a:srgbClr val="5A6C7D"/>
                </a:solidFill>
                <a:latin typeface="Calibri"/>
              </a:rPr>
              <a:t>10 tests</a:t>
            </a:r>
          </a:p>
        </p:txBody>
      </p:sp>
      <p:sp>
        <p:nvSpPr>
          <p:cNvPr id="11" name="TextBox 10"/>
          <p:cNvSpPr txBox="1"/>
          <p:nvPr/>
        </p:nvSpPr>
        <p:spPr>
          <a:xfrm>
            <a:off x="685800" y="2295144"/>
            <a:ext cx="777240" cy="274320"/>
          </a:xfrm>
          <a:prstGeom prst="rect">
            <a:avLst/>
          </a:prstGeom>
          <a:noFill/>
        </p:spPr>
        <p:txBody>
          <a:bodyPr wrap="square" lIns="0" tIns="0" rIns="0" bIns="0" anchor="t">
            <a:spAutoFit/>
          </a:bodyPr>
          <a:lstStyle/>
          <a:p>
            <a:pPr algn="l"/>
            <a:r>
              <a:rPr sz="1100" b="1" i="0">
                <a:solidFill>
                  <a:srgbClr val="1E2761"/>
                </a:solidFill>
                <a:latin typeface="Calibri"/>
              </a:rPr>
              <a:t>US-02</a:t>
            </a:r>
          </a:p>
        </p:txBody>
      </p:sp>
      <p:sp>
        <p:nvSpPr>
          <p:cNvPr id="12" name="TextBox 11"/>
          <p:cNvSpPr txBox="1"/>
          <p:nvPr/>
        </p:nvSpPr>
        <p:spPr>
          <a:xfrm>
            <a:off x="1463040" y="2295144"/>
            <a:ext cx="3337560" cy="274320"/>
          </a:xfrm>
          <a:prstGeom prst="rect">
            <a:avLst/>
          </a:prstGeom>
          <a:noFill/>
        </p:spPr>
        <p:txBody>
          <a:bodyPr wrap="square" lIns="0" tIns="0" rIns="0" bIns="0" anchor="t">
            <a:spAutoFit/>
          </a:bodyPr>
          <a:lstStyle/>
          <a:p>
            <a:pPr algn="l"/>
            <a:r>
              <a:rPr sz="1100" b="0" i="0">
                <a:solidFill>
                  <a:srgbClr val="1A2333"/>
                </a:solidFill>
                <a:latin typeface="Calibri"/>
              </a:rPr>
              <a:t>Rolgebaseerde toegang (Policies + middleware)</a:t>
            </a:r>
          </a:p>
        </p:txBody>
      </p:sp>
      <p:sp>
        <p:nvSpPr>
          <p:cNvPr id="13" name="TextBox 12"/>
          <p:cNvSpPr txBox="1"/>
          <p:nvPr/>
        </p:nvSpPr>
        <p:spPr>
          <a:xfrm>
            <a:off x="4846320" y="2295144"/>
            <a:ext cx="914400" cy="274320"/>
          </a:xfrm>
          <a:prstGeom prst="rect">
            <a:avLst/>
          </a:prstGeom>
          <a:noFill/>
        </p:spPr>
        <p:txBody>
          <a:bodyPr wrap="square" lIns="0" tIns="0" rIns="0" bIns="0" anchor="t">
            <a:spAutoFit/>
          </a:bodyPr>
          <a:lstStyle/>
          <a:p>
            <a:pPr algn="r"/>
            <a:r>
              <a:rPr sz="1000" b="0" i="1">
                <a:solidFill>
                  <a:srgbClr val="5A6C7D"/>
                </a:solidFill>
                <a:latin typeface="Calibri"/>
              </a:rPr>
              <a:t>26 tests</a:t>
            </a:r>
          </a:p>
        </p:txBody>
      </p:sp>
      <p:sp>
        <p:nvSpPr>
          <p:cNvPr id="14" name="TextBox 13"/>
          <p:cNvSpPr txBox="1"/>
          <p:nvPr/>
        </p:nvSpPr>
        <p:spPr>
          <a:xfrm>
            <a:off x="685800" y="2578608"/>
            <a:ext cx="777240" cy="274320"/>
          </a:xfrm>
          <a:prstGeom prst="rect">
            <a:avLst/>
          </a:prstGeom>
          <a:noFill/>
        </p:spPr>
        <p:txBody>
          <a:bodyPr wrap="square" lIns="0" tIns="0" rIns="0" bIns="0" anchor="t">
            <a:spAutoFit/>
          </a:bodyPr>
          <a:lstStyle/>
          <a:p>
            <a:pPr algn="l"/>
            <a:r>
              <a:rPr sz="1100" b="1" i="0">
                <a:solidFill>
                  <a:srgbClr val="1E2761"/>
                </a:solidFill>
                <a:latin typeface="Calibri"/>
              </a:rPr>
              <a:t>US-03</a:t>
            </a:r>
          </a:p>
        </p:txBody>
      </p:sp>
      <p:sp>
        <p:nvSpPr>
          <p:cNvPr id="15" name="TextBox 14"/>
          <p:cNvSpPr txBox="1"/>
          <p:nvPr/>
        </p:nvSpPr>
        <p:spPr>
          <a:xfrm>
            <a:off x="1463040" y="2578608"/>
            <a:ext cx="3337560" cy="274320"/>
          </a:xfrm>
          <a:prstGeom prst="rect">
            <a:avLst/>
          </a:prstGeom>
          <a:noFill/>
        </p:spPr>
        <p:txBody>
          <a:bodyPr wrap="square" lIns="0" tIns="0" rIns="0" bIns="0" anchor="t">
            <a:spAutoFit/>
          </a:bodyPr>
          <a:lstStyle/>
          <a:p>
            <a:pPr algn="l"/>
            <a:r>
              <a:rPr sz="1100" b="0" i="0">
                <a:solidFill>
                  <a:srgbClr val="1A2333"/>
                </a:solidFill>
                <a:latin typeface="Calibri"/>
              </a:rPr>
              <a:t>Nieuwe zorgbegeleider aanmaken</a:t>
            </a:r>
          </a:p>
        </p:txBody>
      </p:sp>
      <p:sp>
        <p:nvSpPr>
          <p:cNvPr id="16" name="TextBox 15"/>
          <p:cNvSpPr txBox="1"/>
          <p:nvPr/>
        </p:nvSpPr>
        <p:spPr>
          <a:xfrm>
            <a:off x="4846320" y="2578608"/>
            <a:ext cx="914400" cy="274320"/>
          </a:xfrm>
          <a:prstGeom prst="rect">
            <a:avLst/>
          </a:prstGeom>
          <a:noFill/>
        </p:spPr>
        <p:txBody>
          <a:bodyPr wrap="square" lIns="0" tIns="0" rIns="0" bIns="0" anchor="t">
            <a:spAutoFit/>
          </a:bodyPr>
          <a:lstStyle/>
          <a:p>
            <a:pPr algn="r"/>
            <a:r>
              <a:rPr sz="1000" b="0" i="1">
                <a:solidFill>
                  <a:srgbClr val="5A6C7D"/>
                </a:solidFill>
                <a:latin typeface="Calibri"/>
              </a:rPr>
              <a:t>15 tests</a:t>
            </a:r>
          </a:p>
        </p:txBody>
      </p:sp>
      <p:sp>
        <p:nvSpPr>
          <p:cNvPr id="17" name="TextBox 16"/>
          <p:cNvSpPr txBox="1"/>
          <p:nvPr/>
        </p:nvSpPr>
        <p:spPr>
          <a:xfrm>
            <a:off x="685800" y="2862072"/>
            <a:ext cx="777240" cy="274320"/>
          </a:xfrm>
          <a:prstGeom prst="rect">
            <a:avLst/>
          </a:prstGeom>
          <a:noFill/>
        </p:spPr>
        <p:txBody>
          <a:bodyPr wrap="square" lIns="0" tIns="0" rIns="0" bIns="0" anchor="t">
            <a:spAutoFit/>
          </a:bodyPr>
          <a:lstStyle/>
          <a:p>
            <a:pPr algn="l"/>
            <a:r>
              <a:rPr sz="1100" b="1" i="0">
                <a:solidFill>
                  <a:srgbClr val="1E2761"/>
                </a:solidFill>
                <a:latin typeface="Calibri"/>
              </a:rPr>
              <a:t>US-04</a:t>
            </a:r>
          </a:p>
        </p:txBody>
      </p:sp>
      <p:sp>
        <p:nvSpPr>
          <p:cNvPr id="18" name="TextBox 17"/>
          <p:cNvSpPr txBox="1"/>
          <p:nvPr/>
        </p:nvSpPr>
        <p:spPr>
          <a:xfrm>
            <a:off x="1463040" y="2862072"/>
            <a:ext cx="3337560" cy="274320"/>
          </a:xfrm>
          <a:prstGeom prst="rect">
            <a:avLst/>
          </a:prstGeom>
          <a:noFill/>
        </p:spPr>
        <p:txBody>
          <a:bodyPr wrap="square" lIns="0" tIns="0" rIns="0" bIns="0" anchor="t">
            <a:spAutoFit/>
          </a:bodyPr>
          <a:lstStyle/>
          <a:p>
            <a:pPr algn="l"/>
            <a:r>
              <a:rPr sz="1100" b="0" i="0">
                <a:solidFill>
                  <a:srgbClr val="1A2333"/>
                </a:solidFill>
                <a:latin typeface="Calibri"/>
              </a:rPr>
              <a:t>Medewerkersoverzicht (zoek + filter)</a:t>
            </a:r>
          </a:p>
        </p:txBody>
      </p:sp>
      <p:sp>
        <p:nvSpPr>
          <p:cNvPr id="19" name="TextBox 18"/>
          <p:cNvSpPr txBox="1"/>
          <p:nvPr/>
        </p:nvSpPr>
        <p:spPr>
          <a:xfrm>
            <a:off x="4846320" y="2862072"/>
            <a:ext cx="914400" cy="274320"/>
          </a:xfrm>
          <a:prstGeom prst="rect">
            <a:avLst/>
          </a:prstGeom>
          <a:noFill/>
        </p:spPr>
        <p:txBody>
          <a:bodyPr wrap="square" lIns="0" tIns="0" rIns="0" bIns="0" anchor="t">
            <a:spAutoFit/>
          </a:bodyPr>
          <a:lstStyle/>
          <a:p>
            <a:pPr algn="r"/>
            <a:r>
              <a:rPr sz="1000" b="0" i="1">
                <a:solidFill>
                  <a:srgbClr val="5A6C7D"/>
                </a:solidFill>
                <a:latin typeface="Calibri"/>
              </a:rPr>
              <a:t>19 tests</a:t>
            </a:r>
          </a:p>
        </p:txBody>
      </p:sp>
      <p:sp>
        <p:nvSpPr>
          <p:cNvPr id="20" name="TextBox 19"/>
          <p:cNvSpPr txBox="1"/>
          <p:nvPr/>
        </p:nvSpPr>
        <p:spPr>
          <a:xfrm>
            <a:off x="685800" y="3145536"/>
            <a:ext cx="777240" cy="274320"/>
          </a:xfrm>
          <a:prstGeom prst="rect">
            <a:avLst/>
          </a:prstGeom>
          <a:noFill/>
        </p:spPr>
        <p:txBody>
          <a:bodyPr wrap="square" lIns="0" tIns="0" rIns="0" bIns="0" anchor="t">
            <a:spAutoFit/>
          </a:bodyPr>
          <a:lstStyle/>
          <a:p>
            <a:pPr algn="l"/>
            <a:r>
              <a:rPr sz="1100" b="1" i="0">
                <a:solidFill>
                  <a:srgbClr val="1E2761"/>
                </a:solidFill>
                <a:latin typeface="Calibri"/>
              </a:rPr>
              <a:t>US-05</a:t>
            </a:r>
          </a:p>
        </p:txBody>
      </p:sp>
      <p:sp>
        <p:nvSpPr>
          <p:cNvPr id="21" name="TextBox 20"/>
          <p:cNvSpPr txBox="1"/>
          <p:nvPr/>
        </p:nvSpPr>
        <p:spPr>
          <a:xfrm>
            <a:off x="1463040" y="3145536"/>
            <a:ext cx="3337560" cy="274320"/>
          </a:xfrm>
          <a:prstGeom prst="rect">
            <a:avLst/>
          </a:prstGeom>
          <a:noFill/>
        </p:spPr>
        <p:txBody>
          <a:bodyPr wrap="square" lIns="0" tIns="0" rIns="0" bIns="0" anchor="t">
            <a:spAutoFit/>
          </a:bodyPr>
          <a:lstStyle/>
          <a:p>
            <a:pPr algn="l"/>
            <a:r>
              <a:rPr sz="1100" b="0" i="0">
                <a:solidFill>
                  <a:srgbClr val="1A2333"/>
                </a:solidFill>
                <a:latin typeface="Calibri"/>
              </a:rPr>
              <a:t>Teamlid bewerken (rol + dienstverband)</a:t>
            </a:r>
          </a:p>
        </p:txBody>
      </p:sp>
      <p:sp>
        <p:nvSpPr>
          <p:cNvPr id="22" name="TextBox 21"/>
          <p:cNvSpPr txBox="1"/>
          <p:nvPr/>
        </p:nvSpPr>
        <p:spPr>
          <a:xfrm>
            <a:off x="4846320" y="3145536"/>
            <a:ext cx="914400" cy="274320"/>
          </a:xfrm>
          <a:prstGeom prst="rect">
            <a:avLst/>
          </a:prstGeom>
          <a:noFill/>
        </p:spPr>
        <p:txBody>
          <a:bodyPr wrap="square" lIns="0" tIns="0" rIns="0" bIns="0" anchor="t">
            <a:spAutoFit/>
          </a:bodyPr>
          <a:lstStyle/>
          <a:p>
            <a:pPr algn="r"/>
            <a:r>
              <a:rPr sz="1000" b="0" i="1">
                <a:solidFill>
                  <a:srgbClr val="5A6C7D"/>
                </a:solidFill>
                <a:latin typeface="Calibri"/>
              </a:rPr>
              <a:t>16 tests</a:t>
            </a:r>
          </a:p>
        </p:txBody>
      </p:sp>
      <p:sp>
        <p:nvSpPr>
          <p:cNvPr id="23" name="TextBox 22"/>
          <p:cNvSpPr txBox="1"/>
          <p:nvPr/>
        </p:nvSpPr>
        <p:spPr>
          <a:xfrm>
            <a:off x="685800" y="3429000"/>
            <a:ext cx="777240" cy="274320"/>
          </a:xfrm>
          <a:prstGeom prst="rect">
            <a:avLst/>
          </a:prstGeom>
          <a:noFill/>
        </p:spPr>
        <p:txBody>
          <a:bodyPr wrap="square" lIns="0" tIns="0" rIns="0" bIns="0" anchor="t">
            <a:spAutoFit/>
          </a:bodyPr>
          <a:lstStyle/>
          <a:p>
            <a:pPr algn="l"/>
            <a:r>
              <a:rPr sz="1100" b="1" i="0">
                <a:solidFill>
                  <a:srgbClr val="1E2761"/>
                </a:solidFill>
                <a:latin typeface="Calibri"/>
              </a:rPr>
              <a:t>US-06</a:t>
            </a:r>
          </a:p>
        </p:txBody>
      </p:sp>
      <p:sp>
        <p:nvSpPr>
          <p:cNvPr id="24" name="TextBox 23"/>
          <p:cNvSpPr txBox="1"/>
          <p:nvPr/>
        </p:nvSpPr>
        <p:spPr>
          <a:xfrm>
            <a:off x="1463040" y="3429000"/>
            <a:ext cx="3337560" cy="274320"/>
          </a:xfrm>
          <a:prstGeom prst="rect">
            <a:avLst/>
          </a:prstGeom>
          <a:noFill/>
        </p:spPr>
        <p:txBody>
          <a:bodyPr wrap="square" lIns="0" tIns="0" rIns="0" bIns="0" anchor="t">
            <a:spAutoFit/>
          </a:bodyPr>
          <a:lstStyle/>
          <a:p>
            <a:pPr algn="l"/>
            <a:r>
              <a:rPr sz="1100" b="0" i="0">
                <a:solidFill>
                  <a:srgbClr val="1A2333"/>
                </a:solidFill>
                <a:latin typeface="Calibri"/>
              </a:rPr>
              <a:t>Teamlid deactiveren &amp; heractiveren</a:t>
            </a:r>
          </a:p>
        </p:txBody>
      </p:sp>
      <p:sp>
        <p:nvSpPr>
          <p:cNvPr id="25" name="TextBox 24"/>
          <p:cNvSpPr txBox="1"/>
          <p:nvPr/>
        </p:nvSpPr>
        <p:spPr>
          <a:xfrm>
            <a:off x="4846320" y="3429000"/>
            <a:ext cx="914400" cy="274320"/>
          </a:xfrm>
          <a:prstGeom prst="rect">
            <a:avLst/>
          </a:prstGeom>
          <a:noFill/>
        </p:spPr>
        <p:txBody>
          <a:bodyPr wrap="square" lIns="0" tIns="0" rIns="0" bIns="0" anchor="t">
            <a:spAutoFit/>
          </a:bodyPr>
          <a:lstStyle/>
          <a:p>
            <a:pPr algn="r"/>
            <a:r>
              <a:rPr sz="1000" b="0" i="1">
                <a:solidFill>
                  <a:srgbClr val="5A6C7D"/>
                </a:solidFill>
                <a:latin typeface="Calibri"/>
              </a:rPr>
              <a:t>19 tests</a:t>
            </a:r>
          </a:p>
        </p:txBody>
      </p:sp>
      <p:sp>
        <p:nvSpPr>
          <p:cNvPr id="26" name="Rectangle 25"/>
          <p:cNvSpPr/>
          <p:nvPr/>
        </p:nvSpPr>
        <p:spPr>
          <a:xfrm>
            <a:off x="685800" y="3849624"/>
            <a:ext cx="5029200" cy="27432"/>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4014216"/>
            <a:ext cx="5029200" cy="274320"/>
          </a:xfrm>
          <a:prstGeom prst="rect">
            <a:avLst/>
          </a:prstGeom>
          <a:noFill/>
        </p:spPr>
        <p:txBody>
          <a:bodyPr wrap="square" lIns="0" tIns="0" rIns="0" bIns="0" anchor="t">
            <a:spAutoFit/>
          </a:bodyPr>
          <a:lstStyle/>
          <a:p>
            <a:pPr algn="l"/>
            <a:r>
              <a:rPr sz="1000" b="1" i="0">
                <a:solidFill>
                  <a:srgbClr val="028090"/>
                </a:solidFill>
                <a:latin typeface="Calibri"/>
              </a:rPr>
              <a:t>KEY TECHNICAL POINTS</a:t>
            </a:r>
          </a:p>
        </p:txBody>
      </p:sp>
      <p:sp>
        <p:nvSpPr>
          <p:cNvPr id="28" name="TextBox 27"/>
          <p:cNvSpPr txBox="1"/>
          <p:nvPr/>
        </p:nvSpPr>
        <p:spPr>
          <a:xfrm>
            <a:off x="685800" y="4334256"/>
            <a:ext cx="5029200" cy="2286000"/>
          </a:xfrm>
          <a:prstGeom prst="rect">
            <a:avLst/>
          </a:prstGeom>
          <a:noFill/>
        </p:spPr>
        <p:txBody>
          <a:bodyPr wrap="square" lIns="0" tIns="0" rIns="0" bIns="0" anchor="t">
            <a:spAutoFit/>
          </a:bodyPr>
          <a:lstStyle/>
          <a:p>
            <a:pPr algn="l">
              <a:lnSpc>
                <a:spcPct val="115000"/>
              </a:lnSpc>
              <a:spcAft>
                <a:spcPts val="400"/>
              </a:spcAft>
            </a:pPr>
            <a:r>
              <a:rPr sz="1100" b="0" i="0">
                <a:solidFill>
                  <a:srgbClr val="1A2333"/>
                </a:solidFill>
                <a:latin typeface="Calibri"/>
              </a:rPr>
              <a:t>•  Defense in depth — Policies per resource + middleware per rol-groep</a:t>
            </a:r>
          </a:p>
          <a:p>
            <a:pPr algn="l">
              <a:lnSpc>
                <a:spcPct val="115000"/>
              </a:lnSpc>
              <a:spcAft>
                <a:spcPts val="400"/>
              </a:spcAft>
            </a:pPr>
            <a:r>
              <a:rPr sz="1100" b="0" i="0">
                <a:solidFill>
                  <a:srgbClr val="1A2333"/>
                </a:solidFill>
                <a:latin typeface="Calibri"/>
              </a:rPr>
              <a:t>•  Login: rate-limit (5/60s) + user-enumeration-protection + session-regeneratie</a:t>
            </a:r>
          </a:p>
          <a:p>
            <a:pPr algn="l">
              <a:lnSpc>
                <a:spcPct val="115000"/>
              </a:lnSpc>
              <a:spcAft>
                <a:spcPts val="400"/>
              </a:spcAft>
            </a:pPr>
            <a:r>
              <a:rPr sz="1100" b="0" i="0">
                <a:solidFill>
                  <a:srgbClr val="1A2333"/>
                </a:solidFill>
                <a:latin typeface="Calibri"/>
              </a:rPr>
              <a:t>•  Audit-logs via UserService::updateWithAudit (AVG art. 30) vanaf US-05</a:t>
            </a:r>
          </a:p>
          <a:p>
            <a:pPr algn="l">
              <a:lnSpc>
                <a:spcPct val="115000"/>
              </a:lnSpc>
              <a:spcAft>
                <a:spcPts val="400"/>
              </a:spcAft>
            </a:pPr>
            <a:r>
              <a:rPr sz="1100" b="0" i="0">
                <a:solidFill>
                  <a:srgbClr val="1A2333"/>
                </a:solidFill>
                <a:latin typeface="Calibri"/>
              </a:rPr>
              <a:t>•  Self-demotion guard — teamleider kan zichzelf niet ontmachtigen</a:t>
            </a:r>
          </a:p>
          <a:p>
            <a:pPr algn="l">
              <a:lnSpc>
                <a:spcPct val="115000"/>
              </a:lnSpc>
              <a:spcAft>
                <a:spcPts val="400"/>
              </a:spcAft>
            </a:pPr>
            <a:r>
              <a:rPr sz="1100" b="0" i="0">
                <a:solidFill>
                  <a:srgbClr val="1A2333"/>
                </a:solidFill>
                <a:latin typeface="Calibri"/>
              </a:rPr>
              <a:t>•  Runtime sessie-invalidatie bij deactiveren (CheckActiveUser middleware)</a:t>
            </a:r>
          </a:p>
          <a:p>
            <a:pPr algn="l">
              <a:lnSpc>
                <a:spcPct val="115000"/>
              </a:lnSpc>
              <a:spcAft>
                <a:spcPts val="400"/>
              </a:spcAft>
            </a:pPr>
            <a:r>
              <a:rPr sz="1100" b="0" i="0">
                <a:solidFill>
                  <a:srgbClr val="1A2333"/>
                </a:solidFill>
                <a:latin typeface="Calibri"/>
              </a:rPr>
              <a:t>•  105 Pest-tests · 295 asserts · alle 6 US's PASS</a:t>
            </a:r>
          </a:p>
        </p:txBody>
      </p:sp>
      <p:sp>
        <p:nvSpPr>
          <p:cNvPr id="29" name="Rectangle 28"/>
          <p:cNvSpPr/>
          <p:nvPr/>
        </p:nvSpPr>
        <p:spPr>
          <a:xfrm>
            <a:off x="6126480" y="1508760"/>
            <a:ext cx="5623560" cy="233172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01-inloggen.png"/>
          <p:cNvPicPr>
            <a:picLocks noChangeAspect="1"/>
          </p:cNvPicPr>
          <p:nvPr/>
        </p:nvPicPr>
        <p:blipFill>
          <a:blip r:embed="rId3"/>
          <a:stretch>
            <a:fillRect/>
          </a:stretch>
        </p:blipFill>
        <p:spPr>
          <a:xfrm>
            <a:off x="6172200" y="1554480"/>
            <a:ext cx="5532120" cy="2240280"/>
          </a:xfrm>
          <a:prstGeom prst="rect">
            <a:avLst/>
          </a:prstGeom>
        </p:spPr>
      </p:pic>
      <p:sp>
        <p:nvSpPr>
          <p:cNvPr id="31" name="TextBox 30"/>
          <p:cNvSpPr txBox="1"/>
          <p:nvPr/>
        </p:nvSpPr>
        <p:spPr>
          <a:xfrm>
            <a:off x="6263640" y="1600200"/>
            <a:ext cx="5349240" cy="228600"/>
          </a:xfrm>
          <a:prstGeom prst="rect">
            <a:avLst/>
          </a:prstGeom>
          <a:noFill/>
        </p:spPr>
        <p:txBody>
          <a:bodyPr wrap="square" lIns="0" tIns="0" rIns="0" bIns="0" anchor="t">
            <a:spAutoFit/>
          </a:bodyPr>
          <a:lstStyle/>
          <a:p>
            <a:pPr algn="l"/>
            <a:r>
              <a:rPr sz="900" b="0" i="1">
                <a:solidFill>
                  <a:srgbClr val="5A6C7D"/>
                </a:solidFill>
                <a:latin typeface="Calibri"/>
              </a:rPr>
              <a:t>US-01 · Login-scherm</a:t>
            </a:r>
          </a:p>
        </p:txBody>
      </p:sp>
      <p:sp>
        <p:nvSpPr>
          <p:cNvPr id="32" name="Rectangle 31"/>
          <p:cNvSpPr/>
          <p:nvPr/>
        </p:nvSpPr>
        <p:spPr>
          <a:xfrm>
            <a:off x="6126480" y="4069080"/>
            <a:ext cx="5623560" cy="233172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01-medewerkers-overzicht.png"/>
          <p:cNvPicPr>
            <a:picLocks noChangeAspect="1"/>
          </p:cNvPicPr>
          <p:nvPr/>
        </p:nvPicPr>
        <p:blipFill>
          <a:blip r:embed="rId4"/>
          <a:stretch>
            <a:fillRect/>
          </a:stretch>
        </p:blipFill>
        <p:spPr>
          <a:xfrm>
            <a:off x="6172200" y="4114800"/>
            <a:ext cx="5532120" cy="2240280"/>
          </a:xfrm>
          <a:prstGeom prst="rect">
            <a:avLst/>
          </a:prstGeom>
        </p:spPr>
      </p:pic>
      <p:sp>
        <p:nvSpPr>
          <p:cNvPr id="34" name="TextBox 33"/>
          <p:cNvSpPr txBox="1"/>
          <p:nvPr/>
        </p:nvSpPr>
        <p:spPr>
          <a:xfrm>
            <a:off x="6263640" y="4160520"/>
            <a:ext cx="5349240" cy="228600"/>
          </a:xfrm>
          <a:prstGeom prst="rect">
            <a:avLst/>
          </a:prstGeom>
          <a:noFill/>
        </p:spPr>
        <p:txBody>
          <a:bodyPr wrap="square" lIns="0" tIns="0" rIns="0" bIns="0" anchor="t">
            <a:spAutoFit/>
          </a:bodyPr>
          <a:lstStyle/>
          <a:p>
            <a:pPr algn="l"/>
            <a:r>
              <a:rPr sz="900" b="0" i="1">
                <a:solidFill>
                  <a:srgbClr val="5A6C7D"/>
                </a:solidFill>
                <a:latin typeface="Calibri"/>
              </a:rPr>
              <a:t>US-04 · Medewerkersoverzicht met zoek + filter</a:t>
            </a:r>
          </a:p>
        </p:txBody>
      </p:sp>
      <p:sp>
        <p:nvSpPr>
          <p:cNvPr id="35" name="TextBox 34"/>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6" name="TextBox 35"/>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11 / 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BLOK 2 · SPRINT 2 + SPRINT 3  ·  4 USER STORIES</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Cliëntdossiers + Begeleider-koppelingen</a:t>
            </a:r>
          </a:p>
        </p:txBody>
      </p:sp>
      <p:sp>
        <p:nvSpPr>
          <p:cNvPr id="6" name="Rounded Rectangle 5"/>
          <p:cNvSpPr/>
          <p:nvPr/>
        </p:nvSpPr>
        <p:spPr>
          <a:xfrm>
            <a:off x="457200" y="1508760"/>
            <a:ext cx="5486400" cy="489204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91640"/>
            <a:ext cx="5029200" cy="274320"/>
          </a:xfrm>
          <a:prstGeom prst="rect">
            <a:avLst/>
          </a:prstGeom>
          <a:noFill/>
        </p:spPr>
        <p:txBody>
          <a:bodyPr wrap="square" lIns="0" tIns="0" rIns="0" bIns="0" anchor="t">
            <a:spAutoFit/>
          </a:bodyPr>
          <a:lstStyle/>
          <a:p>
            <a:pPr algn="l"/>
            <a:r>
              <a:rPr sz="1000" b="1" i="0">
                <a:solidFill>
                  <a:srgbClr val="028090"/>
                </a:solidFill>
                <a:latin typeface="Calibri"/>
              </a:rPr>
              <a:t>USER STORIES IN DIT BLOK</a:t>
            </a:r>
          </a:p>
        </p:txBody>
      </p:sp>
      <p:sp>
        <p:nvSpPr>
          <p:cNvPr id="8" name="TextBox 7"/>
          <p:cNvSpPr txBox="1"/>
          <p:nvPr/>
        </p:nvSpPr>
        <p:spPr>
          <a:xfrm>
            <a:off x="685800" y="2011680"/>
            <a:ext cx="777240" cy="274320"/>
          </a:xfrm>
          <a:prstGeom prst="rect">
            <a:avLst/>
          </a:prstGeom>
          <a:noFill/>
        </p:spPr>
        <p:txBody>
          <a:bodyPr wrap="square" lIns="0" tIns="0" rIns="0" bIns="0" anchor="t">
            <a:spAutoFit/>
          </a:bodyPr>
          <a:lstStyle/>
          <a:p>
            <a:pPr algn="l"/>
            <a:r>
              <a:rPr sz="1100" b="1" i="0">
                <a:solidFill>
                  <a:srgbClr val="1E2761"/>
                </a:solidFill>
                <a:latin typeface="Calibri"/>
              </a:rPr>
              <a:t>US-07</a:t>
            </a:r>
          </a:p>
        </p:txBody>
      </p:sp>
      <p:sp>
        <p:nvSpPr>
          <p:cNvPr id="9" name="TextBox 8"/>
          <p:cNvSpPr txBox="1"/>
          <p:nvPr/>
        </p:nvSpPr>
        <p:spPr>
          <a:xfrm>
            <a:off x="1463040" y="2011680"/>
            <a:ext cx="3337560" cy="274320"/>
          </a:xfrm>
          <a:prstGeom prst="rect">
            <a:avLst/>
          </a:prstGeom>
          <a:noFill/>
        </p:spPr>
        <p:txBody>
          <a:bodyPr wrap="square" lIns="0" tIns="0" rIns="0" bIns="0" anchor="t">
            <a:spAutoFit/>
          </a:bodyPr>
          <a:lstStyle/>
          <a:p>
            <a:pPr algn="l"/>
            <a:r>
              <a:rPr sz="1100" b="0" i="0">
                <a:solidFill>
                  <a:srgbClr val="1A2333"/>
                </a:solidFill>
                <a:latin typeface="Calibri"/>
              </a:rPr>
              <a:t>Cliënt aanmaken met persoonsgegevens</a:t>
            </a:r>
          </a:p>
        </p:txBody>
      </p:sp>
      <p:sp>
        <p:nvSpPr>
          <p:cNvPr id="10" name="TextBox 9"/>
          <p:cNvSpPr txBox="1"/>
          <p:nvPr/>
        </p:nvSpPr>
        <p:spPr>
          <a:xfrm>
            <a:off x="4846320" y="2011680"/>
            <a:ext cx="914400" cy="274320"/>
          </a:xfrm>
          <a:prstGeom prst="rect">
            <a:avLst/>
          </a:prstGeom>
          <a:noFill/>
        </p:spPr>
        <p:txBody>
          <a:bodyPr wrap="square" lIns="0" tIns="0" rIns="0" bIns="0" anchor="t">
            <a:spAutoFit/>
          </a:bodyPr>
          <a:lstStyle/>
          <a:p>
            <a:pPr algn="r"/>
            <a:r>
              <a:rPr sz="1000" b="0" i="1">
                <a:solidFill>
                  <a:srgbClr val="5A6C7D"/>
                </a:solidFill>
                <a:latin typeface="Calibri"/>
              </a:rPr>
              <a:t>21 tests</a:t>
            </a:r>
          </a:p>
        </p:txBody>
      </p:sp>
      <p:sp>
        <p:nvSpPr>
          <p:cNvPr id="11" name="TextBox 10"/>
          <p:cNvSpPr txBox="1"/>
          <p:nvPr/>
        </p:nvSpPr>
        <p:spPr>
          <a:xfrm>
            <a:off x="685800" y="2295144"/>
            <a:ext cx="777240" cy="274320"/>
          </a:xfrm>
          <a:prstGeom prst="rect">
            <a:avLst/>
          </a:prstGeom>
          <a:noFill/>
        </p:spPr>
        <p:txBody>
          <a:bodyPr wrap="square" lIns="0" tIns="0" rIns="0" bIns="0" anchor="t">
            <a:spAutoFit/>
          </a:bodyPr>
          <a:lstStyle/>
          <a:p>
            <a:pPr algn="l"/>
            <a:r>
              <a:rPr sz="1100" b="1" i="0">
                <a:solidFill>
                  <a:srgbClr val="1E2761"/>
                </a:solidFill>
                <a:latin typeface="Calibri"/>
              </a:rPr>
              <a:t>US-08</a:t>
            </a:r>
          </a:p>
        </p:txBody>
      </p:sp>
      <p:sp>
        <p:nvSpPr>
          <p:cNvPr id="12" name="TextBox 11"/>
          <p:cNvSpPr txBox="1"/>
          <p:nvPr/>
        </p:nvSpPr>
        <p:spPr>
          <a:xfrm>
            <a:off x="1463040" y="2295144"/>
            <a:ext cx="3337560" cy="274320"/>
          </a:xfrm>
          <a:prstGeom prst="rect">
            <a:avLst/>
          </a:prstGeom>
          <a:noFill/>
        </p:spPr>
        <p:txBody>
          <a:bodyPr wrap="square" lIns="0" tIns="0" rIns="0" bIns="0" anchor="t">
            <a:spAutoFit/>
          </a:bodyPr>
          <a:lstStyle/>
          <a:p>
            <a:pPr algn="l"/>
            <a:r>
              <a:rPr sz="1100" b="0" i="0">
                <a:solidFill>
                  <a:srgbClr val="1A2333"/>
                </a:solidFill>
                <a:latin typeface="Calibri"/>
              </a:rPr>
              <a:t>Cliënten koppelen (primair/secundair/tertiair)</a:t>
            </a:r>
          </a:p>
        </p:txBody>
      </p:sp>
      <p:sp>
        <p:nvSpPr>
          <p:cNvPr id="13" name="TextBox 12"/>
          <p:cNvSpPr txBox="1"/>
          <p:nvPr/>
        </p:nvSpPr>
        <p:spPr>
          <a:xfrm>
            <a:off x="4846320" y="2295144"/>
            <a:ext cx="914400" cy="274320"/>
          </a:xfrm>
          <a:prstGeom prst="rect">
            <a:avLst/>
          </a:prstGeom>
          <a:noFill/>
        </p:spPr>
        <p:txBody>
          <a:bodyPr wrap="square" lIns="0" tIns="0" rIns="0" bIns="0" anchor="t">
            <a:spAutoFit/>
          </a:bodyPr>
          <a:lstStyle/>
          <a:p>
            <a:pPr algn="r"/>
            <a:r>
              <a:rPr sz="1000" b="0" i="1">
                <a:solidFill>
                  <a:srgbClr val="5A6C7D"/>
                </a:solidFill>
                <a:latin typeface="Calibri"/>
              </a:rPr>
              <a:t>29 tests</a:t>
            </a:r>
          </a:p>
        </p:txBody>
      </p:sp>
      <p:sp>
        <p:nvSpPr>
          <p:cNvPr id="14" name="TextBox 13"/>
          <p:cNvSpPr txBox="1"/>
          <p:nvPr/>
        </p:nvSpPr>
        <p:spPr>
          <a:xfrm>
            <a:off x="685800" y="2578608"/>
            <a:ext cx="777240" cy="274320"/>
          </a:xfrm>
          <a:prstGeom prst="rect">
            <a:avLst/>
          </a:prstGeom>
          <a:noFill/>
        </p:spPr>
        <p:txBody>
          <a:bodyPr wrap="square" lIns="0" tIns="0" rIns="0" bIns="0" anchor="t">
            <a:spAutoFit/>
          </a:bodyPr>
          <a:lstStyle/>
          <a:p>
            <a:pPr algn="l"/>
            <a:r>
              <a:rPr sz="1100" b="1" i="0">
                <a:solidFill>
                  <a:srgbClr val="1E2761"/>
                </a:solidFill>
                <a:latin typeface="Calibri"/>
              </a:rPr>
              <a:t>US-09</a:t>
            </a:r>
          </a:p>
        </p:txBody>
      </p:sp>
      <p:sp>
        <p:nvSpPr>
          <p:cNvPr id="15" name="TextBox 14"/>
          <p:cNvSpPr txBox="1"/>
          <p:nvPr/>
        </p:nvSpPr>
        <p:spPr>
          <a:xfrm>
            <a:off x="1463040" y="2578608"/>
            <a:ext cx="3337560" cy="274320"/>
          </a:xfrm>
          <a:prstGeom prst="rect">
            <a:avLst/>
          </a:prstGeom>
          <a:noFill/>
        </p:spPr>
        <p:txBody>
          <a:bodyPr wrap="square" lIns="0" tIns="0" rIns="0" bIns="0" anchor="t">
            <a:spAutoFit/>
          </a:bodyPr>
          <a:lstStyle/>
          <a:p>
            <a:pPr algn="l"/>
            <a:r>
              <a:rPr sz="1100" b="0" i="0">
                <a:solidFill>
                  <a:srgbClr val="1A2333"/>
                </a:solidFill>
                <a:latin typeface="Calibri"/>
              </a:rPr>
              <a:t>Cliëntenoverzicht rol-gebaseerd + filter</a:t>
            </a:r>
          </a:p>
        </p:txBody>
      </p:sp>
      <p:sp>
        <p:nvSpPr>
          <p:cNvPr id="16" name="TextBox 15"/>
          <p:cNvSpPr txBox="1"/>
          <p:nvPr/>
        </p:nvSpPr>
        <p:spPr>
          <a:xfrm>
            <a:off x="4846320" y="2578608"/>
            <a:ext cx="914400" cy="274320"/>
          </a:xfrm>
          <a:prstGeom prst="rect">
            <a:avLst/>
          </a:prstGeom>
          <a:noFill/>
        </p:spPr>
        <p:txBody>
          <a:bodyPr wrap="square" lIns="0" tIns="0" rIns="0" bIns="0" anchor="t">
            <a:spAutoFit/>
          </a:bodyPr>
          <a:lstStyle/>
          <a:p>
            <a:pPr algn="r"/>
            <a:r>
              <a:rPr sz="1000" b="0" i="1">
                <a:solidFill>
                  <a:srgbClr val="5A6C7D"/>
                </a:solidFill>
                <a:latin typeface="Calibri"/>
              </a:rPr>
              <a:t>27 tests</a:t>
            </a:r>
          </a:p>
        </p:txBody>
      </p:sp>
      <p:sp>
        <p:nvSpPr>
          <p:cNvPr id="17" name="TextBox 16"/>
          <p:cNvSpPr txBox="1"/>
          <p:nvPr/>
        </p:nvSpPr>
        <p:spPr>
          <a:xfrm>
            <a:off x="685800" y="2862072"/>
            <a:ext cx="777240" cy="274320"/>
          </a:xfrm>
          <a:prstGeom prst="rect">
            <a:avLst/>
          </a:prstGeom>
          <a:noFill/>
        </p:spPr>
        <p:txBody>
          <a:bodyPr wrap="square" lIns="0" tIns="0" rIns="0" bIns="0" anchor="t">
            <a:spAutoFit/>
          </a:bodyPr>
          <a:lstStyle/>
          <a:p>
            <a:pPr algn="l"/>
            <a:r>
              <a:rPr sz="1100" b="1" i="0">
                <a:solidFill>
                  <a:srgbClr val="1E2761"/>
                </a:solidFill>
                <a:latin typeface="Calibri"/>
              </a:rPr>
              <a:t>US-10</a:t>
            </a:r>
          </a:p>
        </p:txBody>
      </p:sp>
      <p:sp>
        <p:nvSpPr>
          <p:cNvPr id="18" name="TextBox 17"/>
          <p:cNvSpPr txBox="1"/>
          <p:nvPr/>
        </p:nvSpPr>
        <p:spPr>
          <a:xfrm>
            <a:off x="1463040" y="2862072"/>
            <a:ext cx="3337560" cy="274320"/>
          </a:xfrm>
          <a:prstGeom prst="rect">
            <a:avLst/>
          </a:prstGeom>
          <a:noFill/>
        </p:spPr>
        <p:txBody>
          <a:bodyPr wrap="square" lIns="0" tIns="0" rIns="0" bIns="0" anchor="t">
            <a:spAutoFit/>
          </a:bodyPr>
          <a:lstStyle/>
          <a:p>
            <a:pPr algn="l"/>
            <a:r>
              <a:rPr sz="1100" b="0" i="0">
                <a:solidFill>
                  <a:srgbClr val="1A2333"/>
                </a:solidFill>
                <a:latin typeface="Calibri"/>
              </a:rPr>
              <a:t>Cliënt bewerken &amp; archiveren (soft delete)</a:t>
            </a:r>
          </a:p>
        </p:txBody>
      </p:sp>
      <p:sp>
        <p:nvSpPr>
          <p:cNvPr id="19" name="TextBox 18"/>
          <p:cNvSpPr txBox="1"/>
          <p:nvPr/>
        </p:nvSpPr>
        <p:spPr>
          <a:xfrm>
            <a:off x="4846320" y="2862072"/>
            <a:ext cx="914400" cy="274320"/>
          </a:xfrm>
          <a:prstGeom prst="rect">
            <a:avLst/>
          </a:prstGeom>
          <a:noFill/>
        </p:spPr>
        <p:txBody>
          <a:bodyPr wrap="square" lIns="0" tIns="0" rIns="0" bIns="0" anchor="t">
            <a:spAutoFit/>
          </a:bodyPr>
          <a:lstStyle/>
          <a:p>
            <a:pPr algn="r"/>
            <a:r>
              <a:rPr sz="1000" b="0" i="1">
                <a:solidFill>
                  <a:srgbClr val="5A6C7D"/>
                </a:solidFill>
                <a:latin typeface="Calibri"/>
              </a:rPr>
              <a:t>31 tests</a:t>
            </a:r>
          </a:p>
        </p:txBody>
      </p:sp>
      <p:sp>
        <p:nvSpPr>
          <p:cNvPr id="20" name="Rectangle 19"/>
          <p:cNvSpPr/>
          <p:nvPr/>
        </p:nvSpPr>
        <p:spPr>
          <a:xfrm>
            <a:off x="685800" y="3282696"/>
            <a:ext cx="5029200" cy="27432"/>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3447288"/>
            <a:ext cx="5029200" cy="274320"/>
          </a:xfrm>
          <a:prstGeom prst="rect">
            <a:avLst/>
          </a:prstGeom>
          <a:noFill/>
        </p:spPr>
        <p:txBody>
          <a:bodyPr wrap="square" lIns="0" tIns="0" rIns="0" bIns="0" anchor="t">
            <a:spAutoFit/>
          </a:bodyPr>
          <a:lstStyle/>
          <a:p>
            <a:pPr algn="l"/>
            <a:r>
              <a:rPr sz="1000" b="1" i="0">
                <a:solidFill>
                  <a:srgbClr val="028090"/>
                </a:solidFill>
                <a:latin typeface="Calibri"/>
              </a:rPr>
              <a:t>KEY TECHNICAL POINTS</a:t>
            </a:r>
          </a:p>
        </p:txBody>
      </p:sp>
      <p:sp>
        <p:nvSpPr>
          <p:cNvPr id="22" name="TextBox 21"/>
          <p:cNvSpPr txBox="1"/>
          <p:nvPr/>
        </p:nvSpPr>
        <p:spPr>
          <a:xfrm>
            <a:off x="685800" y="3767328"/>
            <a:ext cx="5029200" cy="2286000"/>
          </a:xfrm>
          <a:prstGeom prst="rect">
            <a:avLst/>
          </a:prstGeom>
          <a:noFill/>
        </p:spPr>
        <p:txBody>
          <a:bodyPr wrap="square" lIns="0" tIns="0" rIns="0" bIns="0" anchor="t">
            <a:spAutoFit/>
          </a:bodyPr>
          <a:lstStyle/>
          <a:p>
            <a:pPr algn="l">
              <a:lnSpc>
                <a:spcPct val="115000"/>
              </a:lnSpc>
              <a:spcAft>
                <a:spcPts val="400"/>
              </a:spcAft>
            </a:pPr>
            <a:r>
              <a:rPr sz="1100" b="0" i="0">
                <a:solidFill>
                  <a:srgbClr val="1A2333"/>
                </a:solidFill>
                <a:latin typeface="Calibri"/>
              </a:rPr>
              <a:t>•  Drie rol-niveaus per cliënt: primair · secundair · tertiair</a:t>
            </a:r>
          </a:p>
          <a:p>
            <a:pPr algn="l">
              <a:lnSpc>
                <a:spcPct val="115000"/>
              </a:lnSpc>
              <a:spcAft>
                <a:spcPts val="400"/>
              </a:spcAft>
            </a:pPr>
            <a:r>
              <a:rPr sz="1100" b="0" i="0">
                <a:solidFill>
                  <a:srgbClr val="1A2333"/>
                </a:solidFill>
                <a:latin typeface="Calibri"/>
              </a:rPr>
              <a:t>•  Partial unique index op DB-niveau (max 1 primair + 1 secundair per cliënt)</a:t>
            </a:r>
          </a:p>
          <a:p>
            <a:pPr algn="l">
              <a:lnSpc>
                <a:spcPct val="115000"/>
              </a:lnSpc>
              <a:spcAft>
                <a:spcPts val="400"/>
              </a:spcAft>
            </a:pPr>
            <a:r>
              <a:rPr sz="1100" b="0" i="0">
                <a:solidFill>
                  <a:srgbClr val="1A2333"/>
                </a:solidFill>
                <a:latin typeface="Calibri"/>
              </a:rPr>
              <a:t>•  Zorgtypes: WMO · WLZ · Jeugdwet — Form Request validatie</a:t>
            </a:r>
          </a:p>
          <a:p>
            <a:pPr algn="l">
              <a:lnSpc>
                <a:spcPct val="115000"/>
              </a:lnSpc>
              <a:spcAft>
                <a:spcPts val="400"/>
              </a:spcAft>
            </a:pPr>
            <a:r>
              <a:rPr sz="1100" b="0" i="0">
                <a:solidFill>
                  <a:srgbClr val="1A2333"/>
                </a:solidFill>
                <a:latin typeface="Calibri"/>
              </a:rPr>
              <a:t>•  Rol-gefilterd overzicht — zorgbegeleider ziet alleen eigen caseload</a:t>
            </a:r>
          </a:p>
          <a:p>
            <a:pPr algn="l">
              <a:lnSpc>
                <a:spcPct val="115000"/>
              </a:lnSpc>
              <a:spcAft>
                <a:spcPts val="400"/>
              </a:spcAft>
            </a:pPr>
            <a:r>
              <a:rPr sz="1100" b="0" i="0">
                <a:solidFill>
                  <a:srgbClr val="1A2333"/>
                </a:solidFill>
                <a:latin typeface="Calibri"/>
              </a:rPr>
              <a:t>•  Soft-delete via Eloquent SoftDeletes + apart 'archief'-tab</a:t>
            </a:r>
          </a:p>
          <a:p>
            <a:pPr algn="l">
              <a:lnSpc>
                <a:spcPct val="115000"/>
              </a:lnSpc>
              <a:spcAft>
                <a:spcPts val="400"/>
              </a:spcAft>
            </a:pPr>
            <a:r>
              <a:rPr sz="1100" b="0" i="0">
                <a:solidFill>
                  <a:srgbClr val="1A2333"/>
                </a:solidFill>
                <a:latin typeface="Calibri"/>
              </a:rPr>
              <a:t>•  N+1-regressietest via DB::listen op alle lijst-endpoints</a:t>
            </a:r>
          </a:p>
          <a:p>
            <a:pPr algn="l">
              <a:lnSpc>
                <a:spcPct val="115000"/>
              </a:lnSpc>
              <a:spcAft>
                <a:spcPts val="400"/>
              </a:spcAft>
            </a:pPr>
            <a:r>
              <a:rPr sz="1100" b="0" i="0">
                <a:solidFill>
                  <a:srgbClr val="1A2333"/>
                </a:solidFill>
                <a:latin typeface="Calibri"/>
              </a:rPr>
              <a:t>•  108 Pest-tests · 286 asserts — alle 4 US's PASS</a:t>
            </a:r>
          </a:p>
        </p:txBody>
      </p:sp>
      <p:sp>
        <p:nvSpPr>
          <p:cNvPr id="23" name="Rectangle 22"/>
          <p:cNvSpPr/>
          <p:nvPr/>
        </p:nvSpPr>
        <p:spPr>
          <a:xfrm>
            <a:off x="6126480" y="1508760"/>
            <a:ext cx="5623560" cy="233172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01-client-aanmaken.png"/>
          <p:cNvPicPr>
            <a:picLocks noChangeAspect="1"/>
          </p:cNvPicPr>
          <p:nvPr/>
        </p:nvPicPr>
        <p:blipFill>
          <a:blip r:embed="rId3"/>
          <a:stretch>
            <a:fillRect/>
          </a:stretch>
        </p:blipFill>
        <p:spPr>
          <a:xfrm>
            <a:off x="6172200" y="1554480"/>
            <a:ext cx="5532120" cy="2240280"/>
          </a:xfrm>
          <a:prstGeom prst="rect">
            <a:avLst/>
          </a:prstGeom>
        </p:spPr>
      </p:pic>
      <p:sp>
        <p:nvSpPr>
          <p:cNvPr id="25" name="TextBox 24"/>
          <p:cNvSpPr txBox="1"/>
          <p:nvPr/>
        </p:nvSpPr>
        <p:spPr>
          <a:xfrm>
            <a:off x="6263640" y="1600200"/>
            <a:ext cx="5349240" cy="228600"/>
          </a:xfrm>
          <a:prstGeom prst="rect">
            <a:avLst/>
          </a:prstGeom>
          <a:noFill/>
        </p:spPr>
        <p:txBody>
          <a:bodyPr wrap="square" lIns="0" tIns="0" rIns="0" bIns="0" anchor="t">
            <a:spAutoFit/>
          </a:bodyPr>
          <a:lstStyle/>
          <a:p>
            <a:pPr algn="l"/>
            <a:r>
              <a:rPr sz="900" b="0" i="1">
                <a:solidFill>
                  <a:srgbClr val="5A6C7D"/>
                </a:solidFill>
                <a:latin typeface="Calibri"/>
              </a:rPr>
              <a:t>US-07 · Cliënt aanmaken met persoonsgegevens</a:t>
            </a:r>
          </a:p>
        </p:txBody>
      </p:sp>
      <p:sp>
        <p:nvSpPr>
          <p:cNvPr id="26" name="Rectangle 25"/>
          <p:cNvSpPr/>
          <p:nvPr/>
        </p:nvSpPr>
        <p:spPr>
          <a:xfrm>
            <a:off x="6126480" y="4069080"/>
            <a:ext cx="5623560" cy="233172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01-clienten-overzicht.png"/>
          <p:cNvPicPr>
            <a:picLocks noChangeAspect="1"/>
          </p:cNvPicPr>
          <p:nvPr/>
        </p:nvPicPr>
        <p:blipFill>
          <a:blip r:embed="rId4"/>
          <a:stretch>
            <a:fillRect/>
          </a:stretch>
        </p:blipFill>
        <p:spPr>
          <a:xfrm>
            <a:off x="6172200" y="4114800"/>
            <a:ext cx="5532120" cy="2240280"/>
          </a:xfrm>
          <a:prstGeom prst="rect">
            <a:avLst/>
          </a:prstGeom>
        </p:spPr>
      </p:pic>
      <p:sp>
        <p:nvSpPr>
          <p:cNvPr id="28" name="TextBox 27"/>
          <p:cNvSpPr txBox="1"/>
          <p:nvPr/>
        </p:nvSpPr>
        <p:spPr>
          <a:xfrm>
            <a:off x="6263640" y="4160520"/>
            <a:ext cx="5349240" cy="228600"/>
          </a:xfrm>
          <a:prstGeom prst="rect">
            <a:avLst/>
          </a:prstGeom>
          <a:noFill/>
        </p:spPr>
        <p:txBody>
          <a:bodyPr wrap="square" lIns="0" tIns="0" rIns="0" bIns="0" anchor="t">
            <a:spAutoFit/>
          </a:bodyPr>
          <a:lstStyle/>
          <a:p>
            <a:pPr algn="l"/>
            <a:r>
              <a:rPr sz="900" b="0" i="1">
                <a:solidFill>
                  <a:srgbClr val="5A6C7D"/>
                </a:solidFill>
                <a:latin typeface="Calibri"/>
              </a:rPr>
              <a:t>US-09 · Cliëntenoverzicht (rol-gefilterd)</a:t>
            </a:r>
          </a:p>
        </p:txBody>
      </p:sp>
      <p:sp>
        <p:nvSpPr>
          <p:cNvPr id="29" name="TextBox 28"/>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0" name="TextBox 29"/>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12 / 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BLOK 3 · SPRINT 3 + SPRINT 4  ·  6 USER STORIES</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Urenregistratie + Auth-afronding</a:t>
            </a:r>
          </a:p>
        </p:txBody>
      </p:sp>
      <p:sp>
        <p:nvSpPr>
          <p:cNvPr id="6" name="Rounded Rectangle 5"/>
          <p:cNvSpPr/>
          <p:nvPr/>
        </p:nvSpPr>
        <p:spPr>
          <a:xfrm>
            <a:off x="457200" y="1508760"/>
            <a:ext cx="5486400" cy="489204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691640"/>
            <a:ext cx="5029200" cy="274320"/>
          </a:xfrm>
          <a:prstGeom prst="rect">
            <a:avLst/>
          </a:prstGeom>
          <a:noFill/>
        </p:spPr>
        <p:txBody>
          <a:bodyPr wrap="square" lIns="0" tIns="0" rIns="0" bIns="0" anchor="t">
            <a:spAutoFit/>
          </a:bodyPr>
          <a:lstStyle/>
          <a:p>
            <a:pPr algn="l"/>
            <a:r>
              <a:rPr sz="1000" b="1" i="0">
                <a:solidFill>
                  <a:srgbClr val="028090"/>
                </a:solidFill>
                <a:latin typeface="Calibri"/>
              </a:rPr>
              <a:t>USER STORIES IN DIT BLOK</a:t>
            </a:r>
          </a:p>
        </p:txBody>
      </p:sp>
      <p:sp>
        <p:nvSpPr>
          <p:cNvPr id="8" name="TextBox 7"/>
          <p:cNvSpPr txBox="1"/>
          <p:nvPr/>
        </p:nvSpPr>
        <p:spPr>
          <a:xfrm>
            <a:off x="685800" y="2011680"/>
            <a:ext cx="777240" cy="274320"/>
          </a:xfrm>
          <a:prstGeom prst="rect">
            <a:avLst/>
          </a:prstGeom>
          <a:noFill/>
        </p:spPr>
        <p:txBody>
          <a:bodyPr wrap="square" lIns="0" tIns="0" rIns="0" bIns="0" anchor="t">
            <a:spAutoFit/>
          </a:bodyPr>
          <a:lstStyle/>
          <a:p>
            <a:pPr algn="l"/>
            <a:r>
              <a:rPr sz="1100" b="1" i="0">
                <a:solidFill>
                  <a:srgbClr val="1E2761"/>
                </a:solidFill>
                <a:latin typeface="Calibri"/>
              </a:rPr>
              <a:t>US-11</a:t>
            </a:r>
          </a:p>
        </p:txBody>
      </p:sp>
      <p:sp>
        <p:nvSpPr>
          <p:cNvPr id="9" name="TextBox 8"/>
          <p:cNvSpPr txBox="1"/>
          <p:nvPr/>
        </p:nvSpPr>
        <p:spPr>
          <a:xfrm>
            <a:off x="1463040" y="2011680"/>
            <a:ext cx="3337560" cy="274320"/>
          </a:xfrm>
          <a:prstGeom prst="rect">
            <a:avLst/>
          </a:prstGeom>
          <a:noFill/>
        </p:spPr>
        <p:txBody>
          <a:bodyPr wrap="square" lIns="0" tIns="0" rIns="0" bIns="0" anchor="t">
            <a:spAutoFit/>
          </a:bodyPr>
          <a:lstStyle/>
          <a:p>
            <a:pPr algn="l"/>
            <a:r>
              <a:rPr sz="1100" b="0" i="0">
                <a:solidFill>
                  <a:srgbClr val="1A2333"/>
                </a:solidFill>
                <a:latin typeface="Calibri"/>
              </a:rPr>
              <a:t>Concept-uren aanmaken &amp; bewerken</a:t>
            </a:r>
          </a:p>
        </p:txBody>
      </p:sp>
      <p:sp>
        <p:nvSpPr>
          <p:cNvPr id="10" name="TextBox 9"/>
          <p:cNvSpPr txBox="1"/>
          <p:nvPr/>
        </p:nvSpPr>
        <p:spPr>
          <a:xfrm>
            <a:off x="4846320" y="2011680"/>
            <a:ext cx="914400" cy="274320"/>
          </a:xfrm>
          <a:prstGeom prst="rect">
            <a:avLst/>
          </a:prstGeom>
          <a:noFill/>
        </p:spPr>
        <p:txBody>
          <a:bodyPr wrap="square" lIns="0" tIns="0" rIns="0" bIns="0" anchor="t">
            <a:spAutoFit/>
          </a:bodyPr>
          <a:lstStyle/>
          <a:p>
            <a:pPr algn="r"/>
            <a:r>
              <a:rPr sz="1000" b="0" i="1">
                <a:solidFill>
                  <a:srgbClr val="5A6C7D"/>
                </a:solidFill>
                <a:latin typeface="Calibri"/>
              </a:rPr>
              <a:t>28 tests</a:t>
            </a:r>
          </a:p>
        </p:txBody>
      </p:sp>
      <p:sp>
        <p:nvSpPr>
          <p:cNvPr id="11" name="TextBox 10"/>
          <p:cNvSpPr txBox="1"/>
          <p:nvPr/>
        </p:nvSpPr>
        <p:spPr>
          <a:xfrm>
            <a:off x="685800" y="2295144"/>
            <a:ext cx="777240" cy="274320"/>
          </a:xfrm>
          <a:prstGeom prst="rect">
            <a:avLst/>
          </a:prstGeom>
          <a:noFill/>
        </p:spPr>
        <p:txBody>
          <a:bodyPr wrap="square" lIns="0" tIns="0" rIns="0" bIns="0" anchor="t">
            <a:spAutoFit/>
          </a:bodyPr>
          <a:lstStyle/>
          <a:p>
            <a:pPr algn="l"/>
            <a:r>
              <a:rPr sz="1100" b="1" i="0">
                <a:solidFill>
                  <a:srgbClr val="1E2761"/>
                </a:solidFill>
                <a:latin typeface="Calibri"/>
              </a:rPr>
              <a:t>US-12</a:t>
            </a:r>
          </a:p>
        </p:txBody>
      </p:sp>
      <p:sp>
        <p:nvSpPr>
          <p:cNvPr id="12" name="TextBox 11"/>
          <p:cNvSpPr txBox="1"/>
          <p:nvPr/>
        </p:nvSpPr>
        <p:spPr>
          <a:xfrm>
            <a:off x="1463040" y="2295144"/>
            <a:ext cx="3337560" cy="274320"/>
          </a:xfrm>
          <a:prstGeom prst="rect">
            <a:avLst/>
          </a:prstGeom>
          <a:noFill/>
        </p:spPr>
        <p:txBody>
          <a:bodyPr wrap="square" lIns="0" tIns="0" rIns="0" bIns="0" anchor="t">
            <a:spAutoFit/>
          </a:bodyPr>
          <a:lstStyle/>
          <a:p>
            <a:pPr algn="l"/>
            <a:r>
              <a:rPr sz="1100" b="0" i="0">
                <a:solidFill>
                  <a:srgbClr val="1A2333"/>
                </a:solidFill>
                <a:latin typeface="Calibri"/>
              </a:rPr>
              <a:t>Uren indienen + terugtrekken + resubmit</a:t>
            </a:r>
          </a:p>
        </p:txBody>
      </p:sp>
      <p:sp>
        <p:nvSpPr>
          <p:cNvPr id="13" name="TextBox 12"/>
          <p:cNvSpPr txBox="1"/>
          <p:nvPr/>
        </p:nvSpPr>
        <p:spPr>
          <a:xfrm>
            <a:off x="4846320" y="2295144"/>
            <a:ext cx="914400" cy="274320"/>
          </a:xfrm>
          <a:prstGeom prst="rect">
            <a:avLst/>
          </a:prstGeom>
          <a:noFill/>
        </p:spPr>
        <p:txBody>
          <a:bodyPr wrap="square" lIns="0" tIns="0" rIns="0" bIns="0" anchor="t">
            <a:spAutoFit/>
          </a:bodyPr>
          <a:lstStyle/>
          <a:p>
            <a:pPr algn="r"/>
            <a:r>
              <a:rPr sz="1000" b="0" i="1">
                <a:solidFill>
                  <a:srgbClr val="5A6C7D"/>
                </a:solidFill>
                <a:latin typeface="Calibri"/>
              </a:rPr>
              <a:t>31 tests</a:t>
            </a:r>
          </a:p>
        </p:txBody>
      </p:sp>
      <p:sp>
        <p:nvSpPr>
          <p:cNvPr id="14" name="TextBox 13"/>
          <p:cNvSpPr txBox="1"/>
          <p:nvPr/>
        </p:nvSpPr>
        <p:spPr>
          <a:xfrm>
            <a:off x="685800" y="2578608"/>
            <a:ext cx="777240" cy="274320"/>
          </a:xfrm>
          <a:prstGeom prst="rect">
            <a:avLst/>
          </a:prstGeom>
          <a:noFill/>
        </p:spPr>
        <p:txBody>
          <a:bodyPr wrap="square" lIns="0" tIns="0" rIns="0" bIns="0" anchor="t">
            <a:spAutoFit/>
          </a:bodyPr>
          <a:lstStyle/>
          <a:p>
            <a:pPr algn="l"/>
            <a:r>
              <a:rPr sz="1100" b="1" i="0">
                <a:solidFill>
                  <a:srgbClr val="1E2761"/>
                </a:solidFill>
                <a:latin typeface="Calibri"/>
              </a:rPr>
              <a:t>US-13</a:t>
            </a:r>
          </a:p>
        </p:txBody>
      </p:sp>
      <p:sp>
        <p:nvSpPr>
          <p:cNvPr id="15" name="TextBox 14"/>
          <p:cNvSpPr txBox="1"/>
          <p:nvPr/>
        </p:nvSpPr>
        <p:spPr>
          <a:xfrm>
            <a:off x="1463040" y="2578608"/>
            <a:ext cx="3337560" cy="274320"/>
          </a:xfrm>
          <a:prstGeom prst="rect">
            <a:avLst/>
          </a:prstGeom>
          <a:noFill/>
        </p:spPr>
        <p:txBody>
          <a:bodyPr wrap="square" lIns="0" tIns="0" rIns="0" bIns="0" anchor="t">
            <a:spAutoFit/>
          </a:bodyPr>
          <a:lstStyle/>
          <a:p>
            <a:pPr algn="l"/>
            <a:r>
              <a:rPr sz="1100" b="0" i="0">
                <a:solidFill>
                  <a:srgbClr val="1A2333"/>
                </a:solidFill>
                <a:latin typeface="Calibri"/>
              </a:rPr>
              <a:t>Uren goedkeuren of afkeuren (teamleider)</a:t>
            </a:r>
          </a:p>
        </p:txBody>
      </p:sp>
      <p:sp>
        <p:nvSpPr>
          <p:cNvPr id="16" name="TextBox 15"/>
          <p:cNvSpPr txBox="1"/>
          <p:nvPr/>
        </p:nvSpPr>
        <p:spPr>
          <a:xfrm>
            <a:off x="4846320" y="2578608"/>
            <a:ext cx="914400" cy="274320"/>
          </a:xfrm>
          <a:prstGeom prst="rect">
            <a:avLst/>
          </a:prstGeom>
          <a:noFill/>
        </p:spPr>
        <p:txBody>
          <a:bodyPr wrap="square" lIns="0" tIns="0" rIns="0" bIns="0" anchor="t">
            <a:spAutoFit/>
          </a:bodyPr>
          <a:lstStyle/>
          <a:p>
            <a:pPr algn="r"/>
            <a:r>
              <a:rPr sz="1000" b="0" i="1">
                <a:solidFill>
                  <a:srgbClr val="5A6C7D"/>
                </a:solidFill>
                <a:latin typeface="Calibri"/>
              </a:rPr>
              <a:t>27 tests</a:t>
            </a:r>
          </a:p>
        </p:txBody>
      </p:sp>
      <p:sp>
        <p:nvSpPr>
          <p:cNvPr id="17" name="TextBox 16"/>
          <p:cNvSpPr txBox="1"/>
          <p:nvPr/>
        </p:nvSpPr>
        <p:spPr>
          <a:xfrm>
            <a:off x="685800" y="2862072"/>
            <a:ext cx="777240" cy="274320"/>
          </a:xfrm>
          <a:prstGeom prst="rect">
            <a:avLst/>
          </a:prstGeom>
          <a:noFill/>
        </p:spPr>
        <p:txBody>
          <a:bodyPr wrap="square" lIns="0" tIns="0" rIns="0" bIns="0" anchor="t">
            <a:spAutoFit/>
          </a:bodyPr>
          <a:lstStyle/>
          <a:p>
            <a:pPr algn="l"/>
            <a:r>
              <a:rPr sz="1100" b="1" i="0">
                <a:solidFill>
                  <a:srgbClr val="1E2761"/>
                </a:solidFill>
                <a:latin typeface="Calibri"/>
              </a:rPr>
              <a:t>US-14</a:t>
            </a:r>
          </a:p>
        </p:txBody>
      </p:sp>
      <p:sp>
        <p:nvSpPr>
          <p:cNvPr id="18" name="TextBox 17"/>
          <p:cNvSpPr txBox="1"/>
          <p:nvPr/>
        </p:nvSpPr>
        <p:spPr>
          <a:xfrm>
            <a:off x="1463040" y="2862072"/>
            <a:ext cx="3337560" cy="274320"/>
          </a:xfrm>
          <a:prstGeom prst="rect">
            <a:avLst/>
          </a:prstGeom>
          <a:noFill/>
        </p:spPr>
        <p:txBody>
          <a:bodyPr wrap="square" lIns="0" tIns="0" rIns="0" bIns="0" anchor="t">
            <a:spAutoFit/>
          </a:bodyPr>
          <a:lstStyle/>
          <a:p>
            <a:pPr algn="l"/>
            <a:r>
              <a:rPr sz="1100" b="0" i="0">
                <a:solidFill>
                  <a:srgbClr val="1A2333"/>
                </a:solidFill>
                <a:latin typeface="Calibri"/>
              </a:rPr>
              <a:t>Urenoverzicht met filters (status/wk/medew.)</a:t>
            </a:r>
          </a:p>
        </p:txBody>
      </p:sp>
      <p:sp>
        <p:nvSpPr>
          <p:cNvPr id="19" name="TextBox 18"/>
          <p:cNvSpPr txBox="1"/>
          <p:nvPr/>
        </p:nvSpPr>
        <p:spPr>
          <a:xfrm>
            <a:off x="4846320" y="2862072"/>
            <a:ext cx="914400" cy="274320"/>
          </a:xfrm>
          <a:prstGeom prst="rect">
            <a:avLst/>
          </a:prstGeom>
          <a:noFill/>
        </p:spPr>
        <p:txBody>
          <a:bodyPr wrap="square" lIns="0" tIns="0" rIns="0" bIns="0" anchor="t">
            <a:spAutoFit/>
          </a:bodyPr>
          <a:lstStyle/>
          <a:p>
            <a:pPr algn="r"/>
            <a:r>
              <a:rPr sz="1000" b="0" i="1">
                <a:solidFill>
                  <a:srgbClr val="5A6C7D"/>
                </a:solidFill>
                <a:latin typeface="Calibri"/>
              </a:rPr>
              <a:t>22 tests</a:t>
            </a:r>
          </a:p>
        </p:txBody>
      </p:sp>
      <p:sp>
        <p:nvSpPr>
          <p:cNvPr id="20" name="TextBox 19"/>
          <p:cNvSpPr txBox="1"/>
          <p:nvPr/>
        </p:nvSpPr>
        <p:spPr>
          <a:xfrm>
            <a:off x="685800" y="3145536"/>
            <a:ext cx="777240" cy="274320"/>
          </a:xfrm>
          <a:prstGeom prst="rect">
            <a:avLst/>
          </a:prstGeom>
          <a:noFill/>
        </p:spPr>
        <p:txBody>
          <a:bodyPr wrap="square" lIns="0" tIns="0" rIns="0" bIns="0" anchor="t">
            <a:spAutoFit/>
          </a:bodyPr>
          <a:lstStyle/>
          <a:p>
            <a:pPr algn="l"/>
            <a:r>
              <a:rPr sz="1100" b="1" i="0">
                <a:solidFill>
                  <a:srgbClr val="1E2761"/>
                </a:solidFill>
                <a:latin typeface="Calibri"/>
              </a:rPr>
              <a:t>US-15</a:t>
            </a:r>
          </a:p>
        </p:txBody>
      </p:sp>
      <p:sp>
        <p:nvSpPr>
          <p:cNvPr id="21" name="TextBox 20"/>
          <p:cNvSpPr txBox="1"/>
          <p:nvPr/>
        </p:nvSpPr>
        <p:spPr>
          <a:xfrm>
            <a:off x="1463040" y="3145536"/>
            <a:ext cx="3337560" cy="274320"/>
          </a:xfrm>
          <a:prstGeom prst="rect">
            <a:avLst/>
          </a:prstGeom>
          <a:noFill/>
        </p:spPr>
        <p:txBody>
          <a:bodyPr wrap="square" lIns="0" tIns="0" rIns="0" bIns="0" anchor="t">
            <a:spAutoFit/>
          </a:bodyPr>
          <a:lstStyle/>
          <a:p>
            <a:pPr algn="l"/>
            <a:r>
              <a:rPr sz="1100" b="0" i="0">
                <a:solidFill>
                  <a:srgbClr val="1A2333"/>
                </a:solidFill>
                <a:latin typeface="Calibri"/>
              </a:rPr>
              <a:t>Wachtwoord vergeten &amp; reset (60 min token)</a:t>
            </a:r>
          </a:p>
        </p:txBody>
      </p:sp>
      <p:sp>
        <p:nvSpPr>
          <p:cNvPr id="22" name="TextBox 21"/>
          <p:cNvSpPr txBox="1"/>
          <p:nvPr/>
        </p:nvSpPr>
        <p:spPr>
          <a:xfrm>
            <a:off x="4846320" y="3145536"/>
            <a:ext cx="914400" cy="274320"/>
          </a:xfrm>
          <a:prstGeom prst="rect">
            <a:avLst/>
          </a:prstGeom>
          <a:noFill/>
        </p:spPr>
        <p:txBody>
          <a:bodyPr wrap="square" lIns="0" tIns="0" rIns="0" bIns="0" anchor="t">
            <a:spAutoFit/>
          </a:bodyPr>
          <a:lstStyle/>
          <a:p>
            <a:pPr algn="r"/>
            <a:r>
              <a:rPr sz="1000" b="0" i="1">
                <a:solidFill>
                  <a:srgbClr val="5A6C7D"/>
                </a:solidFill>
                <a:latin typeface="Calibri"/>
              </a:rPr>
              <a:t>16 tests</a:t>
            </a:r>
          </a:p>
        </p:txBody>
      </p:sp>
      <p:sp>
        <p:nvSpPr>
          <p:cNvPr id="23" name="TextBox 22"/>
          <p:cNvSpPr txBox="1"/>
          <p:nvPr/>
        </p:nvSpPr>
        <p:spPr>
          <a:xfrm>
            <a:off x="685800" y="3429000"/>
            <a:ext cx="777240" cy="274320"/>
          </a:xfrm>
          <a:prstGeom prst="rect">
            <a:avLst/>
          </a:prstGeom>
          <a:noFill/>
        </p:spPr>
        <p:txBody>
          <a:bodyPr wrap="square" lIns="0" tIns="0" rIns="0" bIns="0" anchor="t">
            <a:spAutoFit/>
          </a:bodyPr>
          <a:lstStyle/>
          <a:p>
            <a:pPr algn="l"/>
            <a:r>
              <a:rPr sz="1100" b="1" i="0">
                <a:solidFill>
                  <a:srgbClr val="1E2761"/>
                </a:solidFill>
                <a:latin typeface="Calibri"/>
              </a:rPr>
              <a:t>US-16</a:t>
            </a:r>
          </a:p>
        </p:txBody>
      </p:sp>
      <p:sp>
        <p:nvSpPr>
          <p:cNvPr id="24" name="TextBox 23"/>
          <p:cNvSpPr txBox="1"/>
          <p:nvPr/>
        </p:nvSpPr>
        <p:spPr>
          <a:xfrm>
            <a:off x="1463040" y="3429000"/>
            <a:ext cx="3337560" cy="274320"/>
          </a:xfrm>
          <a:prstGeom prst="rect">
            <a:avLst/>
          </a:prstGeom>
          <a:noFill/>
        </p:spPr>
        <p:txBody>
          <a:bodyPr wrap="square" lIns="0" tIns="0" rIns="0" bIns="0" anchor="t">
            <a:spAutoFit/>
          </a:bodyPr>
          <a:lstStyle/>
          <a:p>
            <a:pPr algn="l"/>
            <a:r>
              <a:rPr sz="1100" b="0" i="0">
                <a:solidFill>
                  <a:srgbClr val="1A2333"/>
                </a:solidFill>
                <a:latin typeface="Calibri"/>
              </a:rPr>
              <a:t>Profielbeheer + wachtwoord wijzigen</a:t>
            </a:r>
          </a:p>
        </p:txBody>
      </p:sp>
      <p:sp>
        <p:nvSpPr>
          <p:cNvPr id="25" name="TextBox 24"/>
          <p:cNvSpPr txBox="1"/>
          <p:nvPr/>
        </p:nvSpPr>
        <p:spPr>
          <a:xfrm>
            <a:off x="4846320" y="3429000"/>
            <a:ext cx="914400" cy="274320"/>
          </a:xfrm>
          <a:prstGeom prst="rect">
            <a:avLst/>
          </a:prstGeom>
          <a:noFill/>
        </p:spPr>
        <p:txBody>
          <a:bodyPr wrap="square" lIns="0" tIns="0" rIns="0" bIns="0" anchor="t">
            <a:spAutoFit/>
          </a:bodyPr>
          <a:lstStyle/>
          <a:p>
            <a:pPr algn="r"/>
            <a:r>
              <a:rPr sz="1000" b="0" i="1">
                <a:solidFill>
                  <a:srgbClr val="5A6C7D"/>
                </a:solidFill>
                <a:latin typeface="Calibri"/>
              </a:rPr>
              <a:t>21 tests</a:t>
            </a:r>
          </a:p>
        </p:txBody>
      </p:sp>
      <p:sp>
        <p:nvSpPr>
          <p:cNvPr id="26" name="Rectangle 25"/>
          <p:cNvSpPr/>
          <p:nvPr/>
        </p:nvSpPr>
        <p:spPr>
          <a:xfrm>
            <a:off x="685800" y="3849624"/>
            <a:ext cx="5029200" cy="27432"/>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4014216"/>
            <a:ext cx="5029200" cy="274320"/>
          </a:xfrm>
          <a:prstGeom prst="rect">
            <a:avLst/>
          </a:prstGeom>
          <a:noFill/>
        </p:spPr>
        <p:txBody>
          <a:bodyPr wrap="square" lIns="0" tIns="0" rIns="0" bIns="0" anchor="t">
            <a:spAutoFit/>
          </a:bodyPr>
          <a:lstStyle/>
          <a:p>
            <a:pPr algn="l"/>
            <a:r>
              <a:rPr sz="1000" b="1" i="0">
                <a:solidFill>
                  <a:srgbClr val="028090"/>
                </a:solidFill>
                <a:latin typeface="Calibri"/>
              </a:rPr>
              <a:t>KEY TECHNICAL POINTS</a:t>
            </a:r>
          </a:p>
        </p:txBody>
      </p:sp>
      <p:sp>
        <p:nvSpPr>
          <p:cNvPr id="28" name="TextBox 27"/>
          <p:cNvSpPr txBox="1"/>
          <p:nvPr/>
        </p:nvSpPr>
        <p:spPr>
          <a:xfrm>
            <a:off x="685800" y="4334256"/>
            <a:ext cx="5029200" cy="2286000"/>
          </a:xfrm>
          <a:prstGeom prst="rect">
            <a:avLst/>
          </a:prstGeom>
          <a:noFill/>
        </p:spPr>
        <p:txBody>
          <a:bodyPr wrap="square" lIns="0" tIns="0" rIns="0" bIns="0" anchor="t">
            <a:spAutoFit/>
          </a:bodyPr>
          <a:lstStyle/>
          <a:p>
            <a:pPr algn="l">
              <a:lnSpc>
                <a:spcPct val="115000"/>
              </a:lnSpc>
              <a:spcAft>
                <a:spcPts val="400"/>
              </a:spcAft>
            </a:pPr>
            <a:r>
              <a:rPr sz="1100" b="0" i="0">
                <a:solidFill>
                  <a:srgbClr val="1A2333"/>
                </a:solidFill>
                <a:latin typeface="Calibri"/>
              </a:rPr>
              <a:t>•  State-machine: Concept → Ingediend → Goedgekeurd / Afgekeurd</a:t>
            </a:r>
          </a:p>
          <a:p>
            <a:pPr algn="l">
              <a:lnSpc>
                <a:spcPct val="115000"/>
              </a:lnSpc>
              <a:spcAft>
                <a:spcPts val="400"/>
              </a:spcAft>
            </a:pPr>
            <a:r>
              <a:rPr sz="1100" b="0" i="0">
                <a:solidFill>
                  <a:srgbClr val="1A2333"/>
                </a:solidFill>
                <a:latin typeface="Calibri"/>
              </a:rPr>
              <a:t>•  UrenregistratieService::transition() met centrale allowed-matrix</a:t>
            </a:r>
          </a:p>
          <a:p>
            <a:pPr algn="l">
              <a:lnSpc>
                <a:spcPct val="115000"/>
              </a:lnSpc>
              <a:spcAft>
                <a:spcPts val="400"/>
              </a:spcAft>
            </a:pPr>
            <a:r>
              <a:rPr sz="1100" b="0" i="0">
                <a:solidFill>
                  <a:srgbClr val="1A2333"/>
                </a:solidFill>
                <a:latin typeface="Calibri"/>
              </a:rPr>
              <a:t>•  Status-tabs via URL — shareable, werkt zonder JavaScript</a:t>
            </a:r>
          </a:p>
          <a:p>
            <a:pPr algn="l">
              <a:lnSpc>
                <a:spcPct val="115000"/>
              </a:lnSpc>
              <a:spcAft>
                <a:spcPts val="400"/>
              </a:spcAft>
            </a:pPr>
            <a:r>
              <a:rPr sz="1100" b="0" i="0">
                <a:solidFill>
                  <a:srgbClr val="1A2333"/>
                </a:solidFill>
                <a:latin typeface="Calibri"/>
              </a:rPr>
              <a:t>•  Afkeuren vereist reden (min. 10 chars), reset bij resubmit</a:t>
            </a:r>
          </a:p>
          <a:p>
            <a:pPr algn="l">
              <a:lnSpc>
                <a:spcPct val="115000"/>
              </a:lnSpc>
              <a:spcAft>
                <a:spcPts val="400"/>
              </a:spcAft>
            </a:pPr>
            <a:r>
              <a:rPr sz="1100" b="0" i="0">
                <a:solidFill>
                  <a:srgbClr val="1A2333"/>
                </a:solidFill>
                <a:latin typeface="Calibri"/>
              </a:rPr>
              <a:t>•  Wachtwoord-reset: signed URL, single-use, 60 min geldig</a:t>
            </a:r>
          </a:p>
          <a:p>
            <a:pPr algn="l">
              <a:lnSpc>
                <a:spcPct val="115000"/>
              </a:lnSpc>
              <a:spcAft>
                <a:spcPts val="400"/>
              </a:spcAft>
            </a:pPr>
            <a:r>
              <a:rPr sz="1100" b="0" i="0">
                <a:solidFill>
                  <a:srgbClr val="1A2333"/>
                </a:solidFill>
                <a:latin typeface="Calibri"/>
              </a:rPr>
              <a:t>•  Mass-assignment-probes op role / is_active / team_id</a:t>
            </a:r>
          </a:p>
          <a:p>
            <a:pPr algn="l">
              <a:lnSpc>
                <a:spcPct val="115000"/>
              </a:lnSpc>
              <a:spcAft>
                <a:spcPts val="400"/>
              </a:spcAft>
            </a:pPr>
            <a:r>
              <a:rPr sz="1100" b="0" i="0">
                <a:solidFill>
                  <a:srgbClr val="1A2333"/>
                </a:solidFill>
                <a:latin typeface="Calibri"/>
              </a:rPr>
              <a:t>•  US-17 (Resend) toegevoegd na PO-feedback op US-15</a:t>
            </a:r>
          </a:p>
          <a:p>
            <a:pPr algn="l">
              <a:lnSpc>
                <a:spcPct val="115000"/>
              </a:lnSpc>
              <a:spcAft>
                <a:spcPts val="400"/>
              </a:spcAft>
            </a:pPr>
            <a:r>
              <a:rPr sz="1100" b="0" i="0">
                <a:solidFill>
                  <a:srgbClr val="1A2333"/>
                </a:solidFill>
                <a:latin typeface="Calibri"/>
              </a:rPr>
              <a:t>•  145 Pest-tests · 372 asserts — alle 6 US's PASS</a:t>
            </a:r>
          </a:p>
        </p:txBody>
      </p:sp>
      <p:sp>
        <p:nvSpPr>
          <p:cNvPr id="29" name="Rectangle 28"/>
          <p:cNvSpPr/>
          <p:nvPr/>
        </p:nvSpPr>
        <p:spPr>
          <a:xfrm>
            <a:off x="6126480" y="1508760"/>
            <a:ext cx="5623560" cy="233172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01-uren-aanmaken.png"/>
          <p:cNvPicPr>
            <a:picLocks noChangeAspect="1"/>
          </p:cNvPicPr>
          <p:nvPr/>
        </p:nvPicPr>
        <p:blipFill>
          <a:blip r:embed="rId3"/>
          <a:stretch>
            <a:fillRect/>
          </a:stretch>
        </p:blipFill>
        <p:spPr>
          <a:xfrm>
            <a:off x="6172200" y="1554480"/>
            <a:ext cx="5532120" cy="2240280"/>
          </a:xfrm>
          <a:prstGeom prst="rect">
            <a:avLst/>
          </a:prstGeom>
        </p:spPr>
      </p:pic>
      <p:sp>
        <p:nvSpPr>
          <p:cNvPr id="31" name="TextBox 30"/>
          <p:cNvSpPr txBox="1"/>
          <p:nvPr/>
        </p:nvSpPr>
        <p:spPr>
          <a:xfrm>
            <a:off x="6263640" y="1600200"/>
            <a:ext cx="5349240" cy="228600"/>
          </a:xfrm>
          <a:prstGeom prst="rect">
            <a:avLst/>
          </a:prstGeom>
          <a:noFill/>
        </p:spPr>
        <p:txBody>
          <a:bodyPr wrap="square" lIns="0" tIns="0" rIns="0" bIns="0" anchor="t">
            <a:spAutoFit/>
          </a:bodyPr>
          <a:lstStyle/>
          <a:p>
            <a:pPr algn="l"/>
            <a:r>
              <a:rPr sz="900" b="0" i="1">
                <a:solidFill>
                  <a:srgbClr val="5A6C7D"/>
                </a:solidFill>
                <a:latin typeface="Calibri"/>
              </a:rPr>
              <a:t>US-11 · Concept-uren aanmaken</a:t>
            </a:r>
          </a:p>
        </p:txBody>
      </p:sp>
      <p:sp>
        <p:nvSpPr>
          <p:cNvPr id="32" name="Rectangle 31"/>
          <p:cNvSpPr/>
          <p:nvPr/>
        </p:nvSpPr>
        <p:spPr>
          <a:xfrm>
            <a:off x="6126480" y="4069080"/>
            <a:ext cx="5623560" cy="2331720"/>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01-uren-beoordelen.png"/>
          <p:cNvPicPr>
            <a:picLocks noChangeAspect="1"/>
          </p:cNvPicPr>
          <p:nvPr/>
        </p:nvPicPr>
        <p:blipFill>
          <a:blip r:embed="rId4"/>
          <a:stretch>
            <a:fillRect/>
          </a:stretch>
        </p:blipFill>
        <p:spPr>
          <a:xfrm>
            <a:off x="6172200" y="4114800"/>
            <a:ext cx="5532120" cy="2240280"/>
          </a:xfrm>
          <a:prstGeom prst="rect">
            <a:avLst/>
          </a:prstGeom>
        </p:spPr>
      </p:pic>
      <p:sp>
        <p:nvSpPr>
          <p:cNvPr id="34" name="TextBox 33"/>
          <p:cNvSpPr txBox="1"/>
          <p:nvPr/>
        </p:nvSpPr>
        <p:spPr>
          <a:xfrm>
            <a:off x="6263640" y="4160520"/>
            <a:ext cx="5349240" cy="228600"/>
          </a:xfrm>
          <a:prstGeom prst="rect">
            <a:avLst/>
          </a:prstGeom>
          <a:noFill/>
        </p:spPr>
        <p:txBody>
          <a:bodyPr wrap="square" lIns="0" tIns="0" rIns="0" bIns="0" anchor="t">
            <a:spAutoFit/>
          </a:bodyPr>
          <a:lstStyle/>
          <a:p>
            <a:pPr algn="l"/>
            <a:r>
              <a:rPr sz="900" b="0" i="1">
                <a:solidFill>
                  <a:srgbClr val="5A6C7D"/>
                </a:solidFill>
                <a:latin typeface="Calibri"/>
              </a:rPr>
              <a:t>US-13 · Uren beoordelen (teamleider)</a:t>
            </a:r>
          </a:p>
        </p:txBody>
      </p:sp>
      <p:sp>
        <p:nvSpPr>
          <p:cNvPr id="35" name="TextBox 34"/>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6" name="TextBox 35"/>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13 / 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K1 · REALISEREN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Tests + Git-bewijslast</a:t>
            </a:r>
          </a:p>
        </p:txBody>
      </p:sp>
      <p:sp>
        <p:nvSpPr>
          <p:cNvPr id="6" name="Rounded Rectangle 5"/>
          <p:cNvSpPr/>
          <p:nvPr/>
        </p:nvSpPr>
        <p:spPr>
          <a:xfrm>
            <a:off x="457200" y="1691640"/>
            <a:ext cx="6858000" cy="2743200"/>
          </a:xfrm>
          <a:prstGeom prst="roundRect">
            <a:avLst>
              <a:gd name="adj" fmla="val 12000"/>
            </a:avLst>
          </a:prstGeom>
          <a:solidFill>
            <a:srgbClr val="015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828800"/>
            <a:ext cx="6858000" cy="411480"/>
          </a:xfrm>
          <a:prstGeom prst="rect">
            <a:avLst/>
          </a:prstGeom>
          <a:noFill/>
        </p:spPr>
        <p:txBody>
          <a:bodyPr wrap="square" lIns="0" tIns="0" rIns="0" bIns="0" anchor="t">
            <a:spAutoFit/>
          </a:bodyPr>
          <a:lstStyle/>
          <a:p>
            <a:pPr algn="ctr"/>
            <a:r>
              <a:rPr sz="1400" b="1" i="0">
                <a:solidFill>
                  <a:srgbClr val="84B59F"/>
                </a:solidFill>
                <a:latin typeface="Calibri"/>
              </a:rPr>
              <a:t>PEST-TESTS  ·  ALLEMAAL GROEN</a:t>
            </a:r>
          </a:p>
        </p:txBody>
      </p:sp>
      <p:sp>
        <p:nvSpPr>
          <p:cNvPr id="8" name="TextBox 7"/>
          <p:cNvSpPr txBox="1"/>
          <p:nvPr/>
        </p:nvSpPr>
        <p:spPr>
          <a:xfrm>
            <a:off x="457200" y="2331720"/>
            <a:ext cx="3383280" cy="1463040"/>
          </a:xfrm>
          <a:prstGeom prst="rect">
            <a:avLst/>
          </a:prstGeom>
          <a:noFill/>
        </p:spPr>
        <p:txBody>
          <a:bodyPr wrap="square" lIns="0" tIns="0" rIns="0" bIns="0" anchor="t">
            <a:spAutoFit/>
          </a:bodyPr>
          <a:lstStyle/>
          <a:p>
            <a:pPr algn="ctr"/>
            <a:r>
              <a:rPr sz="11000" b="1" i="0">
                <a:solidFill>
                  <a:srgbClr val="FFFFFF"/>
                </a:solidFill>
                <a:latin typeface="Calibri"/>
              </a:rPr>
              <a:t>360</a:t>
            </a:r>
          </a:p>
        </p:txBody>
      </p:sp>
      <p:sp>
        <p:nvSpPr>
          <p:cNvPr id="9" name="TextBox 8"/>
          <p:cNvSpPr txBox="1"/>
          <p:nvPr/>
        </p:nvSpPr>
        <p:spPr>
          <a:xfrm>
            <a:off x="457200" y="3657600"/>
            <a:ext cx="3383280" cy="365760"/>
          </a:xfrm>
          <a:prstGeom prst="rect">
            <a:avLst/>
          </a:prstGeom>
          <a:noFill/>
        </p:spPr>
        <p:txBody>
          <a:bodyPr wrap="square" lIns="0" tIns="0" rIns="0" bIns="0" anchor="t">
            <a:spAutoFit/>
          </a:bodyPr>
          <a:lstStyle/>
          <a:p>
            <a:pPr algn="ctr"/>
            <a:r>
              <a:rPr sz="1400" b="0" i="0">
                <a:solidFill>
                  <a:srgbClr val="84B59F"/>
                </a:solidFill>
                <a:latin typeface="Calibri"/>
              </a:rPr>
              <a:t>tests</a:t>
            </a:r>
          </a:p>
        </p:txBody>
      </p:sp>
      <p:sp>
        <p:nvSpPr>
          <p:cNvPr id="10" name="TextBox 9"/>
          <p:cNvSpPr txBox="1"/>
          <p:nvPr/>
        </p:nvSpPr>
        <p:spPr>
          <a:xfrm>
            <a:off x="3931920" y="2331720"/>
            <a:ext cx="3383280" cy="1463040"/>
          </a:xfrm>
          <a:prstGeom prst="rect">
            <a:avLst/>
          </a:prstGeom>
          <a:noFill/>
        </p:spPr>
        <p:txBody>
          <a:bodyPr wrap="square" lIns="0" tIns="0" rIns="0" bIns="0" anchor="t">
            <a:spAutoFit/>
          </a:bodyPr>
          <a:lstStyle/>
          <a:p>
            <a:pPr algn="ctr"/>
            <a:r>
              <a:rPr sz="11000" b="1" i="0">
                <a:solidFill>
                  <a:srgbClr val="FFFFFF"/>
                </a:solidFill>
                <a:latin typeface="Calibri"/>
              </a:rPr>
              <a:t>953</a:t>
            </a:r>
          </a:p>
        </p:txBody>
      </p:sp>
      <p:sp>
        <p:nvSpPr>
          <p:cNvPr id="11" name="TextBox 10"/>
          <p:cNvSpPr txBox="1"/>
          <p:nvPr/>
        </p:nvSpPr>
        <p:spPr>
          <a:xfrm>
            <a:off x="3931920" y="3657600"/>
            <a:ext cx="3383280" cy="365760"/>
          </a:xfrm>
          <a:prstGeom prst="rect">
            <a:avLst/>
          </a:prstGeom>
          <a:noFill/>
        </p:spPr>
        <p:txBody>
          <a:bodyPr wrap="square" lIns="0" tIns="0" rIns="0" bIns="0" anchor="t">
            <a:spAutoFit/>
          </a:bodyPr>
          <a:lstStyle/>
          <a:p>
            <a:pPr algn="ctr"/>
            <a:r>
              <a:rPr sz="1400" b="0" i="0">
                <a:solidFill>
                  <a:srgbClr val="84B59F"/>
                </a:solidFill>
                <a:latin typeface="Calibri"/>
              </a:rPr>
              <a:t>asserts</a:t>
            </a:r>
          </a:p>
        </p:txBody>
      </p:sp>
      <p:sp>
        <p:nvSpPr>
          <p:cNvPr id="12" name="TextBox 11"/>
          <p:cNvSpPr txBox="1"/>
          <p:nvPr/>
        </p:nvSpPr>
        <p:spPr>
          <a:xfrm>
            <a:off x="457200" y="4114800"/>
            <a:ext cx="6858000" cy="274320"/>
          </a:xfrm>
          <a:prstGeom prst="rect">
            <a:avLst/>
          </a:prstGeom>
          <a:noFill/>
        </p:spPr>
        <p:txBody>
          <a:bodyPr wrap="square" lIns="0" tIns="0" rIns="0" bIns="0" anchor="t">
            <a:spAutoFit/>
          </a:bodyPr>
          <a:lstStyle/>
          <a:p>
            <a:pPr algn="ctr"/>
            <a:r>
              <a:rPr sz="1200" b="0" i="0">
                <a:solidFill>
                  <a:srgbClr val="FFFFFF"/>
                </a:solidFill>
                <a:latin typeface="Calibri"/>
              </a:rPr>
              <a:t>Sprint 1: 70  ·  Sprint 2: 85  ·  Sprint 3: 117  ·  Sprint 4: 86</a:t>
            </a:r>
          </a:p>
        </p:txBody>
      </p:sp>
      <p:sp>
        <p:nvSpPr>
          <p:cNvPr id="13" name="Rounded Rectangle 12"/>
          <p:cNvSpPr/>
          <p:nvPr/>
        </p:nvSpPr>
        <p:spPr>
          <a:xfrm>
            <a:off x="7498079" y="1691640"/>
            <a:ext cx="2194560" cy="13258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79" y="1828800"/>
            <a:ext cx="2194560" cy="548640"/>
          </a:xfrm>
          <a:prstGeom prst="rect">
            <a:avLst/>
          </a:prstGeom>
          <a:noFill/>
        </p:spPr>
        <p:txBody>
          <a:bodyPr wrap="square" lIns="0" tIns="0" rIns="0" bIns="0" anchor="t">
            <a:spAutoFit/>
          </a:bodyPr>
          <a:lstStyle/>
          <a:p>
            <a:pPr algn="ctr"/>
            <a:r>
              <a:rPr sz="3800" b="1" i="0">
                <a:solidFill>
                  <a:srgbClr val="028090"/>
                </a:solidFill>
                <a:latin typeface="Calibri"/>
              </a:rPr>
              <a:t>18</a:t>
            </a:r>
          </a:p>
        </p:txBody>
      </p:sp>
      <p:sp>
        <p:nvSpPr>
          <p:cNvPr id="15" name="TextBox 14"/>
          <p:cNvSpPr txBox="1"/>
          <p:nvPr/>
        </p:nvSpPr>
        <p:spPr>
          <a:xfrm>
            <a:off x="7498079" y="2377440"/>
            <a:ext cx="2194560" cy="274320"/>
          </a:xfrm>
          <a:prstGeom prst="rect">
            <a:avLst/>
          </a:prstGeom>
          <a:noFill/>
        </p:spPr>
        <p:txBody>
          <a:bodyPr wrap="square" lIns="0" tIns="0" rIns="0" bIns="0" anchor="t">
            <a:spAutoFit/>
          </a:bodyPr>
          <a:lstStyle/>
          <a:p>
            <a:pPr algn="ctr"/>
            <a:r>
              <a:rPr sz="1200" b="1" i="0">
                <a:solidFill>
                  <a:srgbClr val="1A2333"/>
                </a:solidFill>
                <a:latin typeface="Calibri"/>
              </a:rPr>
              <a:t>Pull requests</a:t>
            </a:r>
          </a:p>
        </p:txBody>
      </p:sp>
      <p:sp>
        <p:nvSpPr>
          <p:cNvPr id="16" name="TextBox 15"/>
          <p:cNvSpPr txBox="1"/>
          <p:nvPr/>
        </p:nvSpPr>
        <p:spPr>
          <a:xfrm>
            <a:off x="7498079" y="2651760"/>
            <a:ext cx="2194560" cy="274320"/>
          </a:xfrm>
          <a:prstGeom prst="rect">
            <a:avLst/>
          </a:prstGeom>
          <a:noFill/>
        </p:spPr>
        <p:txBody>
          <a:bodyPr wrap="square" lIns="0" tIns="0" rIns="0" bIns="0" anchor="t">
            <a:spAutoFit/>
          </a:bodyPr>
          <a:lstStyle/>
          <a:p>
            <a:pPr algn="ctr"/>
            <a:r>
              <a:rPr sz="1000" b="0" i="0">
                <a:solidFill>
                  <a:srgbClr val="5A6C7D"/>
                </a:solidFill>
                <a:latin typeface="Calibri"/>
              </a:rPr>
              <a:t>Allemaal gemerged</a:t>
            </a:r>
          </a:p>
        </p:txBody>
      </p:sp>
      <p:sp>
        <p:nvSpPr>
          <p:cNvPr id="17" name="Rounded Rectangle 16"/>
          <p:cNvSpPr/>
          <p:nvPr/>
        </p:nvSpPr>
        <p:spPr>
          <a:xfrm>
            <a:off x="9802367" y="1691640"/>
            <a:ext cx="2194560" cy="13258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802367" y="1828800"/>
            <a:ext cx="2194560" cy="548640"/>
          </a:xfrm>
          <a:prstGeom prst="rect">
            <a:avLst/>
          </a:prstGeom>
          <a:noFill/>
        </p:spPr>
        <p:txBody>
          <a:bodyPr wrap="square" lIns="0" tIns="0" rIns="0" bIns="0" anchor="t">
            <a:spAutoFit/>
          </a:bodyPr>
          <a:lstStyle/>
          <a:p>
            <a:pPr algn="ctr"/>
            <a:r>
              <a:rPr sz="3800" b="1" i="0">
                <a:solidFill>
                  <a:srgbClr val="028090"/>
                </a:solidFill>
                <a:latin typeface="Calibri"/>
              </a:rPr>
              <a:t>257</a:t>
            </a:r>
          </a:p>
        </p:txBody>
      </p:sp>
      <p:sp>
        <p:nvSpPr>
          <p:cNvPr id="19" name="TextBox 18"/>
          <p:cNvSpPr txBox="1"/>
          <p:nvPr/>
        </p:nvSpPr>
        <p:spPr>
          <a:xfrm>
            <a:off x="9802367" y="2377440"/>
            <a:ext cx="2194560" cy="274320"/>
          </a:xfrm>
          <a:prstGeom prst="rect">
            <a:avLst/>
          </a:prstGeom>
          <a:noFill/>
        </p:spPr>
        <p:txBody>
          <a:bodyPr wrap="square" lIns="0" tIns="0" rIns="0" bIns="0" anchor="t">
            <a:spAutoFit/>
          </a:bodyPr>
          <a:lstStyle/>
          <a:p>
            <a:pPr algn="ctr"/>
            <a:r>
              <a:rPr sz="1200" b="1" i="0">
                <a:solidFill>
                  <a:srgbClr val="1A2333"/>
                </a:solidFill>
                <a:latin typeface="Calibri"/>
              </a:rPr>
              <a:t>Commits</a:t>
            </a:r>
          </a:p>
        </p:txBody>
      </p:sp>
      <p:sp>
        <p:nvSpPr>
          <p:cNvPr id="20" name="TextBox 19"/>
          <p:cNvSpPr txBox="1"/>
          <p:nvPr/>
        </p:nvSpPr>
        <p:spPr>
          <a:xfrm>
            <a:off x="9802367" y="2651760"/>
            <a:ext cx="2194560" cy="274320"/>
          </a:xfrm>
          <a:prstGeom prst="rect">
            <a:avLst/>
          </a:prstGeom>
          <a:noFill/>
        </p:spPr>
        <p:txBody>
          <a:bodyPr wrap="square" lIns="0" tIns="0" rIns="0" bIns="0" anchor="t">
            <a:spAutoFit/>
          </a:bodyPr>
          <a:lstStyle/>
          <a:p>
            <a:pPr algn="ctr"/>
            <a:r>
              <a:rPr sz="1000" b="0" i="0">
                <a:solidFill>
                  <a:srgbClr val="5A6C7D"/>
                </a:solidFill>
                <a:latin typeface="Calibri"/>
              </a:rPr>
              <a:t>Met scope-prefix</a:t>
            </a:r>
          </a:p>
        </p:txBody>
      </p:sp>
      <p:sp>
        <p:nvSpPr>
          <p:cNvPr id="21" name="Rounded Rectangle 20"/>
          <p:cNvSpPr/>
          <p:nvPr/>
        </p:nvSpPr>
        <p:spPr>
          <a:xfrm>
            <a:off x="7498079" y="3127248"/>
            <a:ext cx="2194560" cy="13258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79" y="3264408"/>
            <a:ext cx="2194560" cy="548640"/>
          </a:xfrm>
          <a:prstGeom prst="rect">
            <a:avLst/>
          </a:prstGeom>
          <a:noFill/>
        </p:spPr>
        <p:txBody>
          <a:bodyPr wrap="square" lIns="0" tIns="0" rIns="0" bIns="0" anchor="t">
            <a:spAutoFit/>
          </a:bodyPr>
          <a:lstStyle/>
          <a:p>
            <a:pPr algn="ctr"/>
            <a:r>
              <a:rPr sz="3800" b="1" i="0">
                <a:solidFill>
                  <a:srgbClr val="028090"/>
                </a:solidFill>
                <a:latin typeface="Calibri"/>
              </a:rPr>
              <a:t>4</a:t>
            </a:r>
          </a:p>
        </p:txBody>
      </p:sp>
      <p:sp>
        <p:nvSpPr>
          <p:cNvPr id="23" name="TextBox 22"/>
          <p:cNvSpPr txBox="1"/>
          <p:nvPr/>
        </p:nvSpPr>
        <p:spPr>
          <a:xfrm>
            <a:off x="7498079" y="3813048"/>
            <a:ext cx="2194560" cy="274320"/>
          </a:xfrm>
          <a:prstGeom prst="rect">
            <a:avLst/>
          </a:prstGeom>
          <a:noFill/>
        </p:spPr>
        <p:txBody>
          <a:bodyPr wrap="square" lIns="0" tIns="0" rIns="0" bIns="0" anchor="t">
            <a:spAutoFit/>
          </a:bodyPr>
          <a:lstStyle/>
          <a:p>
            <a:pPr algn="ctr"/>
            <a:r>
              <a:rPr sz="1200" b="1" i="0">
                <a:solidFill>
                  <a:srgbClr val="1A2333"/>
                </a:solidFill>
                <a:latin typeface="Calibri"/>
              </a:rPr>
              <a:t>Sprint-tags</a:t>
            </a:r>
          </a:p>
        </p:txBody>
      </p:sp>
      <p:sp>
        <p:nvSpPr>
          <p:cNvPr id="24" name="TextBox 23"/>
          <p:cNvSpPr txBox="1"/>
          <p:nvPr/>
        </p:nvSpPr>
        <p:spPr>
          <a:xfrm>
            <a:off x="7498079" y="4087368"/>
            <a:ext cx="2194560" cy="274320"/>
          </a:xfrm>
          <a:prstGeom prst="rect">
            <a:avLst/>
          </a:prstGeom>
          <a:noFill/>
        </p:spPr>
        <p:txBody>
          <a:bodyPr wrap="square" lIns="0" tIns="0" rIns="0" bIns="0" anchor="t">
            <a:spAutoFit/>
          </a:bodyPr>
          <a:lstStyle/>
          <a:p>
            <a:pPr algn="ctr"/>
            <a:r>
              <a:rPr sz="1000" b="0" i="0">
                <a:solidFill>
                  <a:srgbClr val="5A6C7D"/>
                </a:solidFill>
                <a:latin typeface="Calibri"/>
              </a:rPr>
              <a:t>sprint-1 t/m sprint-4</a:t>
            </a:r>
          </a:p>
        </p:txBody>
      </p:sp>
      <p:sp>
        <p:nvSpPr>
          <p:cNvPr id="25" name="Rounded Rectangle 24"/>
          <p:cNvSpPr/>
          <p:nvPr/>
        </p:nvSpPr>
        <p:spPr>
          <a:xfrm>
            <a:off x="9802367" y="3127248"/>
            <a:ext cx="2194560" cy="13258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02367" y="3264408"/>
            <a:ext cx="2194560" cy="548640"/>
          </a:xfrm>
          <a:prstGeom prst="rect">
            <a:avLst/>
          </a:prstGeom>
          <a:noFill/>
        </p:spPr>
        <p:txBody>
          <a:bodyPr wrap="square" lIns="0" tIns="0" rIns="0" bIns="0" anchor="t">
            <a:spAutoFit/>
          </a:bodyPr>
          <a:lstStyle/>
          <a:p>
            <a:pPr algn="ctr"/>
            <a:r>
              <a:rPr sz="3800" b="1" i="0">
                <a:solidFill>
                  <a:srgbClr val="028090"/>
                </a:solidFill>
                <a:latin typeface="Calibri"/>
              </a:rPr>
              <a:t>0</a:t>
            </a:r>
          </a:p>
        </p:txBody>
      </p:sp>
      <p:sp>
        <p:nvSpPr>
          <p:cNvPr id="27" name="TextBox 26"/>
          <p:cNvSpPr txBox="1"/>
          <p:nvPr/>
        </p:nvSpPr>
        <p:spPr>
          <a:xfrm>
            <a:off x="9802367" y="3813048"/>
            <a:ext cx="2194560" cy="274320"/>
          </a:xfrm>
          <a:prstGeom prst="rect">
            <a:avLst/>
          </a:prstGeom>
          <a:noFill/>
        </p:spPr>
        <p:txBody>
          <a:bodyPr wrap="square" lIns="0" tIns="0" rIns="0" bIns="0" anchor="t">
            <a:spAutoFit/>
          </a:bodyPr>
          <a:lstStyle/>
          <a:p>
            <a:pPr algn="ctr"/>
            <a:r>
              <a:rPr sz="1200" b="1" i="0">
                <a:solidFill>
                  <a:srgbClr val="1A2333"/>
                </a:solidFill>
                <a:latin typeface="Calibri"/>
              </a:rPr>
              <a:t>Force-pushes</a:t>
            </a:r>
          </a:p>
        </p:txBody>
      </p:sp>
      <p:sp>
        <p:nvSpPr>
          <p:cNvPr id="28" name="TextBox 27"/>
          <p:cNvSpPr txBox="1"/>
          <p:nvPr/>
        </p:nvSpPr>
        <p:spPr>
          <a:xfrm>
            <a:off x="9802367" y="4087368"/>
            <a:ext cx="2194560" cy="274320"/>
          </a:xfrm>
          <a:prstGeom prst="rect">
            <a:avLst/>
          </a:prstGeom>
          <a:noFill/>
        </p:spPr>
        <p:txBody>
          <a:bodyPr wrap="square" lIns="0" tIns="0" rIns="0" bIns="0" anchor="t">
            <a:spAutoFit/>
          </a:bodyPr>
          <a:lstStyle/>
          <a:p>
            <a:pPr algn="ctr"/>
            <a:r>
              <a:rPr sz="1000" b="0" i="0">
                <a:solidFill>
                  <a:srgbClr val="5A6C7D"/>
                </a:solidFill>
                <a:latin typeface="Calibri"/>
              </a:rPr>
              <a:t>Geen --amend op pushed</a:t>
            </a:r>
          </a:p>
        </p:txBody>
      </p:sp>
      <p:sp>
        <p:nvSpPr>
          <p:cNvPr id="29" name="Rounded Rectangle 28"/>
          <p:cNvSpPr/>
          <p:nvPr/>
        </p:nvSpPr>
        <p:spPr>
          <a:xfrm>
            <a:off x="457200" y="4572000"/>
            <a:ext cx="11338560" cy="182880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709160"/>
            <a:ext cx="10789920" cy="365760"/>
          </a:xfrm>
          <a:prstGeom prst="rect">
            <a:avLst/>
          </a:prstGeom>
          <a:noFill/>
        </p:spPr>
        <p:txBody>
          <a:bodyPr wrap="square" lIns="0" tIns="0" rIns="0" bIns="0" anchor="t">
            <a:spAutoFit/>
          </a:bodyPr>
          <a:lstStyle/>
          <a:p>
            <a:pPr algn="l"/>
            <a:r>
              <a:rPr sz="1200" b="1" i="0">
                <a:solidFill>
                  <a:srgbClr val="028090"/>
                </a:solidFill>
                <a:latin typeface="Calibri"/>
              </a:rPr>
              <a:t>TESTAANPAK PER USER STORY</a:t>
            </a:r>
          </a:p>
        </p:txBody>
      </p:sp>
      <p:sp>
        <p:nvSpPr>
          <p:cNvPr id="31" name="TextBox 30"/>
          <p:cNvSpPr txBox="1"/>
          <p:nvPr/>
        </p:nvSpPr>
        <p:spPr>
          <a:xfrm>
            <a:off x="731520" y="5029200"/>
            <a:ext cx="10789920" cy="1371600"/>
          </a:xfrm>
          <a:prstGeom prst="rect">
            <a:avLst/>
          </a:prstGeom>
          <a:noFill/>
        </p:spPr>
        <p:txBody>
          <a:bodyPr wrap="square" lIns="0" tIns="0" rIns="0" bIns="0" anchor="t">
            <a:spAutoFit/>
          </a:bodyPr>
          <a:lstStyle/>
          <a:p>
            <a:pPr algn="l">
              <a:lnSpc>
                <a:spcPct val="115000"/>
              </a:lnSpc>
              <a:spcAft>
                <a:spcPts val="400"/>
              </a:spcAft>
            </a:pPr>
            <a:r>
              <a:rPr sz="1200" b="0" i="0">
                <a:solidFill>
                  <a:srgbClr val="1A2333"/>
                </a:solidFill>
                <a:latin typeface="Calibri"/>
              </a:rPr>
              <a:t>•  Pest feature-tests met `RefreshDatabase` — minstens 1 happy-path én 1 unhappy-path per acceptatiecriterium</a:t>
            </a:r>
          </a:p>
          <a:p>
            <a:pPr algn="l">
              <a:lnSpc>
                <a:spcPct val="115000"/>
              </a:lnSpc>
              <a:spcAft>
                <a:spcPts val="400"/>
              </a:spcAft>
            </a:pPr>
            <a:r>
              <a:rPr sz="1200" b="0" i="0">
                <a:solidFill>
                  <a:srgbClr val="1A2333"/>
                </a:solidFill>
                <a:latin typeface="Calibri"/>
              </a:rPr>
              <a:t>•  Per US een eigen testbestand:  `tests/Feature/US-01.php` t/m `US-16.php`</a:t>
            </a:r>
          </a:p>
          <a:p>
            <a:pPr algn="l">
              <a:lnSpc>
                <a:spcPct val="115000"/>
              </a:lnSpc>
              <a:spcAft>
                <a:spcPts val="400"/>
              </a:spcAft>
            </a:pPr>
            <a:r>
              <a:rPr sz="1200" b="0" i="0">
                <a:solidFill>
                  <a:srgbClr val="1A2333"/>
                </a:solidFill>
                <a:latin typeface="Calibri"/>
              </a:rPr>
              <a:t>•  Handmatige browser-tests met checklist per rol  ·  testplan-doc per US in  /docs/testplan/US-NN.md</a:t>
            </a:r>
          </a:p>
          <a:p>
            <a:pPr algn="l">
              <a:lnSpc>
                <a:spcPct val="115000"/>
              </a:lnSpc>
              <a:spcAft>
                <a:spcPts val="400"/>
              </a:spcAft>
            </a:pPr>
            <a:r>
              <a:rPr sz="1200" b="0" i="0">
                <a:solidFill>
                  <a:srgbClr val="1A2333"/>
                </a:solidFill>
                <a:latin typeface="Calibri"/>
              </a:rPr>
              <a:t>•  Verificatie:  `php artisan test --compact`  →  0 failures</a:t>
            </a:r>
          </a:p>
        </p:txBody>
      </p:sp>
      <p:sp>
        <p:nvSpPr>
          <p:cNvPr id="32" name="TextBox 31"/>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33" name="TextBox 32"/>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14 / 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K2 · OVERLEGGEN</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Samenwerking met PO Badreddine</a:t>
            </a:r>
          </a:p>
        </p:txBody>
      </p:sp>
      <p:sp>
        <p:nvSpPr>
          <p:cNvPr id="6" name="TextBox 5"/>
          <p:cNvSpPr txBox="1"/>
          <p:nvPr/>
        </p:nvSpPr>
        <p:spPr>
          <a:xfrm>
            <a:off x="457200" y="1691640"/>
            <a:ext cx="5486400" cy="4572000"/>
          </a:xfrm>
          <a:prstGeom prst="rect">
            <a:avLst/>
          </a:prstGeom>
          <a:noFill/>
        </p:spPr>
        <p:txBody>
          <a:bodyPr wrap="square" lIns="0" tIns="0" rIns="0" bIns="0" anchor="t">
            <a:spAutoFit/>
          </a:bodyPr>
          <a:lstStyle/>
          <a:p>
            <a:pPr algn="l">
              <a:lnSpc>
                <a:spcPct val="115000"/>
              </a:lnSpc>
              <a:spcAft>
                <a:spcPts val="800"/>
              </a:spcAft>
            </a:pPr>
            <a:r>
              <a:rPr sz="1400" b="1" i="0">
                <a:solidFill>
                  <a:srgbClr val="028090"/>
                </a:solidFill>
                <a:latin typeface="Calibri"/>
              </a:rPr>
              <a:t>Overlegstructuur</a:t>
            </a:r>
          </a:p>
          <a:p>
            <a:pPr algn="l">
              <a:lnSpc>
                <a:spcPct val="115000"/>
              </a:lnSpc>
              <a:spcAft>
                <a:spcPts val="400"/>
              </a:spcAft>
            </a:pPr>
            <a:r>
              <a:rPr sz="1200" b="0" i="0">
                <a:solidFill>
                  <a:srgbClr val="1A2333"/>
                </a:solidFill>
                <a:latin typeface="Calibri"/>
              </a:rPr>
              <a:t>•  Dagelijkse check-ins (Zoom + in persoon)</a:t>
            </a:r>
          </a:p>
          <a:p>
            <a:pPr algn="l">
              <a:lnSpc>
                <a:spcPct val="115000"/>
              </a:lnSpc>
              <a:spcAft>
                <a:spcPts val="400"/>
              </a:spcAft>
            </a:pPr>
            <a:r>
              <a:rPr sz="1200" b="0" i="0">
                <a:solidFill>
                  <a:srgbClr val="1A2333"/>
                </a:solidFill>
                <a:latin typeface="Calibri"/>
              </a:rPr>
              <a:t>•  Sprint-reviews aan einde van elke sprint (4×)</a:t>
            </a:r>
          </a:p>
          <a:p>
            <a:pPr algn="l">
              <a:lnSpc>
                <a:spcPct val="115000"/>
              </a:lnSpc>
              <a:spcAft>
                <a:spcPts val="400"/>
              </a:spcAft>
            </a:pPr>
            <a:r>
              <a:rPr sz="1200" b="0" i="0">
                <a:solidFill>
                  <a:srgbClr val="1A2333"/>
                </a:solidFill>
                <a:latin typeface="Calibri"/>
              </a:rPr>
              <a:t>•  Sprint-retrospectives (solo, vastgelegd)</a:t>
            </a:r>
          </a:p>
          <a:p>
            <a:pPr algn="l">
              <a:lnSpc>
                <a:spcPct val="115000"/>
              </a:lnSpc>
              <a:spcAft>
                <a:spcPts val="400"/>
              </a:spcAft>
            </a:pPr>
            <a:r>
              <a:rPr sz="1200" b="0" i="0">
                <a:solidFill>
                  <a:srgbClr val="1A2333"/>
                </a:solidFill>
                <a:latin typeface="Calibri"/>
              </a:rPr>
              <a:t>•  Ad-hoc PO-feedback via Trello-comments</a:t>
            </a:r>
          </a:p>
          <a:p>
            <a:pPr algn="l">
              <a:lnSpc>
                <a:spcPct val="115000"/>
              </a:lnSpc>
              <a:spcAft>
                <a:spcPts val="1600"/>
              </a:spcAft>
            </a:pPr>
            <a:r>
              <a:rPr sz="1200" b="0" i="0">
                <a:solidFill>
                  <a:srgbClr val="1A2333"/>
                </a:solidFill>
                <a:latin typeface="Calibri"/>
              </a:rPr>
              <a:t>•  Trello-update werkdagelijks (asynchroon)</a:t>
            </a:r>
          </a:p>
          <a:p>
            <a:pPr algn="l">
              <a:lnSpc>
                <a:spcPct val="115000"/>
              </a:lnSpc>
              <a:spcAft>
                <a:spcPts val="800"/>
              </a:spcAft>
            </a:pPr>
            <a:r>
              <a:rPr sz="1400" b="1" i="0">
                <a:solidFill>
                  <a:srgbClr val="028090"/>
                </a:solidFill>
                <a:latin typeface="Calibri"/>
              </a:rPr>
              <a:t>Vastlegging van afspraken</a:t>
            </a:r>
          </a:p>
          <a:p>
            <a:pPr algn="l">
              <a:lnSpc>
                <a:spcPct val="115000"/>
              </a:lnSpc>
              <a:spcAft>
                <a:spcPts val="400"/>
              </a:spcAft>
            </a:pPr>
            <a:r>
              <a:rPr sz="1200" b="0" i="0">
                <a:solidFill>
                  <a:srgbClr val="1A2333"/>
                </a:solidFill>
                <a:latin typeface="Calibri"/>
              </a:rPr>
              <a:t>•  Trello-bord — kaarten met AC's + tijdsinschatting</a:t>
            </a:r>
          </a:p>
          <a:p>
            <a:pPr algn="l">
              <a:lnSpc>
                <a:spcPct val="115000"/>
              </a:lnSpc>
              <a:spcAft>
                <a:spcPts val="400"/>
              </a:spcAft>
            </a:pPr>
            <a:r>
              <a:rPr sz="1200" b="0" i="0">
                <a:solidFill>
                  <a:srgbClr val="1A2333"/>
                </a:solidFill>
                <a:latin typeface="Calibri"/>
              </a:rPr>
              <a:t>•  Definition of Done — 10 criteria per US</a:t>
            </a:r>
          </a:p>
          <a:p>
            <a:pPr algn="l">
              <a:lnSpc>
                <a:spcPct val="115000"/>
              </a:lnSpc>
              <a:spcAft>
                <a:spcPts val="400"/>
              </a:spcAft>
            </a:pPr>
            <a:r>
              <a:rPr sz="1200" b="0" i="0">
                <a:solidFill>
                  <a:srgbClr val="1A2333"/>
                </a:solidFill>
                <a:latin typeface="Calibri"/>
              </a:rPr>
              <a:t>•  PO-comments blijven zichtbaar op de Trello-kaart</a:t>
            </a:r>
          </a:p>
        </p:txBody>
      </p:sp>
      <p:sp>
        <p:nvSpPr>
          <p:cNvPr id="7" name="Rounded Rectangle 6"/>
          <p:cNvSpPr/>
          <p:nvPr/>
        </p:nvSpPr>
        <p:spPr>
          <a:xfrm>
            <a:off x="6263640" y="1691640"/>
            <a:ext cx="5486400"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874519"/>
            <a:ext cx="5029200" cy="365760"/>
          </a:xfrm>
          <a:prstGeom prst="rect">
            <a:avLst/>
          </a:prstGeom>
          <a:noFill/>
        </p:spPr>
        <p:txBody>
          <a:bodyPr wrap="square" lIns="0" tIns="0" rIns="0" bIns="0" anchor="t">
            <a:spAutoFit/>
          </a:bodyPr>
          <a:lstStyle/>
          <a:p>
            <a:pPr algn="l"/>
            <a:r>
              <a:rPr sz="1100" b="1" i="0">
                <a:solidFill>
                  <a:srgbClr val="1E2761"/>
                </a:solidFill>
                <a:latin typeface="Calibri"/>
              </a:rPr>
              <a:t>GESLOTEN FEEDBACK-LOOP</a:t>
            </a:r>
          </a:p>
        </p:txBody>
      </p:sp>
      <p:sp>
        <p:nvSpPr>
          <p:cNvPr id="9" name="TextBox 8"/>
          <p:cNvSpPr txBox="1"/>
          <p:nvPr/>
        </p:nvSpPr>
        <p:spPr>
          <a:xfrm>
            <a:off x="6492240" y="2194560"/>
            <a:ext cx="5029200" cy="457200"/>
          </a:xfrm>
          <a:prstGeom prst="rect">
            <a:avLst/>
          </a:prstGeom>
          <a:noFill/>
        </p:spPr>
        <p:txBody>
          <a:bodyPr wrap="square" lIns="0" tIns="0" rIns="0" bIns="0" anchor="t">
            <a:spAutoFit/>
          </a:bodyPr>
          <a:lstStyle/>
          <a:p>
            <a:pPr algn="l"/>
            <a:r>
              <a:rPr sz="1800" b="1" i="0">
                <a:solidFill>
                  <a:srgbClr val="1A2333"/>
                </a:solidFill>
                <a:latin typeface="Calibri"/>
              </a:rPr>
              <a:t>Van PO-comment tot werkende feature</a:t>
            </a:r>
          </a:p>
        </p:txBody>
      </p:sp>
      <p:sp>
        <p:nvSpPr>
          <p:cNvPr id="10" name="TextBox 9"/>
          <p:cNvSpPr txBox="1"/>
          <p:nvPr/>
        </p:nvSpPr>
        <p:spPr>
          <a:xfrm>
            <a:off x="6492240" y="2788920"/>
            <a:ext cx="5029200" cy="3383280"/>
          </a:xfrm>
          <a:prstGeom prst="rect">
            <a:avLst/>
          </a:prstGeom>
          <a:noFill/>
        </p:spPr>
        <p:txBody>
          <a:bodyPr wrap="square" lIns="0" tIns="0" rIns="0" bIns="0" anchor="t">
            <a:spAutoFit/>
          </a:bodyPr>
          <a:lstStyle/>
          <a:p>
            <a:pPr algn="l">
              <a:lnSpc>
                <a:spcPct val="115000"/>
              </a:lnSpc>
              <a:spcAft>
                <a:spcPts val="800"/>
              </a:spcAft>
            </a:pPr>
            <a:r>
              <a:rPr sz="1200" b="0" i="1">
                <a:solidFill>
                  <a:srgbClr val="5A6C7D"/>
                </a:solidFill>
                <a:latin typeface="Calibri"/>
              </a:rPr>
              <a:t>"Graag een gmail-account opvoeren om te testen of het reset-mailtje aankomt. Kijk naar SendGrid of Resend."</a:t>
            </a:r>
          </a:p>
          <a:p>
            <a:pPr algn="l">
              <a:lnSpc>
                <a:spcPct val="115000"/>
              </a:lnSpc>
              <a:spcAft>
                <a:spcPts val="1600"/>
              </a:spcAft>
            </a:pPr>
            <a:r>
              <a:rPr sz="1000" b="0" i="0">
                <a:solidFill>
                  <a:srgbClr val="5A6C7D"/>
                </a:solidFill>
                <a:latin typeface="Calibri"/>
              </a:rPr>
              <a:t>— PO-comment Badreddine op US-15</a:t>
            </a:r>
          </a:p>
          <a:p>
            <a:pPr algn="l">
              <a:lnSpc>
                <a:spcPct val="115000"/>
              </a:lnSpc>
              <a:spcAft>
                <a:spcPts val="400"/>
              </a:spcAft>
            </a:pPr>
            <a:r>
              <a:rPr sz="1200" b="1" i="0">
                <a:solidFill>
                  <a:srgbClr val="1A2333"/>
                </a:solidFill>
                <a:latin typeface="Calibri"/>
              </a:rPr>
              <a:t>1   PO-comment op Trello-kaart US-15</a:t>
            </a:r>
          </a:p>
          <a:p>
            <a:pPr algn="l">
              <a:lnSpc>
                <a:spcPct val="115000"/>
              </a:lnSpc>
              <a:spcAft>
                <a:spcPts val="400"/>
              </a:spcAft>
            </a:pPr>
            <a:r>
              <a:rPr sz="1200" b="1" i="0">
                <a:solidFill>
                  <a:srgbClr val="1A2333"/>
                </a:solidFill>
                <a:latin typeface="Calibri"/>
              </a:rPr>
              <a:t>2   US-17 aangemaakt op sprint backlog</a:t>
            </a:r>
          </a:p>
          <a:p>
            <a:pPr algn="l">
              <a:lnSpc>
                <a:spcPct val="115000"/>
              </a:lnSpc>
              <a:spcAft>
                <a:spcPts val="400"/>
              </a:spcAft>
            </a:pPr>
            <a:r>
              <a:rPr sz="1200" b="1" i="0">
                <a:solidFill>
                  <a:srgbClr val="1A2333"/>
                </a:solidFill>
                <a:latin typeface="Calibri"/>
              </a:rPr>
              <a:t>3   Resend geïntegreerd · DoD-checklist uitgebreid</a:t>
            </a:r>
          </a:p>
          <a:p>
            <a:pPr algn="l">
              <a:lnSpc>
                <a:spcPct val="115000"/>
              </a:lnSpc>
              <a:spcAft>
                <a:spcPts val="1600"/>
              </a:spcAft>
            </a:pPr>
            <a:r>
              <a:rPr sz="1200" b="1" i="0">
                <a:solidFill>
                  <a:srgbClr val="1A2333"/>
                </a:solidFill>
                <a:latin typeface="Calibri"/>
              </a:rPr>
              <a:t>4   Test-mail aangekomen in echte Gmail-inbox</a:t>
            </a:r>
          </a:p>
          <a:p>
            <a:pPr algn="l">
              <a:lnSpc>
                <a:spcPct val="115000"/>
              </a:lnSpc>
              <a:spcAft>
                <a:spcPts val="400"/>
              </a:spcAft>
            </a:pPr>
            <a:r>
              <a:rPr sz="1200" b="0" i="1">
                <a:solidFill>
                  <a:srgbClr val="028090"/>
                </a:solidFill>
                <a:latin typeface="Calibri"/>
              </a:rPr>
              <a:t>Doorlooptijd: 1 werkdag.</a:t>
            </a:r>
          </a:p>
        </p:txBody>
      </p:sp>
      <p:sp>
        <p:nvSpPr>
          <p:cNvPr id="11" name="TextBox 10"/>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12" name="TextBox 11"/>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15 / 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W5 · VERBETERT</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Verbetervoorstellen → US-17 doorgevoerd</a:t>
            </a:r>
          </a:p>
        </p:txBody>
      </p:sp>
      <p:sp>
        <p:nvSpPr>
          <p:cNvPr id="6" name="Rounded Rectangle 5"/>
          <p:cNvSpPr/>
          <p:nvPr/>
        </p:nvSpPr>
        <p:spPr>
          <a:xfrm>
            <a:off x="457200" y="1691640"/>
            <a:ext cx="3200400" cy="402336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828800"/>
            <a:ext cx="3200400" cy="365760"/>
          </a:xfrm>
          <a:prstGeom prst="rect">
            <a:avLst/>
          </a:prstGeom>
          <a:noFill/>
        </p:spPr>
        <p:txBody>
          <a:bodyPr wrap="square" lIns="0" tIns="0" rIns="0" bIns="0" anchor="t">
            <a:spAutoFit/>
          </a:bodyPr>
          <a:lstStyle/>
          <a:p>
            <a:pPr algn="ctr"/>
            <a:r>
              <a:rPr sz="1100" b="1" i="0">
                <a:solidFill>
                  <a:srgbClr val="84B59F"/>
                </a:solidFill>
                <a:latin typeface="Calibri"/>
              </a:rPr>
              <a:t>VERBETERVOORSTELLEN</a:t>
            </a:r>
          </a:p>
        </p:txBody>
      </p:sp>
      <p:sp>
        <p:nvSpPr>
          <p:cNvPr id="8" name="TextBox 7"/>
          <p:cNvSpPr txBox="1"/>
          <p:nvPr/>
        </p:nvSpPr>
        <p:spPr>
          <a:xfrm>
            <a:off x="457200" y="2286000"/>
            <a:ext cx="3200400" cy="1463040"/>
          </a:xfrm>
          <a:prstGeom prst="rect">
            <a:avLst/>
          </a:prstGeom>
          <a:noFill/>
        </p:spPr>
        <p:txBody>
          <a:bodyPr wrap="square" lIns="0" tIns="0" rIns="0" bIns="0" anchor="t">
            <a:spAutoFit/>
          </a:bodyPr>
          <a:lstStyle/>
          <a:p>
            <a:pPr algn="ctr"/>
            <a:r>
              <a:rPr sz="14000" b="1" i="0">
                <a:solidFill>
                  <a:srgbClr val="FFFFFF"/>
                </a:solidFill>
                <a:latin typeface="Calibri"/>
              </a:rPr>
              <a:t>3</a:t>
            </a:r>
          </a:p>
        </p:txBody>
      </p:sp>
      <p:sp>
        <p:nvSpPr>
          <p:cNvPr id="9" name="TextBox 8"/>
          <p:cNvSpPr txBox="1"/>
          <p:nvPr/>
        </p:nvSpPr>
        <p:spPr>
          <a:xfrm>
            <a:off x="457200" y="4023360"/>
            <a:ext cx="3200400" cy="457200"/>
          </a:xfrm>
          <a:prstGeom prst="rect">
            <a:avLst/>
          </a:prstGeom>
          <a:noFill/>
        </p:spPr>
        <p:txBody>
          <a:bodyPr wrap="square" lIns="0" tIns="0" rIns="0" bIns="0" anchor="t">
            <a:spAutoFit/>
          </a:bodyPr>
          <a:lstStyle/>
          <a:p>
            <a:pPr algn="ctr"/>
            <a:r>
              <a:rPr sz="1800" b="1" i="0">
                <a:solidFill>
                  <a:srgbClr val="FFFFFF"/>
                </a:solidFill>
                <a:latin typeface="Calibri"/>
              </a:rPr>
              <a:t>VV-1 · VV-2 · VV-3</a:t>
            </a:r>
          </a:p>
        </p:txBody>
      </p:sp>
      <p:sp>
        <p:nvSpPr>
          <p:cNvPr id="10" name="TextBox 9"/>
          <p:cNvSpPr txBox="1"/>
          <p:nvPr/>
        </p:nvSpPr>
        <p:spPr>
          <a:xfrm>
            <a:off x="457200" y="4572000"/>
            <a:ext cx="3200400" cy="914400"/>
          </a:xfrm>
          <a:prstGeom prst="rect">
            <a:avLst/>
          </a:prstGeom>
          <a:noFill/>
        </p:spPr>
        <p:txBody>
          <a:bodyPr wrap="square" lIns="0" tIns="0" rIns="0" bIns="0" anchor="t">
            <a:spAutoFit/>
          </a:bodyPr>
          <a:lstStyle/>
          <a:p>
            <a:pPr algn="ctr"/>
            <a:r>
              <a:rPr sz="1200" b="0" i="1">
                <a:solidFill>
                  <a:srgbClr val="84B59F"/>
                </a:solidFill>
                <a:latin typeface="Calibri"/>
              </a:rPr>
              <a:t>Op basis van testresultaten, PO-feedback en retrospective.</a:t>
            </a:r>
          </a:p>
        </p:txBody>
      </p:sp>
      <p:sp>
        <p:nvSpPr>
          <p:cNvPr id="11" name="TextBox 10"/>
          <p:cNvSpPr txBox="1"/>
          <p:nvPr/>
        </p:nvSpPr>
        <p:spPr>
          <a:xfrm>
            <a:off x="3931920" y="1691640"/>
            <a:ext cx="7863840" cy="4572000"/>
          </a:xfrm>
          <a:prstGeom prst="rect">
            <a:avLst/>
          </a:prstGeom>
          <a:noFill/>
        </p:spPr>
        <p:txBody>
          <a:bodyPr wrap="square" lIns="0" tIns="0" rIns="0" bIns="0" anchor="t">
            <a:spAutoFit/>
          </a:bodyPr>
          <a:lstStyle/>
          <a:p>
            <a:pPr algn="l">
              <a:lnSpc>
                <a:spcPct val="115000"/>
              </a:lnSpc>
              <a:spcAft>
                <a:spcPts val="400"/>
              </a:spcAft>
            </a:pPr>
            <a:r>
              <a:rPr sz="1400" b="1" i="0">
                <a:solidFill>
                  <a:srgbClr val="028090"/>
                </a:solidFill>
                <a:latin typeface="Calibri"/>
              </a:rPr>
              <a:t>VV-1  ·  Externe-flow-validatie opnemen in DoD</a:t>
            </a:r>
          </a:p>
          <a:p>
            <a:pPr algn="l">
              <a:lnSpc>
                <a:spcPct val="115000"/>
              </a:lnSpc>
              <a:spcAft>
                <a:spcPts val="1400"/>
              </a:spcAft>
            </a:pPr>
            <a:r>
              <a:rPr sz="1100" b="0" i="0">
                <a:solidFill>
                  <a:srgbClr val="5A6C7D"/>
                </a:solidFill>
                <a:latin typeface="Calibri"/>
              </a:rPr>
              <a:t>Mail-, webhook- en betalingsflows handmatig testen in échte omgeving — niet alleen automated tests.</a:t>
            </a:r>
          </a:p>
          <a:p>
            <a:pPr algn="l">
              <a:lnSpc>
                <a:spcPct val="115000"/>
              </a:lnSpc>
              <a:spcAft>
                <a:spcPts val="400"/>
              </a:spcAft>
            </a:pPr>
            <a:r>
              <a:rPr sz="1400" b="1" i="0">
                <a:solidFill>
                  <a:srgbClr val="028090"/>
                </a:solidFill>
                <a:latin typeface="Calibri"/>
              </a:rPr>
              <a:t>VV-2  ·  Backed-enums vanaf model-start</a:t>
            </a:r>
          </a:p>
          <a:p>
            <a:pPr algn="l">
              <a:lnSpc>
                <a:spcPct val="115000"/>
              </a:lnSpc>
              <a:spcAft>
                <a:spcPts val="1400"/>
              </a:spcAft>
            </a:pPr>
            <a:r>
              <a:rPr sz="1100" b="0" i="0">
                <a:solidFill>
                  <a:srgbClr val="5A6C7D"/>
                </a:solidFill>
                <a:latin typeface="Calibri"/>
              </a:rPr>
              <a:t>Bij vast vocabularium (status, type, rol) direct een backed enum — geen stringly-typed start.</a:t>
            </a:r>
          </a:p>
          <a:p>
            <a:pPr algn="l">
              <a:lnSpc>
                <a:spcPct val="115000"/>
              </a:lnSpc>
              <a:spcAft>
                <a:spcPts val="400"/>
              </a:spcAft>
            </a:pPr>
            <a:r>
              <a:rPr sz="1400" b="1" i="0">
                <a:solidFill>
                  <a:srgbClr val="028090"/>
                </a:solidFill>
                <a:latin typeface="Calibri"/>
              </a:rPr>
              <a:t>VV-3  ·  Halverwege-demo's bij UI-formulieren</a:t>
            </a:r>
          </a:p>
          <a:p>
            <a:pPr algn="l">
              <a:lnSpc>
                <a:spcPct val="115000"/>
              </a:lnSpc>
              <a:spcAft>
                <a:spcPts val="1600"/>
              </a:spcAft>
            </a:pPr>
            <a:r>
              <a:rPr sz="1100" b="0" i="0">
                <a:solidFill>
                  <a:srgbClr val="5A6C7D"/>
                </a:solidFill>
                <a:latin typeface="Calibri"/>
              </a:rPr>
              <a:t>Vijf-minuten tussentijdse demo aan PO bij US's met formulieren — voorkomt rework.</a:t>
            </a:r>
          </a:p>
          <a:p>
            <a:pPr algn="l">
              <a:lnSpc>
                <a:spcPct val="115000"/>
              </a:lnSpc>
              <a:spcAft>
                <a:spcPts val="400"/>
              </a:spcAft>
            </a:pPr>
            <a:r>
              <a:rPr sz="1600" b="1" i="0">
                <a:solidFill>
                  <a:srgbClr val="2D7A3F"/>
                </a:solidFill>
                <a:latin typeface="Calibri"/>
              </a:rPr>
              <a:t>Doorgevoerd:  US-17  ·  Resend-integratie</a:t>
            </a:r>
          </a:p>
          <a:p>
            <a:pPr algn="l">
              <a:lnSpc>
                <a:spcPct val="115000"/>
              </a:lnSpc>
              <a:spcAft>
                <a:spcPts val="400"/>
              </a:spcAft>
            </a:pPr>
            <a:r>
              <a:rPr sz="1100" b="0" i="0">
                <a:solidFill>
                  <a:srgbClr val="1A2333"/>
                </a:solidFill>
                <a:latin typeface="Calibri"/>
              </a:rPr>
              <a:t>4 uur · Should-have · `MAIL_MAILER=resend` · seeders aangepast · test-mail aangekomen in Gmail-inbox.</a:t>
            </a:r>
          </a:p>
        </p:txBody>
      </p:sp>
      <p:sp>
        <p:nvSpPr>
          <p:cNvPr id="12" name="TextBox 11"/>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13" name="TextBox 12"/>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16 / 20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W3 · REFLECTEERT (1 VAN 3)</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Reflectie — het proces</a:t>
            </a:r>
          </a:p>
        </p:txBody>
      </p:sp>
      <p:sp>
        <p:nvSpPr>
          <p:cNvPr id="6" name="Rounded Rectangle 5"/>
          <p:cNvSpPr/>
          <p:nvPr/>
        </p:nvSpPr>
        <p:spPr>
          <a:xfrm>
            <a:off x="457200"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2057400"/>
            <a:ext cx="640080" cy="640080"/>
          </a:xfrm>
          <a:prstGeom prst="roundRect">
            <a:avLst>
              <a:gd name="adj" fmla="val 12000"/>
            </a:avLst>
          </a:prstGeom>
          <a:solidFill>
            <a:srgbClr val="2D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9" name="TextBox 8"/>
          <p:cNvSpPr txBox="1"/>
          <p:nvPr/>
        </p:nvSpPr>
        <p:spPr>
          <a:xfrm>
            <a:off x="1417320"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ging goed</a:t>
            </a:r>
          </a:p>
        </p:txBody>
      </p:sp>
      <p:sp>
        <p:nvSpPr>
          <p:cNvPr id="10" name="TextBox 9"/>
          <p:cNvSpPr txBox="1"/>
          <p:nvPr/>
        </p:nvSpPr>
        <p:spPr>
          <a:xfrm>
            <a:off x="685800"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Pest-first vanaf US-01 — geen post-merge bugfixes</a:t>
            </a:r>
          </a:p>
          <a:p>
            <a:pPr algn="l">
              <a:lnSpc>
                <a:spcPct val="115000"/>
              </a:lnSpc>
              <a:spcAft>
                <a:spcPts val="600"/>
              </a:spcAft>
            </a:pPr>
            <a:r>
              <a:rPr sz="1100" b="0" i="0">
                <a:solidFill>
                  <a:srgbClr val="1A2333"/>
                </a:solidFill>
                <a:latin typeface="Calibri"/>
              </a:rPr>
              <a:t>•  Design-system eerst geport — sprint-1 visueel consistent</a:t>
            </a:r>
          </a:p>
          <a:p>
            <a:pPr algn="l">
              <a:lnSpc>
                <a:spcPct val="115000"/>
              </a:lnSpc>
              <a:spcAft>
                <a:spcPts val="600"/>
              </a:spcAft>
            </a:pPr>
            <a:r>
              <a:rPr sz="1100" b="0" i="0">
                <a:solidFill>
                  <a:srgbClr val="1A2333"/>
                </a:solidFill>
                <a:latin typeface="Calibri"/>
              </a:rPr>
              <a:t>•  Scoped commit-prefixes (feat/test/docs/chore)</a:t>
            </a:r>
          </a:p>
          <a:p>
            <a:pPr algn="l">
              <a:lnSpc>
                <a:spcPct val="115000"/>
              </a:lnSpc>
              <a:spcAft>
                <a:spcPts val="600"/>
              </a:spcAft>
            </a:pPr>
            <a:r>
              <a:rPr sz="1100" b="0" i="0">
                <a:solidFill>
                  <a:srgbClr val="1A2333"/>
                </a:solidFill>
                <a:latin typeface="Calibri"/>
              </a:rPr>
              <a:t>•  State-machine voor uren — sprint 4 bouwt erop voort</a:t>
            </a:r>
          </a:p>
        </p:txBody>
      </p:sp>
      <p:sp>
        <p:nvSpPr>
          <p:cNvPr id="11" name="Rounded Rectangle 10"/>
          <p:cNvSpPr/>
          <p:nvPr/>
        </p:nvSpPr>
        <p:spPr>
          <a:xfrm>
            <a:off x="4343399"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1999" y="2057400"/>
            <a:ext cx="640080" cy="640080"/>
          </a:xfrm>
          <a:prstGeom prst="roundRect">
            <a:avLst>
              <a:gd name="adj" fmla="val 12000"/>
            </a:avLst>
          </a:prstGeom>
          <a:solidFill>
            <a:srgbClr val="C44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1999"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14" name="TextBox 13"/>
          <p:cNvSpPr txBox="1"/>
          <p:nvPr/>
        </p:nvSpPr>
        <p:spPr>
          <a:xfrm>
            <a:off x="5303519"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kan beter</a:t>
            </a:r>
          </a:p>
        </p:txBody>
      </p:sp>
      <p:sp>
        <p:nvSpPr>
          <p:cNvPr id="15" name="TextBox 14"/>
          <p:cNvSpPr txBox="1"/>
          <p:nvPr/>
        </p:nvSpPr>
        <p:spPr>
          <a:xfrm>
            <a:off x="4571999"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Testbestandnamen pas in sprint 2 omgenoemd naar US-XX</a:t>
            </a:r>
          </a:p>
          <a:p>
            <a:pPr algn="l">
              <a:lnSpc>
                <a:spcPct val="115000"/>
              </a:lnSpc>
              <a:spcAft>
                <a:spcPts val="600"/>
              </a:spcAft>
            </a:pPr>
            <a:r>
              <a:rPr sz="1100" b="0" i="0">
                <a:solidFill>
                  <a:srgbClr val="1A2333"/>
                </a:solidFill>
                <a:latin typeface="Calibri"/>
              </a:rPr>
              <a:t>•  Stringly-typed enums in sprint 3 (later refactor)</a:t>
            </a:r>
          </a:p>
          <a:p>
            <a:pPr algn="l">
              <a:lnSpc>
                <a:spcPct val="115000"/>
              </a:lnSpc>
              <a:spcAft>
                <a:spcPts val="600"/>
              </a:spcAft>
            </a:pPr>
            <a:r>
              <a:rPr sz="1100" b="0" i="0">
                <a:solidFill>
                  <a:srgbClr val="1A2333"/>
                </a:solidFill>
                <a:latin typeface="Calibri"/>
              </a:rPr>
              <a:t>•  Mail-flow US-15 niet end-to-end gevalideerd</a:t>
            </a:r>
          </a:p>
          <a:p>
            <a:pPr algn="l">
              <a:lnSpc>
                <a:spcPct val="115000"/>
              </a:lnSpc>
              <a:spcAft>
                <a:spcPts val="600"/>
              </a:spcAft>
            </a:pPr>
            <a:r>
              <a:rPr sz="1100" b="0" i="0">
                <a:solidFill>
                  <a:srgbClr val="1A2333"/>
                </a:solidFill>
                <a:latin typeface="Calibri"/>
              </a:rPr>
              <a:t>•  Docs-batch werkte slecht voor externe afhankelijkheden</a:t>
            </a:r>
          </a:p>
        </p:txBody>
      </p:sp>
      <p:sp>
        <p:nvSpPr>
          <p:cNvPr id="16" name="Rounded Rectangle 15"/>
          <p:cNvSpPr/>
          <p:nvPr/>
        </p:nvSpPr>
        <p:spPr>
          <a:xfrm>
            <a:off x="8229598"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458198" y="2057400"/>
            <a:ext cx="640080" cy="6400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58198"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19" name="TextBox 18"/>
          <p:cNvSpPr txBox="1"/>
          <p:nvPr/>
        </p:nvSpPr>
        <p:spPr>
          <a:xfrm>
            <a:off x="9189718"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ga ik anders doen</a:t>
            </a:r>
          </a:p>
        </p:txBody>
      </p:sp>
      <p:sp>
        <p:nvSpPr>
          <p:cNvPr id="20" name="TextBox 19"/>
          <p:cNvSpPr txBox="1"/>
          <p:nvPr/>
        </p:nvSpPr>
        <p:spPr>
          <a:xfrm>
            <a:off x="8458198"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DoD uitbreiden met 'gevalideerd in echte omgeving'</a:t>
            </a:r>
          </a:p>
          <a:p>
            <a:pPr algn="l">
              <a:lnSpc>
                <a:spcPct val="115000"/>
              </a:lnSpc>
              <a:spcAft>
                <a:spcPts val="600"/>
              </a:spcAft>
            </a:pPr>
            <a:r>
              <a:rPr sz="1100" b="0" i="0">
                <a:solidFill>
                  <a:srgbClr val="1A2333"/>
                </a:solidFill>
                <a:latin typeface="Calibri"/>
              </a:rPr>
              <a:t>•  Backed enums vanaf de start, niet halverwege</a:t>
            </a:r>
          </a:p>
          <a:p>
            <a:pPr algn="l">
              <a:lnSpc>
                <a:spcPct val="115000"/>
              </a:lnSpc>
              <a:spcAft>
                <a:spcPts val="600"/>
              </a:spcAft>
            </a:pPr>
            <a:r>
              <a:rPr sz="1100" b="0" i="0">
                <a:solidFill>
                  <a:srgbClr val="1A2333"/>
                </a:solidFill>
                <a:latin typeface="Calibri"/>
              </a:rPr>
              <a:t>•  Code- + docs- + validatie-tasks op elke Trello-kaart</a:t>
            </a:r>
          </a:p>
          <a:p>
            <a:pPr algn="l">
              <a:lnSpc>
                <a:spcPct val="115000"/>
              </a:lnSpc>
              <a:spcAft>
                <a:spcPts val="600"/>
              </a:spcAft>
            </a:pPr>
            <a:r>
              <a:rPr sz="1100" b="0" i="0">
                <a:solidFill>
                  <a:srgbClr val="1A2333"/>
                </a:solidFill>
                <a:latin typeface="Calibri"/>
              </a:rPr>
              <a:t>•  Route-volgordeproblemen via expliciete tests vangen</a:t>
            </a:r>
          </a:p>
        </p:txBody>
      </p:sp>
      <p:sp>
        <p:nvSpPr>
          <p:cNvPr id="21" name="TextBox 20"/>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22" name="TextBox 21"/>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17 / 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W3 · REFLECTEERT (2 VAN 3)</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Reflectie — samenwerking met PO</a:t>
            </a:r>
          </a:p>
        </p:txBody>
      </p:sp>
      <p:sp>
        <p:nvSpPr>
          <p:cNvPr id="6" name="Rounded Rectangle 5"/>
          <p:cNvSpPr/>
          <p:nvPr/>
        </p:nvSpPr>
        <p:spPr>
          <a:xfrm>
            <a:off x="457200"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2057400"/>
            <a:ext cx="640080" cy="640080"/>
          </a:xfrm>
          <a:prstGeom prst="roundRect">
            <a:avLst>
              <a:gd name="adj" fmla="val 12000"/>
            </a:avLst>
          </a:prstGeom>
          <a:solidFill>
            <a:srgbClr val="2D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9" name="TextBox 8"/>
          <p:cNvSpPr txBox="1"/>
          <p:nvPr/>
        </p:nvSpPr>
        <p:spPr>
          <a:xfrm>
            <a:off x="1417320"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ging goed</a:t>
            </a:r>
          </a:p>
        </p:txBody>
      </p:sp>
      <p:sp>
        <p:nvSpPr>
          <p:cNvPr id="10" name="TextBox 9"/>
          <p:cNvSpPr txBox="1"/>
          <p:nvPr/>
        </p:nvSpPr>
        <p:spPr>
          <a:xfrm>
            <a:off x="685800"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PO accepteerde alle 16 kaarten zelf (Trello-log)</a:t>
            </a:r>
          </a:p>
          <a:p>
            <a:pPr algn="l">
              <a:lnSpc>
                <a:spcPct val="115000"/>
              </a:lnSpc>
              <a:spcAft>
                <a:spcPts val="600"/>
              </a:spcAft>
            </a:pPr>
            <a:r>
              <a:rPr sz="1100" b="0" i="0">
                <a:solidFill>
                  <a:srgbClr val="1A2333"/>
                </a:solidFill>
                <a:latin typeface="Calibri"/>
              </a:rPr>
              <a:t>•  PO-feedback op US-15 binnen 1 dag opgevolgd (US-17)</a:t>
            </a:r>
          </a:p>
          <a:p>
            <a:pPr algn="l">
              <a:lnSpc>
                <a:spcPct val="115000"/>
              </a:lnSpc>
              <a:spcAft>
                <a:spcPts val="600"/>
              </a:spcAft>
            </a:pPr>
            <a:r>
              <a:rPr sz="1100" b="0" i="0">
                <a:solidFill>
                  <a:srgbClr val="1A2333"/>
                </a:solidFill>
                <a:latin typeface="Calibri"/>
              </a:rPr>
              <a:t>•  Trello-comments als asynchrone communicatie</a:t>
            </a:r>
          </a:p>
          <a:p>
            <a:pPr algn="l">
              <a:lnSpc>
                <a:spcPct val="115000"/>
              </a:lnSpc>
              <a:spcAft>
                <a:spcPts val="600"/>
              </a:spcAft>
            </a:pPr>
            <a:r>
              <a:rPr sz="1100" b="0" i="0">
                <a:solidFill>
                  <a:srgbClr val="1A2333"/>
                </a:solidFill>
                <a:latin typeface="Calibri"/>
              </a:rPr>
              <a:t>•  Sprint-reviews met live-demo per sprint</a:t>
            </a:r>
          </a:p>
        </p:txBody>
      </p:sp>
      <p:sp>
        <p:nvSpPr>
          <p:cNvPr id="11" name="Rounded Rectangle 10"/>
          <p:cNvSpPr/>
          <p:nvPr/>
        </p:nvSpPr>
        <p:spPr>
          <a:xfrm>
            <a:off x="4343399"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1999" y="2057400"/>
            <a:ext cx="640080" cy="640080"/>
          </a:xfrm>
          <a:prstGeom prst="roundRect">
            <a:avLst>
              <a:gd name="adj" fmla="val 12000"/>
            </a:avLst>
          </a:prstGeom>
          <a:solidFill>
            <a:srgbClr val="C44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1999"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14" name="TextBox 13"/>
          <p:cNvSpPr txBox="1"/>
          <p:nvPr/>
        </p:nvSpPr>
        <p:spPr>
          <a:xfrm>
            <a:off x="5303519"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kan beter</a:t>
            </a:r>
          </a:p>
        </p:txBody>
      </p:sp>
      <p:sp>
        <p:nvSpPr>
          <p:cNvPr id="15" name="TextBox 14"/>
          <p:cNvSpPr txBox="1"/>
          <p:nvPr/>
        </p:nvSpPr>
        <p:spPr>
          <a:xfrm>
            <a:off x="4571999"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Twijfels niet altijd direct op de Trello-kaart gevraagd</a:t>
            </a:r>
          </a:p>
          <a:p>
            <a:pPr algn="l">
              <a:lnSpc>
                <a:spcPct val="115000"/>
              </a:lnSpc>
              <a:spcAft>
                <a:spcPts val="600"/>
              </a:spcAft>
            </a:pPr>
            <a:r>
              <a:rPr sz="1100" b="0" i="0">
                <a:solidFill>
                  <a:srgbClr val="1A2333"/>
                </a:solidFill>
                <a:latin typeface="Calibri"/>
              </a:rPr>
              <a:t>•  Weinig tussentijdse demo's tijdens een sprint</a:t>
            </a:r>
          </a:p>
          <a:p>
            <a:pPr algn="l">
              <a:lnSpc>
                <a:spcPct val="115000"/>
              </a:lnSpc>
              <a:spcAft>
                <a:spcPts val="600"/>
              </a:spcAft>
            </a:pPr>
            <a:r>
              <a:rPr sz="1100" b="0" i="0">
                <a:solidFill>
                  <a:srgbClr val="1A2333"/>
                </a:solidFill>
                <a:latin typeface="Calibri"/>
              </a:rPr>
              <a:t>•  Ideeën voor uitbreidingen niet meteen op backlog</a:t>
            </a:r>
          </a:p>
          <a:p>
            <a:pPr algn="l">
              <a:lnSpc>
                <a:spcPct val="115000"/>
              </a:lnSpc>
              <a:spcAft>
                <a:spcPts val="600"/>
              </a:spcAft>
            </a:pPr>
            <a:r>
              <a:rPr sz="1100" b="0" i="0">
                <a:solidFill>
                  <a:srgbClr val="1A2333"/>
                </a:solidFill>
                <a:latin typeface="Calibri"/>
              </a:rPr>
              <a:t>•  DoD-detectie deels door PO i.p.v. door mij vóór review</a:t>
            </a:r>
          </a:p>
        </p:txBody>
      </p:sp>
      <p:sp>
        <p:nvSpPr>
          <p:cNvPr id="16" name="Rounded Rectangle 15"/>
          <p:cNvSpPr/>
          <p:nvPr/>
        </p:nvSpPr>
        <p:spPr>
          <a:xfrm>
            <a:off x="8229598"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458198" y="2057400"/>
            <a:ext cx="640080" cy="6400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58198"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19" name="TextBox 18"/>
          <p:cNvSpPr txBox="1"/>
          <p:nvPr/>
        </p:nvSpPr>
        <p:spPr>
          <a:xfrm>
            <a:off x="9189718"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ga ik anders doen</a:t>
            </a:r>
          </a:p>
        </p:txBody>
      </p:sp>
      <p:sp>
        <p:nvSpPr>
          <p:cNvPr id="20" name="TextBox 19"/>
          <p:cNvSpPr txBox="1"/>
          <p:nvPr/>
        </p:nvSpPr>
        <p:spPr>
          <a:xfrm>
            <a:off x="8458198"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Elke 'ja-tenzij'-twijfel als Trello-comment vóór bouwen</a:t>
            </a:r>
          </a:p>
          <a:p>
            <a:pPr algn="l">
              <a:lnSpc>
                <a:spcPct val="115000"/>
              </a:lnSpc>
              <a:spcAft>
                <a:spcPts val="600"/>
              </a:spcAft>
            </a:pPr>
            <a:r>
              <a:rPr sz="1100" b="0" i="0">
                <a:solidFill>
                  <a:srgbClr val="1A2333"/>
                </a:solidFill>
                <a:latin typeface="Calibri"/>
              </a:rPr>
              <a:t>•  Bij UI-formulieren: 5-min Zoom-demo halverwege</a:t>
            </a:r>
          </a:p>
          <a:p>
            <a:pPr algn="l">
              <a:lnSpc>
                <a:spcPct val="115000"/>
              </a:lnSpc>
              <a:spcAft>
                <a:spcPts val="600"/>
              </a:spcAft>
            </a:pPr>
            <a:r>
              <a:rPr sz="1100" b="0" i="0">
                <a:solidFill>
                  <a:srgbClr val="1A2333"/>
                </a:solidFill>
                <a:latin typeface="Calibri"/>
              </a:rPr>
              <a:t>•  Backlog-ideeën meteen als kaart op idee-label</a:t>
            </a:r>
          </a:p>
          <a:p>
            <a:pPr algn="l">
              <a:lnSpc>
                <a:spcPct val="115000"/>
              </a:lnSpc>
              <a:spcAft>
                <a:spcPts val="600"/>
              </a:spcAft>
            </a:pPr>
            <a:r>
              <a:rPr sz="1100" b="0" i="0">
                <a:solidFill>
                  <a:srgbClr val="1A2333"/>
                </a:solidFill>
                <a:latin typeface="Calibri"/>
              </a:rPr>
              <a:t>•  Externe-afhankelijkheden-checklist vóór review</a:t>
            </a:r>
          </a:p>
        </p:txBody>
      </p:sp>
      <p:sp>
        <p:nvSpPr>
          <p:cNvPr id="21" name="TextBox 20"/>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22" name="TextBox 21"/>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18 / 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502920"/>
            <a:ext cx="73152"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11480"/>
            <a:ext cx="10058400" cy="274320"/>
          </a:xfrm>
          <a:prstGeom prst="rect">
            <a:avLst/>
          </a:prstGeom>
          <a:noFill/>
        </p:spPr>
        <p:txBody>
          <a:bodyPr wrap="square" lIns="0" tIns="0" rIns="0" bIns="0" anchor="t">
            <a:spAutoFit/>
          </a:bodyPr>
          <a:lstStyle/>
          <a:p>
            <a:pPr algn="l"/>
            <a:r>
              <a:rPr sz="1100" b="1" i="0">
                <a:solidFill>
                  <a:srgbClr val="028090"/>
                </a:solidFill>
                <a:latin typeface="Calibri"/>
              </a:rPr>
              <a:t>W3 · REFLECTEERT (3 VAN 3)</a:t>
            </a:r>
          </a:p>
        </p:txBody>
      </p:sp>
      <p:sp>
        <p:nvSpPr>
          <p:cNvPr id="5" name="TextBox 4"/>
          <p:cNvSpPr txBox="1"/>
          <p:nvPr/>
        </p:nvSpPr>
        <p:spPr>
          <a:xfrm>
            <a:off x="685800" y="713232"/>
            <a:ext cx="10058400" cy="502920"/>
          </a:xfrm>
          <a:prstGeom prst="rect">
            <a:avLst/>
          </a:prstGeom>
          <a:noFill/>
        </p:spPr>
        <p:txBody>
          <a:bodyPr wrap="square" lIns="0" tIns="0" rIns="0" bIns="0" anchor="t">
            <a:spAutoFit/>
          </a:bodyPr>
          <a:lstStyle/>
          <a:p>
            <a:pPr algn="l"/>
            <a:r>
              <a:rPr sz="3000" b="1" i="0">
                <a:solidFill>
                  <a:srgbClr val="1A2333"/>
                </a:solidFill>
                <a:latin typeface="Calibri"/>
              </a:rPr>
              <a:t>Reflectie — eigen prestaties</a:t>
            </a:r>
          </a:p>
        </p:txBody>
      </p:sp>
      <p:sp>
        <p:nvSpPr>
          <p:cNvPr id="6" name="Rounded Rectangle 5"/>
          <p:cNvSpPr/>
          <p:nvPr/>
        </p:nvSpPr>
        <p:spPr>
          <a:xfrm>
            <a:off x="457200"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2057400"/>
            <a:ext cx="640080" cy="640080"/>
          </a:xfrm>
          <a:prstGeom prst="roundRect">
            <a:avLst>
              <a:gd name="adj" fmla="val 12000"/>
            </a:avLst>
          </a:prstGeom>
          <a:solidFill>
            <a:srgbClr val="2D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9" name="TextBox 8"/>
          <p:cNvSpPr txBox="1"/>
          <p:nvPr/>
        </p:nvSpPr>
        <p:spPr>
          <a:xfrm>
            <a:off x="1417320"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ging goed</a:t>
            </a:r>
          </a:p>
        </p:txBody>
      </p:sp>
      <p:sp>
        <p:nvSpPr>
          <p:cNvPr id="10" name="TextBox 9"/>
          <p:cNvSpPr txBox="1"/>
          <p:nvPr/>
        </p:nvSpPr>
        <p:spPr>
          <a:xfrm>
            <a:off x="685800"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100% van 16 user stories opgeleverd in 4 sprints</a:t>
            </a:r>
          </a:p>
          <a:p>
            <a:pPr algn="l">
              <a:lnSpc>
                <a:spcPct val="115000"/>
              </a:lnSpc>
              <a:spcAft>
                <a:spcPts val="600"/>
              </a:spcAft>
            </a:pPr>
            <a:r>
              <a:rPr sz="1100" b="0" i="0">
                <a:solidFill>
                  <a:srgbClr val="1A2333"/>
                </a:solidFill>
                <a:latin typeface="Calibri"/>
              </a:rPr>
              <a:t>•  Security-by-default vanaf US-01 (rate-limit, mass-assign)</a:t>
            </a:r>
          </a:p>
          <a:p>
            <a:pPr algn="l">
              <a:lnSpc>
                <a:spcPct val="115000"/>
              </a:lnSpc>
              <a:spcAft>
                <a:spcPts val="600"/>
              </a:spcAft>
            </a:pPr>
            <a:r>
              <a:rPr sz="1100" b="0" i="0">
                <a:solidFill>
                  <a:srgbClr val="1A2333"/>
                </a:solidFill>
                <a:latin typeface="Calibri"/>
              </a:rPr>
              <a:t>•  Self-demotion guard proactief toegevoegd in US-05</a:t>
            </a:r>
          </a:p>
          <a:p>
            <a:pPr algn="l">
              <a:lnSpc>
                <a:spcPct val="115000"/>
              </a:lnSpc>
              <a:spcAft>
                <a:spcPts val="600"/>
              </a:spcAft>
            </a:pPr>
            <a:r>
              <a:rPr sz="1100" b="0" i="0">
                <a:solidFill>
                  <a:srgbClr val="1A2333"/>
                </a:solidFill>
                <a:latin typeface="Calibri"/>
              </a:rPr>
              <a:t>•  Snelle response op PO-feedback (US-17 in 4 uur)</a:t>
            </a:r>
          </a:p>
        </p:txBody>
      </p:sp>
      <p:sp>
        <p:nvSpPr>
          <p:cNvPr id="11" name="Rounded Rectangle 10"/>
          <p:cNvSpPr/>
          <p:nvPr/>
        </p:nvSpPr>
        <p:spPr>
          <a:xfrm>
            <a:off x="4343399"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1999" y="2057400"/>
            <a:ext cx="640080" cy="640080"/>
          </a:xfrm>
          <a:prstGeom prst="roundRect">
            <a:avLst>
              <a:gd name="adj" fmla="val 12000"/>
            </a:avLst>
          </a:prstGeom>
          <a:solidFill>
            <a:srgbClr val="C44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1999"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14" name="TextBox 13"/>
          <p:cNvSpPr txBox="1"/>
          <p:nvPr/>
        </p:nvSpPr>
        <p:spPr>
          <a:xfrm>
            <a:off x="5303519"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kan beter</a:t>
            </a:r>
          </a:p>
        </p:txBody>
      </p:sp>
      <p:sp>
        <p:nvSpPr>
          <p:cNvPr id="15" name="TextBox 14"/>
          <p:cNvSpPr txBox="1"/>
          <p:nvPr/>
        </p:nvSpPr>
        <p:spPr>
          <a:xfrm>
            <a:off x="4571999"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Onderschatte planning sprint 1 (3 vs werkelijke 4 US)</a:t>
            </a:r>
          </a:p>
          <a:p>
            <a:pPr algn="l">
              <a:lnSpc>
                <a:spcPct val="115000"/>
              </a:lnSpc>
              <a:spcAft>
                <a:spcPts val="600"/>
              </a:spcAft>
            </a:pPr>
            <a:r>
              <a:rPr sz="1100" b="0" i="0">
                <a:solidFill>
                  <a:srgbClr val="1A2333"/>
                </a:solidFill>
                <a:latin typeface="Calibri"/>
              </a:rPr>
              <a:t>•  Lange code-sessies → typo-commits (`teamleidder`)</a:t>
            </a:r>
          </a:p>
          <a:p>
            <a:pPr algn="l">
              <a:lnSpc>
                <a:spcPct val="115000"/>
              </a:lnSpc>
              <a:spcAft>
                <a:spcPts val="600"/>
              </a:spcAft>
            </a:pPr>
            <a:r>
              <a:rPr sz="1100" b="0" i="0">
                <a:solidFill>
                  <a:srgbClr val="1A2333"/>
                </a:solidFill>
                <a:latin typeface="Calibri"/>
              </a:rPr>
              <a:t>•  Blind vertrouwen op Pest-test bij externe mail-flow</a:t>
            </a:r>
          </a:p>
          <a:p>
            <a:pPr algn="l">
              <a:lnSpc>
                <a:spcPct val="115000"/>
              </a:lnSpc>
              <a:spcAft>
                <a:spcPts val="600"/>
              </a:spcAft>
            </a:pPr>
            <a:r>
              <a:rPr sz="1100" b="0" i="0">
                <a:solidFill>
                  <a:srgbClr val="1A2333"/>
                </a:solidFill>
                <a:latin typeface="Calibri"/>
              </a:rPr>
              <a:t>•  Tijdsinschatting per US niet consistent op Trello</a:t>
            </a:r>
          </a:p>
        </p:txBody>
      </p:sp>
      <p:sp>
        <p:nvSpPr>
          <p:cNvPr id="16" name="Rounded Rectangle 15"/>
          <p:cNvSpPr/>
          <p:nvPr/>
        </p:nvSpPr>
        <p:spPr>
          <a:xfrm>
            <a:off x="8229598" y="1783080"/>
            <a:ext cx="3749039" cy="4526280"/>
          </a:xfrm>
          <a:prstGeom prst="roundRect">
            <a:avLst>
              <a:gd name="adj" fmla="val 12000"/>
            </a:avLst>
          </a:prstGeom>
          <a:solidFill>
            <a:srgbClr val="EC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458198" y="2057400"/>
            <a:ext cx="640080" cy="640080"/>
          </a:xfrm>
          <a:prstGeom prst="roundRect">
            <a:avLst>
              <a:gd name="adj" fmla="val 12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58198" y="2103120"/>
            <a:ext cx="640080" cy="548640"/>
          </a:xfrm>
          <a:prstGeom prst="rect">
            <a:avLst/>
          </a:prstGeom>
          <a:noFill/>
        </p:spPr>
        <p:txBody>
          <a:bodyPr wrap="square" lIns="0" tIns="0" rIns="0" bIns="0" anchor="t">
            <a:spAutoFit/>
          </a:bodyPr>
          <a:lstStyle/>
          <a:p>
            <a:pPr algn="ctr"/>
            <a:r>
              <a:rPr sz="2800" b="1" i="0">
                <a:solidFill>
                  <a:srgbClr val="FFFFFF"/>
                </a:solidFill>
                <a:latin typeface="Calibri"/>
              </a:rPr>
              <a:t>→</a:t>
            </a:r>
          </a:p>
        </p:txBody>
      </p:sp>
      <p:sp>
        <p:nvSpPr>
          <p:cNvPr id="19" name="TextBox 18"/>
          <p:cNvSpPr txBox="1"/>
          <p:nvPr/>
        </p:nvSpPr>
        <p:spPr>
          <a:xfrm>
            <a:off x="9189718" y="2148840"/>
            <a:ext cx="2560319" cy="457200"/>
          </a:xfrm>
          <a:prstGeom prst="rect">
            <a:avLst/>
          </a:prstGeom>
          <a:noFill/>
        </p:spPr>
        <p:txBody>
          <a:bodyPr wrap="square" lIns="0" tIns="0" rIns="0" bIns="0" anchor="t">
            <a:spAutoFit/>
          </a:bodyPr>
          <a:lstStyle/>
          <a:p>
            <a:pPr algn="l"/>
            <a:r>
              <a:rPr sz="1400" b="1" i="0">
                <a:solidFill>
                  <a:srgbClr val="1A2333"/>
                </a:solidFill>
                <a:latin typeface="Calibri"/>
              </a:rPr>
              <a:t>Wat ga ik anders doen</a:t>
            </a:r>
          </a:p>
        </p:txBody>
      </p:sp>
      <p:sp>
        <p:nvSpPr>
          <p:cNvPr id="20" name="TextBox 19"/>
          <p:cNvSpPr txBox="1"/>
          <p:nvPr/>
        </p:nvSpPr>
        <p:spPr>
          <a:xfrm>
            <a:off x="8458198" y="2834640"/>
            <a:ext cx="3291839" cy="3291840"/>
          </a:xfrm>
          <a:prstGeom prst="rect">
            <a:avLst/>
          </a:prstGeom>
          <a:noFill/>
        </p:spPr>
        <p:txBody>
          <a:bodyPr wrap="square" lIns="0" tIns="0" rIns="0" bIns="0" anchor="t">
            <a:spAutoFit/>
          </a:bodyPr>
          <a:lstStyle/>
          <a:p>
            <a:pPr algn="l">
              <a:lnSpc>
                <a:spcPct val="115000"/>
              </a:lnSpc>
              <a:spcAft>
                <a:spcPts val="600"/>
              </a:spcAft>
            </a:pPr>
            <a:r>
              <a:rPr sz="1100" b="0" i="0">
                <a:solidFill>
                  <a:srgbClr val="1A2333"/>
                </a:solidFill>
                <a:latin typeface="Calibri"/>
              </a:rPr>
              <a:t>•  Uren-schatting per US op de Trello-kaart bij start</a:t>
            </a:r>
          </a:p>
          <a:p>
            <a:pPr algn="l">
              <a:lnSpc>
                <a:spcPct val="115000"/>
              </a:lnSpc>
              <a:spcAft>
                <a:spcPts val="600"/>
              </a:spcAft>
            </a:pPr>
            <a:r>
              <a:rPr sz="1100" b="0" i="0">
                <a:solidFill>
                  <a:srgbClr val="1A2333"/>
                </a:solidFill>
                <a:latin typeface="Calibri"/>
              </a:rPr>
              <a:t>•  Pomodoro-pauzes (focus 25 / pauze 5)</a:t>
            </a:r>
          </a:p>
          <a:p>
            <a:pPr algn="l">
              <a:lnSpc>
                <a:spcPct val="115000"/>
              </a:lnSpc>
              <a:spcAft>
                <a:spcPts val="600"/>
              </a:spcAft>
            </a:pPr>
            <a:r>
              <a:rPr sz="1100" b="0" i="0">
                <a:solidFill>
                  <a:srgbClr val="1A2333"/>
                </a:solidFill>
                <a:latin typeface="Calibri"/>
              </a:rPr>
              <a:t>•  Externe SaaS-docs lezen vóór code (free-tier limits)</a:t>
            </a:r>
          </a:p>
          <a:p>
            <a:pPr algn="l">
              <a:lnSpc>
                <a:spcPct val="115000"/>
              </a:lnSpc>
              <a:spcAft>
                <a:spcPts val="600"/>
              </a:spcAft>
            </a:pPr>
            <a:r>
              <a:rPr sz="1100" b="0" i="0">
                <a:solidFill>
                  <a:srgbClr val="1A2333"/>
                </a:solidFill>
                <a:latin typeface="Calibri"/>
              </a:rPr>
              <a:t>•  Per US zowel code- als docs- als validatie-tasks</a:t>
            </a:r>
          </a:p>
        </p:txBody>
      </p:sp>
      <p:sp>
        <p:nvSpPr>
          <p:cNvPr id="21" name="TextBox 20"/>
          <p:cNvSpPr txBox="1"/>
          <p:nvPr/>
        </p:nvSpPr>
        <p:spPr>
          <a:xfrm>
            <a:off x="457200" y="6446520"/>
            <a:ext cx="7315200" cy="320040"/>
          </a:xfrm>
          <a:prstGeom prst="rect">
            <a:avLst/>
          </a:prstGeom>
          <a:noFill/>
        </p:spPr>
        <p:txBody>
          <a:bodyPr wrap="square" lIns="0" tIns="0" rIns="0" bIns="0" anchor="t">
            <a:spAutoFit/>
          </a:bodyPr>
          <a:lstStyle/>
          <a:p>
            <a:pPr algn="l"/>
            <a:r>
              <a:rPr sz="1000" b="0" i="0">
                <a:solidFill>
                  <a:srgbClr val="5A6C7D"/>
                </a:solidFill>
                <a:latin typeface="Calibri"/>
              </a:rPr>
              <a:t>Nexora  ·  PvB Software Developer N4  ·  Abdisamad</a:t>
            </a:r>
          </a:p>
        </p:txBody>
      </p:sp>
      <p:sp>
        <p:nvSpPr>
          <p:cNvPr id="22" name="TextBox 21"/>
          <p:cNvSpPr txBox="1"/>
          <p:nvPr/>
        </p:nvSpPr>
        <p:spPr>
          <a:xfrm>
            <a:off x="10515600" y="6446520"/>
            <a:ext cx="1188720" cy="320040"/>
          </a:xfrm>
          <a:prstGeom prst="rect">
            <a:avLst/>
          </a:prstGeom>
          <a:noFill/>
        </p:spPr>
        <p:txBody>
          <a:bodyPr wrap="square" lIns="0" tIns="0" rIns="0" bIns="0" anchor="t">
            <a:spAutoFit/>
          </a:bodyPr>
          <a:lstStyle/>
          <a:p>
            <a:pPr algn="r"/>
            <a:r>
              <a:rPr sz="1000" b="0" i="0">
                <a:solidFill>
                  <a:srgbClr val="5A6C7D"/>
                </a:solidFill>
                <a:latin typeface="Calibri"/>
              </a:rPr>
              <a:t>19 / 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5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60120"/>
            <a:ext cx="12191695" cy="54864"/>
          </a:xfrm>
          <a:prstGeom prst="rect">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57200"/>
            <a:ext cx="10515600" cy="365760"/>
          </a:xfrm>
          <a:prstGeom prst="rect">
            <a:avLst/>
          </a:prstGeom>
          <a:noFill/>
        </p:spPr>
        <p:txBody>
          <a:bodyPr wrap="square" lIns="0" tIns="0" rIns="0" bIns="0" anchor="t">
            <a:spAutoFit/>
          </a:bodyPr>
          <a:lstStyle/>
          <a:p>
            <a:pPr algn="l"/>
            <a:r>
              <a:rPr sz="1400" b="1" i="0">
                <a:solidFill>
                  <a:srgbClr val="84B59F"/>
                </a:solidFill>
                <a:latin typeface="Calibri"/>
              </a:rPr>
              <a:t>CONCLUSIE  ·  PROJECT COMPLEET</a:t>
            </a:r>
          </a:p>
        </p:txBody>
      </p:sp>
      <p:sp>
        <p:nvSpPr>
          <p:cNvPr id="5" name="Rounded Rectangle 4"/>
          <p:cNvSpPr/>
          <p:nvPr/>
        </p:nvSpPr>
        <p:spPr>
          <a:xfrm>
            <a:off x="257403" y="1554480"/>
            <a:ext cx="2240280" cy="2103120"/>
          </a:xfrm>
          <a:prstGeom prst="roundRect">
            <a:avLst>
              <a:gd name="adj" fmla="val 12000"/>
            </a:avLst>
          </a:prstGeom>
          <a:solidFill>
            <a:srgbClr val="02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7403" y="1874520"/>
            <a:ext cx="2240280" cy="1097280"/>
          </a:xfrm>
          <a:prstGeom prst="rect">
            <a:avLst/>
          </a:prstGeom>
          <a:noFill/>
        </p:spPr>
        <p:txBody>
          <a:bodyPr wrap="square" lIns="0" tIns="0" rIns="0" bIns="0" anchor="t">
            <a:spAutoFit/>
          </a:bodyPr>
          <a:lstStyle/>
          <a:p>
            <a:pPr algn="ctr"/>
            <a:r>
              <a:rPr sz="4400" b="1" i="0">
                <a:solidFill>
                  <a:srgbClr val="FFFFFF"/>
                </a:solidFill>
                <a:latin typeface="Calibri"/>
              </a:rPr>
              <a:t>16/16</a:t>
            </a:r>
          </a:p>
        </p:txBody>
      </p:sp>
      <p:sp>
        <p:nvSpPr>
          <p:cNvPr id="7" name="TextBox 6"/>
          <p:cNvSpPr txBox="1"/>
          <p:nvPr/>
        </p:nvSpPr>
        <p:spPr>
          <a:xfrm>
            <a:off x="257403" y="2926080"/>
            <a:ext cx="2240280" cy="640080"/>
          </a:xfrm>
          <a:prstGeom prst="rect">
            <a:avLst/>
          </a:prstGeom>
          <a:noFill/>
        </p:spPr>
        <p:txBody>
          <a:bodyPr wrap="square" lIns="0" tIns="0" rIns="0" bIns="0" anchor="t">
            <a:spAutoFit/>
          </a:bodyPr>
          <a:lstStyle/>
          <a:p>
            <a:pPr algn="ctr"/>
            <a:r>
              <a:rPr sz="1200" b="0" i="0">
                <a:solidFill>
                  <a:srgbClr val="84B59F"/>
                </a:solidFill>
                <a:latin typeface="Calibri"/>
              </a:rPr>
              <a:t>User stories opgeleverd</a:t>
            </a:r>
          </a:p>
        </p:txBody>
      </p:sp>
      <p:sp>
        <p:nvSpPr>
          <p:cNvPr id="8" name="Rounded Rectangle 7"/>
          <p:cNvSpPr/>
          <p:nvPr/>
        </p:nvSpPr>
        <p:spPr>
          <a:xfrm>
            <a:off x="2616555" y="1554480"/>
            <a:ext cx="2240280" cy="2103120"/>
          </a:xfrm>
          <a:prstGeom prst="roundRect">
            <a:avLst>
              <a:gd name="adj" fmla="val 12000"/>
            </a:avLst>
          </a:prstGeom>
          <a:solidFill>
            <a:srgbClr val="02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16555" y="1874520"/>
            <a:ext cx="2240280" cy="1097280"/>
          </a:xfrm>
          <a:prstGeom prst="rect">
            <a:avLst/>
          </a:prstGeom>
          <a:noFill/>
        </p:spPr>
        <p:txBody>
          <a:bodyPr wrap="square" lIns="0" tIns="0" rIns="0" bIns="0" anchor="t">
            <a:spAutoFit/>
          </a:bodyPr>
          <a:lstStyle/>
          <a:p>
            <a:pPr algn="ctr"/>
            <a:r>
              <a:rPr sz="4400" b="1" i="0">
                <a:solidFill>
                  <a:srgbClr val="FFFFFF"/>
                </a:solidFill>
                <a:latin typeface="Calibri"/>
              </a:rPr>
              <a:t>360</a:t>
            </a:r>
          </a:p>
        </p:txBody>
      </p:sp>
      <p:sp>
        <p:nvSpPr>
          <p:cNvPr id="10" name="TextBox 9"/>
          <p:cNvSpPr txBox="1"/>
          <p:nvPr/>
        </p:nvSpPr>
        <p:spPr>
          <a:xfrm>
            <a:off x="2616555" y="2926080"/>
            <a:ext cx="2240280" cy="640080"/>
          </a:xfrm>
          <a:prstGeom prst="rect">
            <a:avLst/>
          </a:prstGeom>
          <a:noFill/>
        </p:spPr>
        <p:txBody>
          <a:bodyPr wrap="square" lIns="0" tIns="0" rIns="0" bIns="0" anchor="t">
            <a:spAutoFit/>
          </a:bodyPr>
          <a:lstStyle/>
          <a:p>
            <a:pPr algn="ctr"/>
            <a:r>
              <a:rPr sz="1200" b="0" i="0">
                <a:solidFill>
                  <a:srgbClr val="84B59F"/>
                </a:solidFill>
                <a:latin typeface="Calibri"/>
              </a:rPr>
              <a:t>Pest-tests groen</a:t>
            </a:r>
          </a:p>
        </p:txBody>
      </p:sp>
      <p:sp>
        <p:nvSpPr>
          <p:cNvPr id="11" name="Rounded Rectangle 10"/>
          <p:cNvSpPr/>
          <p:nvPr/>
        </p:nvSpPr>
        <p:spPr>
          <a:xfrm>
            <a:off x="4975707" y="1554480"/>
            <a:ext cx="2240280" cy="2103120"/>
          </a:xfrm>
          <a:prstGeom prst="roundRect">
            <a:avLst>
              <a:gd name="adj" fmla="val 12000"/>
            </a:avLst>
          </a:prstGeom>
          <a:solidFill>
            <a:srgbClr val="02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75707" y="1874520"/>
            <a:ext cx="2240280" cy="1097280"/>
          </a:xfrm>
          <a:prstGeom prst="rect">
            <a:avLst/>
          </a:prstGeom>
          <a:noFill/>
        </p:spPr>
        <p:txBody>
          <a:bodyPr wrap="square" lIns="0" tIns="0" rIns="0" bIns="0" anchor="t">
            <a:spAutoFit/>
          </a:bodyPr>
          <a:lstStyle/>
          <a:p>
            <a:pPr algn="ctr"/>
            <a:r>
              <a:rPr sz="4400" b="1" i="0">
                <a:solidFill>
                  <a:srgbClr val="FFFFFF"/>
                </a:solidFill>
                <a:latin typeface="Calibri"/>
              </a:rPr>
              <a:t>953</a:t>
            </a:r>
          </a:p>
        </p:txBody>
      </p:sp>
      <p:sp>
        <p:nvSpPr>
          <p:cNvPr id="13" name="TextBox 12"/>
          <p:cNvSpPr txBox="1"/>
          <p:nvPr/>
        </p:nvSpPr>
        <p:spPr>
          <a:xfrm>
            <a:off x="4975707" y="2926080"/>
            <a:ext cx="2240280" cy="640080"/>
          </a:xfrm>
          <a:prstGeom prst="rect">
            <a:avLst/>
          </a:prstGeom>
          <a:noFill/>
        </p:spPr>
        <p:txBody>
          <a:bodyPr wrap="square" lIns="0" tIns="0" rIns="0" bIns="0" anchor="t">
            <a:spAutoFit/>
          </a:bodyPr>
          <a:lstStyle/>
          <a:p>
            <a:pPr algn="ctr"/>
            <a:r>
              <a:rPr sz="1200" b="0" i="0">
                <a:solidFill>
                  <a:srgbClr val="84B59F"/>
                </a:solidFill>
                <a:latin typeface="Calibri"/>
              </a:rPr>
              <a:t>Asserts groen</a:t>
            </a:r>
          </a:p>
        </p:txBody>
      </p:sp>
      <p:sp>
        <p:nvSpPr>
          <p:cNvPr id="14" name="Rounded Rectangle 13"/>
          <p:cNvSpPr/>
          <p:nvPr/>
        </p:nvSpPr>
        <p:spPr>
          <a:xfrm>
            <a:off x="7334859" y="1554480"/>
            <a:ext cx="2240280" cy="2103120"/>
          </a:xfrm>
          <a:prstGeom prst="roundRect">
            <a:avLst>
              <a:gd name="adj" fmla="val 12000"/>
            </a:avLst>
          </a:prstGeom>
          <a:solidFill>
            <a:srgbClr val="02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34859" y="1874520"/>
            <a:ext cx="2240280" cy="1097280"/>
          </a:xfrm>
          <a:prstGeom prst="rect">
            <a:avLst/>
          </a:prstGeom>
          <a:noFill/>
        </p:spPr>
        <p:txBody>
          <a:bodyPr wrap="square" lIns="0" tIns="0" rIns="0" bIns="0" anchor="t">
            <a:spAutoFit/>
          </a:bodyPr>
          <a:lstStyle/>
          <a:p>
            <a:pPr algn="ctr"/>
            <a:r>
              <a:rPr sz="4400" b="1" i="0">
                <a:solidFill>
                  <a:srgbClr val="FFFFFF"/>
                </a:solidFill>
                <a:latin typeface="Calibri"/>
              </a:rPr>
              <a:t>18</a:t>
            </a:r>
          </a:p>
        </p:txBody>
      </p:sp>
      <p:sp>
        <p:nvSpPr>
          <p:cNvPr id="16" name="TextBox 15"/>
          <p:cNvSpPr txBox="1"/>
          <p:nvPr/>
        </p:nvSpPr>
        <p:spPr>
          <a:xfrm>
            <a:off x="7334859" y="2926080"/>
            <a:ext cx="2240280" cy="640080"/>
          </a:xfrm>
          <a:prstGeom prst="rect">
            <a:avLst/>
          </a:prstGeom>
          <a:noFill/>
        </p:spPr>
        <p:txBody>
          <a:bodyPr wrap="square" lIns="0" tIns="0" rIns="0" bIns="0" anchor="t">
            <a:spAutoFit/>
          </a:bodyPr>
          <a:lstStyle/>
          <a:p>
            <a:pPr algn="ctr"/>
            <a:r>
              <a:rPr sz="1200" b="0" i="0">
                <a:solidFill>
                  <a:srgbClr val="84B59F"/>
                </a:solidFill>
                <a:latin typeface="Calibri"/>
              </a:rPr>
              <a:t>Pull requests gemerged</a:t>
            </a:r>
          </a:p>
        </p:txBody>
      </p:sp>
      <p:sp>
        <p:nvSpPr>
          <p:cNvPr id="17" name="Rounded Rectangle 16"/>
          <p:cNvSpPr/>
          <p:nvPr/>
        </p:nvSpPr>
        <p:spPr>
          <a:xfrm>
            <a:off x="9694011" y="1554480"/>
            <a:ext cx="2240280" cy="2103120"/>
          </a:xfrm>
          <a:prstGeom prst="roundRect">
            <a:avLst>
              <a:gd name="adj" fmla="val 12000"/>
            </a:avLst>
          </a:prstGeom>
          <a:solidFill>
            <a:srgbClr val="02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94011" y="1874520"/>
            <a:ext cx="2240280" cy="1097280"/>
          </a:xfrm>
          <a:prstGeom prst="rect">
            <a:avLst/>
          </a:prstGeom>
          <a:noFill/>
        </p:spPr>
        <p:txBody>
          <a:bodyPr wrap="square" lIns="0" tIns="0" rIns="0" bIns="0" anchor="t">
            <a:spAutoFit/>
          </a:bodyPr>
          <a:lstStyle/>
          <a:p>
            <a:pPr algn="ctr"/>
            <a:r>
              <a:rPr sz="4400" b="1" i="0">
                <a:solidFill>
                  <a:srgbClr val="FFFFFF"/>
                </a:solidFill>
                <a:latin typeface="Calibri"/>
              </a:rPr>
              <a:t>4</a:t>
            </a:r>
          </a:p>
        </p:txBody>
      </p:sp>
      <p:sp>
        <p:nvSpPr>
          <p:cNvPr id="19" name="TextBox 18"/>
          <p:cNvSpPr txBox="1"/>
          <p:nvPr/>
        </p:nvSpPr>
        <p:spPr>
          <a:xfrm>
            <a:off x="9694011" y="2926080"/>
            <a:ext cx="2240280" cy="640080"/>
          </a:xfrm>
          <a:prstGeom prst="rect">
            <a:avLst/>
          </a:prstGeom>
          <a:noFill/>
        </p:spPr>
        <p:txBody>
          <a:bodyPr wrap="square" lIns="0" tIns="0" rIns="0" bIns="0" anchor="t">
            <a:spAutoFit/>
          </a:bodyPr>
          <a:lstStyle/>
          <a:p>
            <a:pPr algn="ctr"/>
            <a:r>
              <a:rPr sz="1200" b="0" i="0">
                <a:solidFill>
                  <a:srgbClr val="84B59F"/>
                </a:solidFill>
                <a:latin typeface="Calibri"/>
              </a:rPr>
              <a:t>Sprints + git-tags</a:t>
            </a:r>
          </a:p>
        </p:txBody>
      </p:sp>
      <p:sp>
        <p:nvSpPr>
          <p:cNvPr id="20" name="TextBox 19"/>
          <p:cNvSpPr txBox="1"/>
          <p:nvPr/>
        </p:nvSpPr>
        <p:spPr>
          <a:xfrm>
            <a:off x="685800" y="4023360"/>
            <a:ext cx="10515600" cy="548640"/>
          </a:xfrm>
          <a:prstGeom prst="rect">
            <a:avLst/>
          </a:prstGeom>
          <a:noFill/>
        </p:spPr>
        <p:txBody>
          <a:bodyPr wrap="square" lIns="0" tIns="0" rIns="0" bIns="0" anchor="t">
            <a:spAutoFit/>
          </a:bodyPr>
          <a:lstStyle/>
          <a:p>
            <a:pPr algn="ctr"/>
            <a:r>
              <a:rPr sz="2000" b="1" i="0">
                <a:solidFill>
                  <a:srgbClr val="FFFFFF"/>
                </a:solidFill>
                <a:latin typeface="Calibri"/>
              </a:rPr>
              <a:t>Alle 6 examen-categorieën gedekt  ·  B1 · K1 · K2 · W3 · W5</a:t>
            </a:r>
          </a:p>
        </p:txBody>
      </p:sp>
      <p:sp>
        <p:nvSpPr>
          <p:cNvPr id="21" name="TextBox 20"/>
          <p:cNvSpPr txBox="1"/>
          <p:nvPr/>
        </p:nvSpPr>
        <p:spPr>
          <a:xfrm>
            <a:off x="685800" y="4572000"/>
            <a:ext cx="10515600" cy="457200"/>
          </a:xfrm>
          <a:prstGeom prst="rect">
            <a:avLst/>
          </a:prstGeom>
          <a:noFill/>
        </p:spPr>
        <p:txBody>
          <a:bodyPr wrap="square" lIns="0" tIns="0" rIns="0" bIns="0" anchor="t">
            <a:spAutoFit/>
          </a:bodyPr>
          <a:lstStyle/>
          <a:p>
            <a:pPr algn="ctr"/>
            <a:r>
              <a:rPr sz="1400" b="0" i="1">
                <a:solidFill>
                  <a:srgbClr val="84B59F"/>
                </a:solidFill>
                <a:latin typeface="Calibri"/>
              </a:rPr>
              <a:t>Documentatie volledig  ·  Tests groen  ·  PO heeft alle US's geaccepteerd</a:t>
            </a:r>
          </a:p>
        </p:txBody>
      </p:sp>
      <p:sp>
        <p:nvSpPr>
          <p:cNvPr id="22" name="Rounded Rectangle 21"/>
          <p:cNvSpPr/>
          <p:nvPr/>
        </p:nvSpPr>
        <p:spPr>
          <a:xfrm>
            <a:off x="3200400" y="5349240"/>
            <a:ext cx="5760720" cy="914400"/>
          </a:xfrm>
          <a:prstGeom prst="roundRect">
            <a:avLst>
              <a:gd name="adj" fmla="val 12000"/>
            </a:avLst>
          </a:prstGeom>
          <a:solidFill>
            <a:srgbClr val="84B5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0" y="5486400"/>
            <a:ext cx="5760720" cy="640080"/>
          </a:xfrm>
          <a:prstGeom prst="rect">
            <a:avLst/>
          </a:prstGeom>
          <a:noFill/>
        </p:spPr>
        <p:txBody>
          <a:bodyPr wrap="square" lIns="0" tIns="0" rIns="0" bIns="0" anchor="t">
            <a:spAutoFit/>
          </a:bodyPr>
          <a:lstStyle/>
          <a:p>
            <a:pPr algn="ctr"/>
            <a:r>
              <a:rPr sz="3200" b="1" i="0">
                <a:solidFill>
                  <a:srgbClr val="015561"/>
                </a:solidFill>
                <a:latin typeface="Calibri"/>
              </a:rPr>
              <a:t>Vragen?</a:t>
            </a:r>
          </a:p>
        </p:txBody>
      </p:sp>
      <p:sp>
        <p:nvSpPr>
          <p:cNvPr id="24" name="TextBox 23"/>
          <p:cNvSpPr txBox="1"/>
          <p:nvPr/>
        </p:nvSpPr>
        <p:spPr>
          <a:xfrm>
            <a:off x="457200" y="6446520"/>
            <a:ext cx="11338560" cy="320040"/>
          </a:xfrm>
          <a:prstGeom prst="rect">
            <a:avLst/>
          </a:prstGeom>
          <a:noFill/>
        </p:spPr>
        <p:txBody>
          <a:bodyPr wrap="square" lIns="0" tIns="0" rIns="0" bIns="0" anchor="t">
            <a:spAutoFit/>
          </a:bodyPr>
          <a:lstStyle/>
          <a:p>
            <a:pPr algn="ctr"/>
            <a:r>
              <a:rPr sz="1200" b="0" i="0">
                <a:solidFill>
                  <a:srgbClr val="84B59F"/>
                </a:solidFill>
                <a:latin typeface="Calibri"/>
              </a:rPr>
              <a:t>github.com/abii2024/nexora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4048</Words>
  <Application>Microsoft Macintosh PowerPoint</Application>
  <PresentationFormat>Widescreen</PresentationFormat>
  <Paragraphs>490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Abdisamad Abdulle</cp:lastModifiedBy>
  <cp:revision>4</cp:revision>
  <dcterms:created xsi:type="dcterms:W3CDTF">2013-01-27T09:14:16Z</dcterms:created>
  <dcterms:modified xsi:type="dcterms:W3CDTF">2026-05-14T12:13:11Z</dcterms:modified>
  <cp:category/>
</cp:coreProperties>
</file>